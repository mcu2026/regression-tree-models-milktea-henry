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319" r:id="rId3"/>
    <p:sldId id="306" r:id="rId4"/>
    <p:sldId id="329" r:id="rId5"/>
    <p:sldId id="330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36" r:id="rId14"/>
    <p:sldId id="327" r:id="rId15"/>
    <p:sldId id="328" r:id="rId16"/>
    <p:sldId id="337" r:id="rId17"/>
    <p:sldId id="334" r:id="rId18"/>
    <p:sldId id="307" r:id="rId19"/>
    <p:sldId id="309" r:id="rId20"/>
    <p:sldId id="308" r:id="rId21"/>
    <p:sldId id="331" r:id="rId22"/>
    <p:sldId id="332" r:id="rId23"/>
    <p:sldId id="333" r:id="rId24"/>
    <p:sldId id="335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51"/>
    <p:restoredTop sz="94865"/>
  </p:normalViewPr>
  <p:slideViewPr>
    <p:cSldViewPr snapToGrid="0">
      <p:cViewPr varScale="1">
        <p:scale>
          <a:sx n="109" d="100"/>
          <a:sy n="109" d="100"/>
        </p:scale>
        <p:origin x="216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B52BD9-E69A-CD18-B636-F1BD9D203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A6D23D-8951-0E4B-C663-9903E2A34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1F6FF8-D218-BD0E-B182-EB4C94A1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BFFFC4-E921-E30E-6080-CD2CF20E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9CFA2A-0E69-9D07-8F9C-1A93BEB5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274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E4E40B-C5FE-B90E-5BE8-136E4B3A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06" y="218140"/>
            <a:ext cx="11205882" cy="92579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73D404-9D78-25CE-940F-BC5091C53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272988"/>
            <a:ext cx="11205882" cy="5038165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7AE244-9569-0A01-CCDB-9BA73FF8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2908"/>
            <a:ext cx="2743200" cy="365125"/>
          </a:xfrm>
        </p:spPr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00B89D-89E7-528A-7EC6-33C79D28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2908"/>
            <a:ext cx="4114800" cy="365125"/>
          </a:xfrm>
        </p:spPr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ABCE2C-12E5-980D-5183-7859DF7B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2908"/>
            <a:ext cx="2743200" cy="365125"/>
          </a:xfrm>
        </p:spPr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940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BE5B8F-302E-F32F-2E5D-5702F954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52AC3-0C8F-D85B-FCD7-9F7AD789D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4FE66A-751C-43B0-2C97-D78E2AB3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402120-99DC-B774-9F4E-28B483A8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DC8A84-B771-EC25-78AC-723EA0A6F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6468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A4D142-0387-8631-C987-D43D7459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A5FF64-97F0-13C7-D3E8-2020C0BEE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F3D4B8-7D84-B7FE-29AB-E3ADF6267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C35620-56B1-4092-7085-38739C45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0DAEDA-76B9-ADC8-5E29-9CB28AAE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F52CC6-60CB-AB82-9475-635EA0DC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881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AE72-9DBE-18F2-9366-AA7598AB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535581-C979-48E3-1CF5-2BF917DA2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18AD47-3AD8-DE2D-2B66-8CAFBE9DD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A216F42-73FA-C55B-3334-9200BF3BA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DF75DA-0D54-D7A5-2DFF-2C9A591B0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D3B732-E397-5813-BC02-AAD62C0A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D9F2BD-FDFC-2F0E-0E16-5446096E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6EF6735-5F38-A751-7939-EDB0AE14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623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D5C89-B485-62F1-AC55-31CA92CE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267353"/>
            <a:ext cx="11421036" cy="92579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40E1E1C-7387-68BA-7946-E56A9BF9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DC4C18-F76D-A5AD-D1AC-CD185A8B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9B7932-6E1A-8AA1-9E1E-851AE5E4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45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C1A4D3C-2F07-FBEB-F689-83284F28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6E0CA60-93D4-CB38-CC9D-0E028D7B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E2975D-2079-FC91-56E9-36C0302A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616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16232-3692-44BD-8152-939CD73E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48E35B-1402-4A84-9BB1-7522BD920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7902DA-DC6C-E130-CE3D-EAF947F92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A138DB0-958A-7569-3CC7-CDCA8957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E04BDB-3B10-C0AC-3675-935EE083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A9CF80-9B3E-4184-B145-065E50A3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058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506F01-8A7A-2F7A-A37D-6F901F47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B4E55-8FFB-90B4-C5D3-1D1AE9B5A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800695-F129-CC26-94C7-55E29DC04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AC9AD8-AE31-6269-1184-9A2BDCC3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44B344-3B88-4401-F4F6-1478C2BD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65C273-5E82-B051-CADE-C4924192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2382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C3FCC8-1AE3-29BD-84CE-F905E664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F7A941-6DA3-AF14-667F-35A83B284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3A9506-AF4C-243E-32F2-14BC4441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88D6F5-3457-D5BB-96BA-4004EE6F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A22552-1DF5-B2B6-BC33-E23BBA48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88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147569A-2701-94DF-3D34-F37DF5D14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4CF259-890C-D6B5-0BF1-32EA3FF74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2AA455-0CFE-19EC-90C2-B8329AAF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1D7832-121F-AF8E-D559-5BD4B096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DCA646-AAA2-D8B9-7296-D6645B8C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355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15D704-0C9E-27BA-0E17-965C20A1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D49C1B-F1EF-C13C-F430-F5A94EE12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34F969-C2D4-CA46-72AE-BA441FD54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A97AF-E588-1D4A-ABE8-3CB3FF606D16}" type="datetimeFigureOut">
              <a:rPr kumimoji="1" lang="zh-TW" altLang="en-US" smtClean="0"/>
              <a:t>2026/5/6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E9A501-5AE4-53E6-77F3-D364423E7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5F50CD-EFDC-8B39-1F05-28C650459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46D37-BCE6-0441-BE72-415BA9DDE4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95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0C2B7502-2276-417A-8077-75914F532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Logistic Regression</a:t>
            </a:r>
            <a:endParaRPr lang="zh-TW" altLang="en-US" dirty="0"/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44A4216E-6DD6-4269-B820-B81392B0E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羅吉斯回歸模型</a:t>
            </a:r>
            <a:endParaRPr lang="en-US" altLang="zh-TW" dirty="0"/>
          </a:p>
          <a:p>
            <a:r>
              <a:rPr lang="zh-TW" altLang="en-US" sz="2000" dirty="0"/>
              <a:t>依據獨立變數（</a:t>
            </a:r>
            <a:r>
              <a:rPr lang="en-US" altLang="zh-TW" sz="2000" dirty="0"/>
              <a:t>independent variables</a:t>
            </a:r>
            <a:r>
              <a:rPr lang="zh-TW" altLang="en-US" sz="2000" dirty="0"/>
              <a:t>）預測分類變數</a:t>
            </a:r>
            <a:r>
              <a:rPr lang="en-US" altLang="zh-TW" sz="2000" dirty="0"/>
              <a:t>(categorical variables)</a:t>
            </a:r>
            <a:endParaRPr lang="zh-TW" altLang="en-US" sz="20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51BB02-AB1C-406B-9E80-31145A8B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3E2E18-F02A-4FA7-9CC3-9A6E2357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90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8E4B2-FE36-49C6-960C-6ECF1B2B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Logistic Regression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DAF423-8167-4F27-A923-6FD982190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Logistic regression </a:t>
            </a:r>
            <a:r>
              <a:rPr lang="zh-TW" altLang="en-US"/>
              <a:t>監督式學習方法之一，用於二元分類問題</a:t>
            </a:r>
            <a:r>
              <a:rPr lang="en-US" altLang="zh-TW"/>
              <a:t>(binary classification problems)</a:t>
            </a:r>
          </a:p>
          <a:p>
            <a:r>
              <a:rPr lang="zh-TW" altLang="en-US"/>
              <a:t>用於預測新案例屬於哪一個類別</a:t>
            </a:r>
            <a:endParaRPr lang="en-US" altLang="zh-TW"/>
          </a:p>
          <a:p>
            <a:r>
              <a:rPr lang="zh-TW" altLang="en-US"/>
              <a:t>核心轉換機制為</a:t>
            </a:r>
            <a:r>
              <a:rPr lang="en-US" altLang="zh-TW"/>
              <a:t>sigmoid</a:t>
            </a:r>
            <a:r>
              <a:rPr lang="zh-TW" altLang="en-US"/>
              <a:t>函數，可以將一個數值資料對映到 </a:t>
            </a:r>
            <a:r>
              <a:rPr lang="en-US" altLang="zh-TW"/>
              <a:t>0 </a:t>
            </a:r>
            <a:r>
              <a:rPr lang="zh-TW" altLang="en-US"/>
              <a:t>或 </a:t>
            </a:r>
            <a:r>
              <a:rPr lang="en-US" altLang="zh-TW"/>
              <a:t>1 </a:t>
            </a:r>
            <a:r>
              <a:rPr lang="zh-TW" altLang="en-US"/>
              <a:t>的機率值，</a:t>
            </a:r>
            <a:r>
              <a:rPr lang="en-US" altLang="zh-TW"/>
              <a:t>sigmoid</a:t>
            </a:r>
            <a:r>
              <a:rPr lang="zh-TW" altLang="en-US"/>
              <a:t>函數又稱為 </a:t>
            </a:r>
            <a:r>
              <a:rPr lang="en-US" altLang="zh-TW"/>
              <a:t>s-function</a:t>
            </a: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A6D0CE-6EAF-4723-BA9E-FB7CC2D2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E2A466-E9BA-4C25-8C19-982237F9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58CA32-B2B3-4C3B-92E8-27C50BAD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820" y="4291151"/>
            <a:ext cx="5283312" cy="243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403F573-8099-18CB-04A3-09BDFA6B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11"/>
            <a:ext cx="10515600" cy="1325563"/>
          </a:xfrm>
        </p:spPr>
        <p:txBody>
          <a:bodyPr/>
          <a:lstStyle/>
          <a:p>
            <a:r>
              <a:rPr lang="zh-TW" altLang="en-US" dirty="0"/>
              <a:t>二元分類問題：依據年齡決定是否販賣保險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2A97581-45E8-5AE0-E045-AE8AE2FF6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523" y="1861333"/>
            <a:ext cx="5929277" cy="4642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D721731-5CDE-A30D-8490-B4B7427DF7F3}"/>
                  </a:ext>
                </a:extLst>
              </p:cNvPr>
              <p:cNvSpPr txBox="1"/>
              <p:nvPr/>
            </p:nvSpPr>
            <p:spPr>
              <a:xfrm>
                <a:off x="907026" y="2271252"/>
                <a:ext cx="3613355" cy="81047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TW" sz="2800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TW" sz="28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D721731-5CDE-A30D-8490-B4B7427DF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26" y="2271252"/>
                <a:ext cx="3613355" cy="810478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6CAA2BD8-7281-4ADC-D5D4-EBEEEE71E9F4}"/>
              </a:ext>
            </a:extLst>
          </p:cNvPr>
          <p:cNvSpPr txBox="1"/>
          <p:nvPr/>
        </p:nvSpPr>
        <p:spPr>
          <a:xfrm>
            <a:off x="570271" y="3952567"/>
            <a:ext cx="49375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資料集中目標變數非</a:t>
            </a:r>
            <a:r>
              <a:rPr kumimoji="1" lang="en-US" altLang="zh-TW" dirty="0"/>
              <a:t>(yes)</a:t>
            </a:r>
            <a:r>
              <a:rPr kumimoji="1" lang="zh-TW" altLang="en-US" dirty="0"/>
              <a:t>即</a:t>
            </a:r>
            <a:r>
              <a:rPr kumimoji="1" lang="en-US" altLang="zh-TW" dirty="0"/>
              <a:t>(no)—</a:t>
            </a:r>
            <a:r>
              <a:rPr kumimoji="1" lang="zh-TW" altLang="en-US" dirty="0"/>
              <a:t>二元分類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利用</a:t>
            </a:r>
            <a:r>
              <a:rPr kumimoji="1" lang="en-US" altLang="zh-TW" dirty="0"/>
              <a:t> sigmoid </a:t>
            </a:r>
            <a:r>
              <a:rPr kumimoji="1" lang="zh-TW" altLang="en-US" dirty="0"/>
              <a:t>函數模擬對映現象</a:t>
            </a:r>
            <a:r>
              <a:rPr kumimoji="1" lang="en-US" altLang="zh-TW" dirty="0"/>
              <a:t>(</a:t>
            </a:r>
            <a:r>
              <a:rPr kumimoji="1" lang="zh-TW" altLang="en-US" dirty="0"/>
              <a:t>預測模型</a:t>
            </a:r>
            <a:r>
              <a:rPr kumimoji="1"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新案例</a:t>
            </a:r>
            <a:r>
              <a:rPr kumimoji="1" lang="en-US" altLang="zh-TW" dirty="0"/>
              <a:t>(</a:t>
            </a:r>
            <a:r>
              <a:rPr kumimoji="1" lang="zh-TW" altLang="en-US" dirty="0"/>
              <a:t>年齡</a:t>
            </a:r>
            <a:r>
              <a:rPr kumimoji="1" lang="en-US" altLang="zh-TW" dirty="0"/>
              <a:t>)</a:t>
            </a:r>
            <a:r>
              <a:rPr kumimoji="1" lang="zh-TW" altLang="en-US" dirty="0"/>
              <a:t>得到一個機率</a:t>
            </a:r>
            <a:r>
              <a:rPr kumimoji="1" lang="en-US" altLang="zh-TW" dirty="0"/>
              <a:t>(</a:t>
            </a:r>
            <a:r>
              <a:rPr kumimoji="1" lang="zh-TW" altLang="en-US" dirty="0"/>
              <a:t>賣保險給他</a:t>
            </a:r>
            <a:r>
              <a:rPr kumimoji="1"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設定一個決策線</a:t>
            </a:r>
            <a:r>
              <a:rPr kumimoji="1" lang="en-US" altLang="zh-TW" dirty="0"/>
              <a:t>(</a:t>
            </a:r>
            <a:r>
              <a:rPr kumimoji="1" lang="zh-TW" altLang="en-US" dirty="0"/>
              <a:t>機率大於</a:t>
            </a:r>
            <a:r>
              <a:rPr kumimoji="1" lang="en-US" altLang="zh-TW" dirty="0"/>
              <a:t>50%</a:t>
            </a:r>
            <a:r>
              <a:rPr kumimoji="1" lang="zh-TW" altLang="en-US" dirty="0"/>
              <a:t>賣，否則拒絕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4942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646852-D25F-EA83-53F2-FA3BC884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Maximum </a:t>
            </a:r>
            <a:r>
              <a:rPr kumimoji="1" lang="en-US" altLang="zh-TW" dirty="0" err="1"/>
              <a:t>Likelyhood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992434-562F-0879-2DBE-869186ED9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4" y="1852583"/>
            <a:ext cx="10323871" cy="464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6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C10AD-94F1-A9FC-E24B-663156A0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0E2F95-F09C-AAAA-C62B-33FDD53A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580" y="1996198"/>
            <a:ext cx="9094839" cy="424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035B7-0BA2-44FB-8428-5719E5AD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27" y="104054"/>
            <a:ext cx="11639346" cy="1047880"/>
          </a:xfrm>
        </p:spPr>
        <p:txBody>
          <a:bodyPr>
            <a:normAutofit/>
          </a:bodyPr>
          <a:lstStyle/>
          <a:p>
            <a:r>
              <a:rPr lang="en-US" altLang="zh-TW" dirty="0"/>
              <a:t>Logistic Regression </a:t>
            </a:r>
            <a:r>
              <a:rPr lang="zh-TW" altLang="en-US" dirty="0"/>
              <a:t>問題架構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3499AFB-1D73-4179-9753-C613BA3100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𝟏𝟏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𝒏𝒎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zh-TW"/>
              </a:p>
              <a:p>
                <a:endParaRPr lang="en-US" altLang="zh-TW"/>
              </a:p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𝒊𝒇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𝒄𝒍𝒂𝒔𝒔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𝒊𝒇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𝒄𝒍𝒂𝒔𝒔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/>
              </a:p>
              <a:p>
                <a:endParaRPr lang="en-US" altLang="zh-TW"/>
              </a:p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TW" b="1" i="1" baseline="-25000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nary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TW" b="1"/>
              </a:p>
              <a:p>
                <a:endParaRPr lang="en-US" altLang="zh-TW" b="1"/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p>
                        </m:sSup>
                      </m:den>
                    </m:f>
                  </m:oMath>
                </a14:m>
                <a:endParaRPr lang="en-US" altLang="zh-TW"/>
              </a:p>
              <a:p>
                <a:endParaRPr lang="en-US" altLang="zh-TW" b="1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</m:oMath>
                </a14:m>
                <a:endParaRPr lang="en-US" altLang="zh-TW" b="1"/>
              </a:p>
              <a:p>
                <a:pPr marL="0" indent="0">
                  <a:buNone/>
                </a:pPr>
                <a:r>
                  <a:rPr lang="en-US" altLang="zh-TW" b="1"/>
                  <a:t>  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3499AFB-1D73-4179-9753-C613BA310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30" t="-22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1FD569-3814-4B52-BF08-73ABAEC0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0C0013-F6FE-4AC3-B9C8-8BDD9B66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6380BE4-A055-4748-B36D-7778F1A1C088}"/>
              </a:ext>
            </a:extLst>
          </p:cNvPr>
          <p:cNvSpPr txBox="1"/>
          <p:nvPr/>
        </p:nvSpPr>
        <p:spPr>
          <a:xfrm>
            <a:off x="3711823" y="1934790"/>
            <a:ext cx="2812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資料集包含</a:t>
            </a:r>
            <a:r>
              <a:rPr lang="en-US" altLang="zh-TW"/>
              <a:t>n</a:t>
            </a:r>
            <a:r>
              <a:rPr lang="zh-TW" altLang="en-US"/>
              <a:t>筆資料</a:t>
            </a:r>
            <a:endParaRPr lang="en-US" altLang="zh-TW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/>
              <a:t>每筆資料有</a:t>
            </a:r>
            <a:r>
              <a:rPr lang="en-US" altLang="zh-TW"/>
              <a:t>m</a:t>
            </a:r>
            <a:r>
              <a:rPr lang="zh-TW" altLang="en-US"/>
              <a:t>個</a:t>
            </a:r>
            <a:r>
              <a:rPr lang="en-US" altLang="zh-TW"/>
              <a:t>features</a:t>
            </a:r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9C7D4A8-C4A6-4639-A54E-EDB6F716C1CA}"/>
              </a:ext>
            </a:extLst>
          </p:cNvPr>
          <p:cNvSpPr txBox="1"/>
          <p:nvPr/>
        </p:nvSpPr>
        <p:spPr>
          <a:xfrm>
            <a:off x="3711823" y="3162821"/>
            <a:ext cx="489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y (target variable)</a:t>
            </a:r>
            <a:r>
              <a:rPr lang="zh-TW" altLang="en-US"/>
              <a:t>為</a:t>
            </a:r>
            <a:r>
              <a:rPr lang="en-US" altLang="zh-TW"/>
              <a:t>categorical variable (binomial)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312566A-A764-4361-919C-A81CC5897839}"/>
              </a:ext>
            </a:extLst>
          </p:cNvPr>
          <p:cNvSpPr txBox="1"/>
          <p:nvPr/>
        </p:nvSpPr>
        <p:spPr>
          <a:xfrm>
            <a:off x="3711823" y="3667090"/>
            <a:ext cx="4263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/>
              <a:t>z </a:t>
            </a:r>
            <a:r>
              <a:rPr lang="zh-TW" altLang="en-US"/>
              <a:t>為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,x</a:t>
            </a:r>
            <a:r>
              <a:rPr lang="en-US" altLang="zh-TW" baseline="-25000"/>
              <a:t>2</a:t>
            </a:r>
            <a:r>
              <a:rPr lang="en-US" altLang="zh-TW"/>
              <a:t>,…, x</a:t>
            </a:r>
            <a:r>
              <a:rPr lang="en-US" altLang="zh-TW" baseline="-25000"/>
              <a:t>m</a:t>
            </a:r>
            <a:r>
              <a:rPr lang="zh-TW" altLang="en-US"/>
              <a:t>的線性回歸模型</a:t>
            </a:r>
            <a:endParaRPr lang="en-US" altLang="zh-TW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/>
              <a:t>w</a:t>
            </a:r>
            <a:r>
              <a:rPr lang="en-US" altLang="zh-TW" baseline="-25000"/>
              <a:t>i</a:t>
            </a:r>
            <a:r>
              <a:rPr lang="en-US" altLang="zh-TW"/>
              <a:t> = </a:t>
            </a:r>
            <a:r>
              <a:rPr lang="zh-TW" altLang="en-US"/>
              <a:t>第 </a:t>
            </a:r>
            <a:r>
              <a:rPr lang="en-US" altLang="zh-TW"/>
              <a:t>i </a:t>
            </a:r>
            <a:r>
              <a:rPr lang="zh-TW" altLang="en-US"/>
              <a:t>個特徵因子的權重</a:t>
            </a:r>
            <a:r>
              <a:rPr lang="en-US" altLang="zh-TW"/>
              <a:t>(</a:t>
            </a:r>
            <a:r>
              <a:rPr lang="zh-TW" altLang="en-US"/>
              <a:t>係數</a:t>
            </a:r>
            <a:r>
              <a:rPr lang="en-US" altLang="zh-TW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/>
              <a:t>xi = </a:t>
            </a:r>
            <a:r>
              <a:rPr lang="zh-TW" altLang="en-US"/>
              <a:t>第 </a:t>
            </a:r>
            <a:r>
              <a:rPr lang="en-US" altLang="zh-TW"/>
              <a:t>i </a:t>
            </a:r>
            <a:r>
              <a:rPr lang="zh-TW" altLang="en-US"/>
              <a:t>個特徵因子</a:t>
            </a:r>
            <a:r>
              <a:rPr lang="en-US" altLang="zh-TW"/>
              <a:t>, b = bias (intercept)</a:t>
            </a:r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0FE3A4-6305-455A-9EB1-9160F6F2A6D2}"/>
              </a:ext>
            </a:extLst>
          </p:cNvPr>
          <p:cNvSpPr txBox="1"/>
          <p:nvPr/>
        </p:nvSpPr>
        <p:spPr>
          <a:xfrm>
            <a:off x="3711823" y="4683317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ym typeface="Symbol" panose="05050102010706020507" pitchFamily="18" charset="2"/>
              </a:rPr>
              <a:t></a:t>
            </a:r>
            <a:r>
              <a:rPr lang="en-US" altLang="zh-TW">
                <a:sym typeface="Symbol" panose="05050102010706020507" pitchFamily="18" charset="2"/>
              </a:rPr>
              <a:t>(z) = sigmoid</a:t>
            </a:r>
            <a:r>
              <a:rPr lang="zh-TW" altLang="en-US">
                <a:sym typeface="Symbol" panose="05050102010706020507" pitchFamily="18" charset="2"/>
              </a:rPr>
              <a:t>函數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4900160-EE24-41A2-85B4-147FB096B237}"/>
              </a:ext>
            </a:extLst>
          </p:cNvPr>
          <p:cNvSpPr txBox="1"/>
          <p:nvPr/>
        </p:nvSpPr>
        <p:spPr>
          <a:xfrm>
            <a:off x="3711823" y="5570482"/>
            <a:ext cx="301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sym typeface="Symbol" panose="05050102010706020507" pitchFamily="18" charset="2"/>
              </a:rPr>
              <a:t></a:t>
            </a:r>
            <a:r>
              <a:rPr lang="en-US" altLang="zh-TW">
                <a:sym typeface="Symbol" panose="05050102010706020507" pitchFamily="18" charset="2"/>
              </a:rPr>
              <a:t>(z) = </a:t>
            </a:r>
            <a:r>
              <a:rPr lang="zh-TW" altLang="en-US">
                <a:sym typeface="Symbol" panose="05050102010706020507" pitchFamily="18" charset="2"/>
              </a:rPr>
              <a:t>預測結果為 </a:t>
            </a:r>
            <a:r>
              <a:rPr lang="en-US" altLang="zh-TW">
                <a:sym typeface="Symbol" panose="05050102010706020507" pitchFamily="18" charset="2"/>
              </a:rPr>
              <a:t>1 </a:t>
            </a:r>
            <a:r>
              <a:rPr lang="zh-TW" altLang="en-US">
                <a:sym typeface="Symbol" panose="05050102010706020507" pitchFamily="18" charset="2"/>
              </a:rPr>
              <a:t>的機率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25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7B56C-1D51-4BDB-A680-006DC309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breast_cancer</a:t>
            </a:r>
            <a:r>
              <a:rPr lang="en-US" altLang="zh-TW" dirty="0"/>
              <a:t> </a:t>
            </a:r>
            <a:r>
              <a:rPr lang="zh-TW" altLang="en-US" dirty="0"/>
              <a:t>資料集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BC143C-68EF-4F05-8D9D-1DE7ED144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Breast cancer</a:t>
            </a:r>
            <a:r>
              <a:rPr lang="zh-TW" altLang="en-US"/>
              <a:t>資料集共有</a:t>
            </a:r>
            <a:r>
              <a:rPr lang="en-US" altLang="zh-TW"/>
              <a:t>569</a:t>
            </a:r>
            <a:r>
              <a:rPr lang="zh-TW" altLang="en-US"/>
              <a:t>筆資料，</a:t>
            </a:r>
            <a:r>
              <a:rPr lang="en-US" altLang="zh-TW"/>
              <a:t>30</a:t>
            </a:r>
            <a:r>
              <a:rPr lang="zh-TW" altLang="en-US"/>
              <a:t>個特徵欄位，</a:t>
            </a:r>
            <a:r>
              <a:rPr lang="en-US" altLang="zh-TW"/>
              <a:t>1</a:t>
            </a:r>
            <a:r>
              <a:rPr lang="zh-TW" altLang="en-US"/>
              <a:t>個診斷結果</a:t>
            </a:r>
            <a:r>
              <a:rPr lang="en-US" altLang="zh-TW"/>
              <a:t>(0 = Malignant</a:t>
            </a:r>
            <a:r>
              <a:rPr lang="zh-TW" altLang="en-US"/>
              <a:t>惡性腫瘤</a:t>
            </a:r>
            <a:r>
              <a:rPr lang="en-US" altLang="zh-TW"/>
              <a:t>, 1 = Benign</a:t>
            </a:r>
            <a:r>
              <a:rPr lang="zh-TW" altLang="en-US"/>
              <a:t>良性腫瘤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D0C9C5-F2EA-40DE-9D2B-608B49A5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B64580-270D-4F87-809B-F3A0814C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2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853B6-CBC6-4FFF-905A-24AA853E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Sklearn</a:t>
            </a:r>
            <a:r>
              <a:rPr lang="en-US" altLang="zh-TW" dirty="0"/>
              <a:t> </a:t>
            </a:r>
            <a:r>
              <a:rPr lang="zh-TW" altLang="en-US" dirty="0"/>
              <a:t>實作 </a:t>
            </a:r>
            <a:r>
              <a:rPr lang="en-US" altLang="zh-TW" dirty="0"/>
              <a:t>Logistic Regression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61D7A6-FC5F-459C-92C3-A3F4E6BF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066"/>
            <a:ext cx="10515600" cy="506880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sklearn.datasets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load_breast_cancer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sklearn.linear_model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LogisticRegression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sklearn.model_selection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sklearn.metrics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1" u="none" strike="noStrike" cap="none" normalizeH="0" baseline="0">
                <a:ln>
                  <a:noFill/>
                </a:ln>
                <a:solidFill>
                  <a:srgbClr val="3D7B7B"/>
                </a:solidFill>
                <a:effectLst/>
                <a:latin typeface="Consolas" panose="020B0609020204030204" pitchFamily="49" charset="0"/>
              </a:rPr>
              <a:t>#load the following dataset </a:t>
            </a:r>
            <a:endParaRPr kumimoji="0" lang="en-US" altLang="zh-TW" sz="2400" i="1" u="none" strike="noStrike" cap="none" normalizeH="0" baseline="0">
              <a:ln>
                <a:noFill/>
              </a:ln>
              <a:solidFill>
                <a:srgbClr val="3D7B7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X,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load_breast_cancer(return_X_y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X_train,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X_test,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y_train,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train_test_split(X,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=0.20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=23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>
                <a:latin typeface="Consolas" panose="020B0609020204030204" pitchFamily="49" charset="0"/>
              </a:rPr>
              <a:t>model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LogisticRegression(max_iter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=10000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=0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>
                <a:latin typeface="Consolas" panose="020B0609020204030204" pitchFamily="49" charset="0"/>
              </a:rPr>
              <a:t>model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fit(X_train,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y_train)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zh-TW" sz="3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accuracy_score(y_test,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latin typeface="Consolas" panose="020B0609020204030204" pitchFamily="49" charset="0"/>
              </a:rPr>
              <a:t>model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predict(X_test))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zh-TW" altLang="zh-TW" sz="3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zh-TW" altLang="zh-TW" sz="2400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en-US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f"Logistic Regression model accuracy: 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A45A77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A45A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.2f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A45A77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%"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TW" altLang="zh-TW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zh-TW" altLang="zh-TW" sz="4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TW" altLang="en-US">
              <a:latin typeface="Consolas" panose="020B0609020204030204" pitchFamily="49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0EE90B-4230-4D89-A04B-DB75ADD9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BF8B1A-6920-494F-8245-C9A39240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3314647-69DA-48C2-A97B-F6182BAD0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2501"/>
            <a:ext cx="65" cy="276999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56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518A6F-FF57-455F-9A26-8F1869A2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Logistic Regression model of sklearn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F31A0E-1406-417B-83AE-D9BCBB255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1855" cy="4351338"/>
          </a:xfrm>
        </p:spPr>
        <p:txBody>
          <a:bodyPr>
            <a:normAutofit lnSpcReduction="10000"/>
          </a:bodyPr>
          <a:lstStyle/>
          <a:p>
            <a:r>
              <a:rPr lang="en-US" altLang="zh-TW"/>
              <a:t>class sklearn.linear_model.LogisticRegression(</a:t>
            </a:r>
          </a:p>
          <a:p>
            <a:pPr marL="0" indent="0">
              <a:buNone/>
            </a:pPr>
            <a:r>
              <a:rPr lang="en-US" altLang="zh-TW"/>
              <a:t>	penalty=‘l2’, </a:t>
            </a:r>
            <a:r>
              <a:rPr lang="en-US" altLang="zh-TW" sz="1800">
                <a:solidFill>
                  <a:srgbClr val="00B050"/>
                </a:solidFill>
              </a:rPr>
              <a:t>#</a:t>
            </a:r>
            <a:r>
              <a:rPr lang="zh-TW" altLang="en-US" sz="1800">
                <a:solidFill>
                  <a:srgbClr val="00B050"/>
                </a:solidFill>
              </a:rPr>
              <a:t>選擇</a:t>
            </a:r>
            <a:r>
              <a:rPr lang="en-US" altLang="zh-TW" sz="1800">
                <a:solidFill>
                  <a:srgbClr val="C00000"/>
                </a:solidFill>
              </a:rPr>
              <a:t>L1 (lasso)</a:t>
            </a:r>
            <a:r>
              <a:rPr lang="en-US" altLang="zh-TW" sz="1800">
                <a:solidFill>
                  <a:srgbClr val="00B050"/>
                </a:solidFill>
              </a:rPr>
              <a:t>, </a:t>
            </a:r>
            <a:r>
              <a:rPr lang="en-US" altLang="zh-TW" sz="1800">
                <a:solidFill>
                  <a:srgbClr val="C00000"/>
                </a:solidFill>
              </a:rPr>
              <a:t>L2 (ridge)</a:t>
            </a:r>
            <a:r>
              <a:rPr lang="en-US" altLang="zh-TW" sz="1800">
                <a:solidFill>
                  <a:srgbClr val="00B050"/>
                </a:solidFill>
              </a:rPr>
              <a:t>, </a:t>
            </a:r>
            <a:r>
              <a:rPr lang="en-US" altLang="zh-TW" sz="1800">
                <a:solidFill>
                  <a:srgbClr val="C00000"/>
                </a:solidFill>
              </a:rPr>
              <a:t>elasticnet</a:t>
            </a:r>
            <a:r>
              <a:rPr lang="en-US" altLang="zh-TW" sz="1800">
                <a:solidFill>
                  <a:srgbClr val="00B050"/>
                </a:solidFill>
              </a:rPr>
              <a:t>, or </a:t>
            </a:r>
            <a:r>
              <a:rPr lang="en-US" altLang="zh-TW" sz="1800">
                <a:solidFill>
                  <a:srgbClr val="C00000"/>
                </a:solidFill>
              </a:rPr>
              <a:t>None</a:t>
            </a:r>
            <a:r>
              <a:rPr lang="en-US" altLang="zh-TW" sz="1800">
                <a:solidFill>
                  <a:srgbClr val="00B050"/>
                </a:solidFill>
              </a:rPr>
              <a:t> for penalty (reduce overfitting)</a:t>
            </a:r>
            <a:endParaRPr lang="en-US" altLang="zh-TW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TW"/>
              <a:t>	solver='lbfgs</a:t>
            </a:r>
            <a:r>
              <a:rPr lang="en-US" altLang="zh-TW" sz="1800"/>
              <a:t>’, </a:t>
            </a:r>
            <a:r>
              <a:rPr lang="en-US" altLang="zh-TW" sz="1800">
                <a:solidFill>
                  <a:srgbClr val="00B050"/>
                </a:solidFill>
              </a:rPr>
              <a:t>#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{‘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lbfgs’,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 ‘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liblinear’,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 ‘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newton-cg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’, ‘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newton-cholesky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’, ‘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sag’,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 ‘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-apple-system"/>
              </a:rPr>
              <a:t>saga’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}, </a:t>
            </a:r>
            <a:r>
              <a:rPr kumimoji="0" lang="en-US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	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default=’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-apple-system"/>
              </a:rPr>
              <a:t>lbfgs</a:t>
            </a:r>
            <a:r>
              <a:rPr kumimoji="0" lang="zh-TW" altLang="zh-TW" sz="1800" b="1" i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-apple-system"/>
              </a:rPr>
              <a:t>’</a:t>
            </a:r>
            <a:endParaRPr lang="en-US" altLang="zh-TW"/>
          </a:p>
          <a:p>
            <a:pPr marL="0" indent="0">
              <a:buNone/>
            </a:pPr>
            <a:r>
              <a:rPr lang="en-US" altLang="zh-TW"/>
              <a:t>	max_iter=100, </a:t>
            </a:r>
            <a:r>
              <a:rPr lang="en-US" altLang="zh-TW" sz="1800">
                <a:solidFill>
                  <a:srgbClr val="00B050"/>
                </a:solidFill>
              </a:rPr>
              <a:t>#</a:t>
            </a:r>
            <a:r>
              <a:rPr lang="zh-TW" altLang="en-US" sz="1800">
                <a:solidFill>
                  <a:srgbClr val="00B050"/>
                </a:solidFill>
              </a:rPr>
              <a:t>執行回合數</a:t>
            </a:r>
            <a:endParaRPr lang="en-US" altLang="zh-TW" sz="180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TW"/>
              <a:t>	*, dual=False, tol=0.0001, C=1.0, fit_intercept=True, intercept_scaling=1, 	class_weight=None, random_state=None, multi_class='deprecated’, 	verbose=0, warm_start=False, n_jobs=None, l1_ratio=None</a:t>
            </a:r>
          </a:p>
          <a:p>
            <a:pPr marL="0" indent="0">
              <a:buNone/>
            </a:pPr>
            <a:r>
              <a:rPr lang="en-US" altLang="zh-TW"/>
              <a:t>)</a:t>
            </a: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75DFDA-7197-4606-A4AA-138CF012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9493E6-6EFD-428B-B60C-978DAB36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0A903F2-113E-491C-A824-B22C6F123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54414"/>
            <a:ext cx="184731" cy="708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4283" rIns="9144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97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8B7BB-3CD4-4226-9496-C040F70F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Evaluation for classification model</a:t>
            </a:r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6A4F679A-2AA9-4E46-9570-F98A76AD35B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06493" y="2320243"/>
          <a:ext cx="5181597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1233">
                  <a:extLst>
                    <a:ext uri="{9D8B030D-6E8A-4147-A177-3AD203B41FA5}">
                      <a16:colId xmlns:a16="http://schemas.microsoft.com/office/drawing/2014/main" val="2814314795"/>
                    </a:ext>
                  </a:extLst>
                </a:gridCol>
                <a:gridCol w="1366788">
                  <a:extLst>
                    <a:ext uri="{9D8B030D-6E8A-4147-A177-3AD203B41FA5}">
                      <a16:colId xmlns:a16="http://schemas.microsoft.com/office/drawing/2014/main" val="743490338"/>
                    </a:ext>
                  </a:extLst>
                </a:gridCol>
                <a:gridCol w="1366788">
                  <a:extLst>
                    <a:ext uri="{9D8B030D-6E8A-4147-A177-3AD203B41FA5}">
                      <a16:colId xmlns:a16="http://schemas.microsoft.com/office/drawing/2014/main" val="2447957498"/>
                    </a:ext>
                  </a:extLst>
                </a:gridCol>
                <a:gridCol w="1366788">
                  <a:extLst>
                    <a:ext uri="{9D8B030D-6E8A-4147-A177-3AD203B41FA5}">
                      <a16:colId xmlns:a16="http://schemas.microsoft.com/office/drawing/2014/main" val="343525056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b="1" baseline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預測值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617798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Positive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Negative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917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b="1" baseline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實際值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Positive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TP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FP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6632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Negative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FN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TN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167108"/>
                  </a:ext>
                </a:extLst>
              </a:tr>
            </a:tbl>
          </a:graphicData>
        </a:graphic>
      </p:graphicFrame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E65DF1-02FE-430A-8BF6-A60E35DC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6861B6-B61F-42D7-82C3-DB99D106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CE78820-18BE-4A4F-90AA-9616A67FE4BA}"/>
              </a:ext>
            </a:extLst>
          </p:cNvPr>
          <p:cNvSpPr txBox="1"/>
          <p:nvPr/>
        </p:nvSpPr>
        <p:spPr>
          <a:xfrm>
            <a:off x="7425692" y="1680778"/>
            <a:ext cx="2369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/>
              <a:t>Confusion matrix</a:t>
            </a:r>
            <a:endParaRPr lang="zh-TW" altLang="en-US" sz="2400" b="1"/>
          </a:p>
        </p:txBody>
      </p: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AE4EAC8A-6061-425F-8B11-9BE6EF9AA7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>
                <a:effectLst/>
                <a:cs typeface="Arial" panose="020B0604020202020204" pitchFamily="34" charset="0"/>
              </a:rPr>
              <a:t>TP(True Positive) </a:t>
            </a:r>
            <a:r>
              <a:rPr lang="zh-TW" altLang="zh-TW">
                <a:effectLst/>
                <a:cs typeface="Arial" panose="020B0604020202020204" pitchFamily="34" charset="0"/>
              </a:rPr>
              <a:t>真陽性</a:t>
            </a:r>
            <a:r>
              <a:rPr lang="en-US" altLang="zh-TW">
                <a:effectLst/>
                <a:cs typeface="Arial" panose="020B0604020202020204" pitchFamily="34" charset="0"/>
              </a:rPr>
              <a:t> :</a:t>
            </a:r>
          </a:p>
          <a:p>
            <a:pPr marL="800100" lvl="1" indent="-342900" algn="just">
              <a:buFont typeface="Wingdings" panose="05000000000000000000" pitchFamily="2" charset="2"/>
              <a:buChar char=""/>
            </a:pPr>
            <a:r>
              <a:rPr lang="zh-TW" altLang="zh-TW" sz="1800">
                <a:effectLst/>
                <a:cs typeface="Arial" panose="020B0604020202020204" pitchFamily="34" charset="0"/>
              </a:rPr>
              <a:t>實際</a:t>
            </a:r>
            <a:r>
              <a:rPr lang="zh-TW" altLang="en-US" sz="1800">
                <a:cs typeface="Arial" panose="020B0604020202020204" pitchFamily="34" charset="0"/>
              </a:rPr>
              <a:t>值為</a:t>
            </a:r>
            <a:r>
              <a:rPr lang="zh-TW" altLang="zh-TW" sz="1800">
                <a:effectLst/>
                <a:cs typeface="Arial" panose="020B0604020202020204" pitchFamily="34" charset="0"/>
              </a:rPr>
              <a:t>正且預測</a:t>
            </a:r>
            <a:r>
              <a:rPr lang="zh-TW" altLang="en-US" sz="1800">
                <a:effectLst/>
                <a:cs typeface="Arial" panose="020B0604020202020204" pitchFamily="34" charset="0"/>
              </a:rPr>
              <a:t>值</a:t>
            </a:r>
            <a:r>
              <a:rPr lang="zh-TW" altLang="zh-TW" sz="1800">
                <a:effectLst/>
                <a:cs typeface="Arial" panose="020B0604020202020204" pitchFamily="34" charset="0"/>
              </a:rPr>
              <a:t>為正的樣本數</a:t>
            </a:r>
            <a:r>
              <a:rPr lang="zh-TW" altLang="en-US" sz="1800">
                <a:effectLst/>
                <a:cs typeface="Arial" panose="020B0604020202020204" pitchFamily="34" charset="0"/>
              </a:rPr>
              <a:t>量</a:t>
            </a:r>
            <a:endParaRPr lang="zh-TW" altLang="zh-TW" sz="1800">
              <a:effectLst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>
                <a:effectLst/>
                <a:cs typeface="Arial" panose="020B0604020202020204" pitchFamily="34" charset="0"/>
              </a:rPr>
              <a:t>TN(True Negative) </a:t>
            </a:r>
            <a:r>
              <a:rPr lang="zh-TW" altLang="zh-TW">
                <a:effectLst/>
                <a:cs typeface="Arial" panose="020B0604020202020204" pitchFamily="34" charset="0"/>
              </a:rPr>
              <a:t>真陰性</a:t>
            </a:r>
            <a:r>
              <a:rPr lang="en-US" altLang="zh-TW">
                <a:effectLst/>
                <a:cs typeface="Arial" panose="020B0604020202020204" pitchFamily="34" charset="0"/>
              </a:rPr>
              <a:t> </a:t>
            </a:r>
            <a:endParaRPr lang="en-US" altLang="zh-TW"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"/>
            </a:pPr>
            <a:r>
              <a:rPr lang="zh-TW" altLang="zh-TW" sz="1800">
                <a:effectLst/>
                <a:cs typeface="Arial" panose="020B0604020202020204" pitchFamily="34" charset="0"/>
              </a:rPr>
              <a:t>實際</a:t>
            </a:r>
            <a:r>
              <a:rPr lang="zh-TW" altLang="en-US" sz="1800">
                <a:effectLst/>
                <a:cs typeface="Arial" panose="020B0604020202020204" pitchFamily="34" charset="0"/>
              </a:rPr>
              <a:t>值為</a:t>
            </a:r>
            <a:r>
              <a:rPr lang="zh-TW" altLang="zh-TW" sz="1800">
                <a:effectLst/>
                <a:cs typeface="Arial" panose="020B0604020202020204" pitchFamily="34" charset="0"/>
              </a:rPr>
              <a:t>負</a:t>
            </a:r>
            <a:r>
              <a:rPr lang="zh-TW" altLang="en-US" sz="1800">
                <a:cs typeface="Arial" panose="020B0604020202020204" pitchFamily="34" charset="0"/>
              </a:rPr>
              <a:t>且</a:t>
            </a:r>
            <a:r>
              <a:rPr lang="zh-TW" altLang="zh-TW" sz="1800">
                <a:effectLst/>
                <a:cs typeface="Arial" panose="020B0604020202020204" pitchFamily="34" charset="0"/>
              </a:rPr>
              <a:t>預測為負的樣本數</a:t>
            </a:r>
            <a:r>
              <a:rPr lang="zh-TW" altLang="en-US" sz="1800">
                <a:effectLst/>
                <a:cs typeface="Arial" panose="020B0604020202020204" pitchFamily="34" charset="0"/>
              </a:rPr>
              <a:t>量</a:t>
            </a:r>
            <a:endParaRPr lang="zh-TW" altLang="zh-TW" sz="1800">
              <a:effectLst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>
                <a:effectLst/>
                <a:cs typeface="Arial" panose="020B0604020202020204" pitchFamily="34" charset="0"/>
              </a:rPr>
              <a:t>FP(False Positive) </a:t>
            </a:r>
            <a:r>
              <a:rPr lang="zh-TW" altLang="zh-TW">
                <a:effectLst/>
                <a:cs typeface="Arial" panose="020B0604020202020204" pitchFamily="34" charset="0"/>
              </a:rPr>
              <a:t>假陽性</a:t>
            </a:r>
            <a:r>
              <a:rPr lang="en-US" altLang="zh-TW">
                <a:effectLst/>
                <a:cs typeface="Arial" panose="020B0604020202020204" pitchFamily="34" charset="0"/>
              </a:rPr>
              <a:t> </a:t>
            </a:r>
            <a:endParaRPr lang="en-US" altLang="zh-TW"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"/>
            </a:pPr>
            <a:r>
              <a:rPr lang="zh-TW" altLang="zh-TW" sz="1800">
                <a:effectLst/>
                <a:cs typeface="Arial" panose="020B0604020202020204" pitchFamily="34" charset="0"/>
              </a:rPr>
              <a:t>實際</a:t>
            </a:r>
            <a:r>
              <a:rPr lang="zh-TW" altLang="en-US" sz="1800">
                <a:effectLst/>
                <a:cs typeface="Arial" panose="020B0604020202020204" pitchFamily="34" charset="0"/>
              </a:rPr>
              <a:t>值為正</a:t>
            </a:r>
            <a:r>
              <a:rPr lang="zh-TW" altLang="zh-TW" sz="1800">
                <a:effectLst/>
                <a:cs typeface="Arial" panose="020B0604020202020204" pitchFamily="34" charset="0"/>
              </a:rPr>
              <a:t>但預測</a:t>
            </a:r>
            <a:r>
              <a:rPr lang="zh-TW" altLang="en-US" sz="1800">
                <a:effectLst/>
                <a:cs typeface="Arial" panose="020B0604020202020204" pitchFamily="34" charset="0"/>
              </a:rPr>
              <a:t>值</a:t>
            </a:r>
            <a:r>
              <a:rPr lang="zh-TW" altLang="zh-TW" sz="1800">
                <a:effectLst/>
                <a:cs typeface="Arial" panose="020B0604020202020204" pitchFamily="34" charset="0"/>
              </a:rPr>
              <a:t>為</a:t>
            </a:r>
            <a:r>
              <a:rPr lang="zh-TW" altLang="en-US" sz="1800">
                <a:effectLst/>
                <a:cs typeface="Arial" panose="020B0604020202020204" pitchFamily="34" charset="0"/>
              </a:rPr>
              <a:t>負</a:t>
            </a:r>
            <a:r>
              <a:rPr lang="en-US" altLang="zh-TW" sz="1800">
                <a:effectLst/>
                <a:cs typeface="Arial" panose="020B0604020202020204" pitchFamily="34" charset="0"/>
              </a:rPr>
              <a:t>(</a:t>
            </a:r>
            <a:r>
              <a:rPr lang="zh-TW" altLang="en-US" sz="1800">
                <a:effectLst/>
                <a:cs typeface="Arial" panose="020B0604020202020204" pitchFamily="34" charset="0"/>
              </a:rPr>
              <a:t>預測錯誤</a:t>
            </a:r>
            <a:r>
              <a:rPr lang="en-US" altLang="zh-TW" sz="1800">
                <a:effectLst/>
                <a:cs typeface="Arial" panose="020B0604020202020204" pitchFamily="34" charset="0"/>
              </a:rPr>
              <a:t>)</a:t>
            </a:r>
            <a:r>
              <a:rPr lang="zh-TW" altLang="zh-TW" sz="1800">
                <a:effectLst/>
                <a:cs typeface="Arial" panose="020B0604020202020204" pitchFamily="34" charset="0"/>
              </a:rPr>
              <a:t>的樣本數</a:t>
            </a:r>
            <a:r>
              <a:rPr lang="zh-TW" altLang="en-US" sz="1800">
                <a:effectLst/>
                <a:cs typeface="Arial" panose="020B0604020202020204" pitchFamily="34" charset="0"/>
              </a:rPr>
              <a:t>量</a:t>
            </a:r>
            <a:endParaRPr lang="zh-TW" altLang="zh-TW" sz="1800">
              <a:effectLst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en-US" altLang="zh-TW">
                <a:effectLst/>
                <a:cs typeface="Arial" panose="020B0604020202020204" pitchFamily="34" charset="0"/>
              </a:rPr>
              <a:t>FN(False Negative) </a:t>
            </a:r>
            <a:r>
              <a:rPr lang="zh-TW" altLang="zh-TW">
                <a:effectLst/>
                <a:cs typeface="Arial" panose="020B0604020202020204" pitchFamily="34" charset="0"/>
              </a:rPr>
              <a:t>假陰性</a:t>
            </a:r>
            <a:r>
              <a:rPr lang="en-US" altLang="zh-TW">
                <a:effectLst/>
                <a:cs typeface="Arial" panose="020B0604020202020204" pitchFamily="34" charset="0"/>
              </a:rPr>
              <a:t> </a:t>
            </a:r>
            <a:endParaRPr lang="en-US" altLang="zh-TW"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"/>
            </a:pPr>
            <a:r>
              <a:rPr lang="zh-TW" altLang="zh-TW" sz="1800">
                <a:effectLst/>
                <a:cs typeface="Arial" panose="020B0604020202020204" pitchFamily="34" charset="0"/>
              </a:rPr>
              <a:t>實際</a:t>
            </a:r>
            <a:r>
              <a:rPr lang="zh-TW" altLang="en-US" sz="1800">
                <a:effectLst/>
                <a:cs typeface="Arial" panose="020B0604020202020204" pitchFamily="34" charset="0"/>
              </a:rPr>
              <a:t>值</a:t>
            </a:r>
            <a:r>
              <a:rPr lang="zh-TW" altLang="zh-TW" sz="1800">
                <a:effectLst/>
                <a:cs typeface="Arial" panose="020B0604020202020204" pitchFamily="34" charset="0"/>
              </a:rPr>
              <a:t>是</a:t>
            </a:r>
            <a:r>
              <a:rPr lang="zh-TW" altLang="en-US" sz="1800">
                <a:effectLst/>
                <a:cs typeface="Arial" panose="020B0604020202020204" pitchFamily="34" charset="0"/>
              </a:rPr>
              <a:t>負</a:t>
            </a:r>
            <a:r>
              <a:rPr lang="zh-TW" altLang="zh-TW" sz="1800">
                <a:effectLst/>
                <a:cs typeface="Arial" panose="020B0604020202020204" pitchFamily="34" charset="0"/>
              </a:rPr>
              <a:t>但被預測</a:t>
            </a:r>
            <a:r>
              <a:rPr lang="zh-TW" altLang="en-US" sz="1800">
                <a:effectLst/>
                <a:cs typeface="Arial" panose="020B0604020202020204" pitchFamily="34" charset="0"/>
              </a:rPr>
              <a:t>值</a:t>
            </a:r>
            <a:r>
              <a:rPr lang="zh-TW" altLang="zh-TW" sz="1800">
                <a:effectLst/>
                <a:cs typeface="Arial" panose="020B0604020202020204" pitchFamily="34" charset="0"/>
              </a:rPr>
              <a:t>為</a:t>
            </a:r>
            <a:r>
              <a:rPr lang="zh-TW" altLang="en-US" sz="1800">
                <a:cs typeface="Arial" panose="020B0604020202020204" pitchFamily="34" charset="0"/>
              </a:rPr>
              <a:t>正</a:t>
            </a:r>
            <a:r>
              <a:rPr lang="en-US" altLang="zh-TW" sz="1800">
                <a:effectLst/>
                <a:cs typeface="Arial" panose="020B0604020202020204" pitchFamily="34" charset="0"/>
              </a:rPr>
              <a:t>(</a:t>
            </a:r>
            <a:r>
              <a:rPr lang="zh-TW" altLang="en-US" sz="1800">
                <a:effectLst/>
                <a:cs typeface="Arial" panose="020B0604020202020204" pitchFamily="34" charset="0"/>
              </a:rPr>
              <a:t>預測錯誤</a:t>
            </a:r>
            <a:r>
              <a:rPr lang="en-US" altLang="zh-TW" sz="1800">
                <a:effectLst/>
                <a:cs typeface="Arial" panose="020B0604020202020204" pitchFamily="34" charset="0"/>
              </a:rPr>
              <a:t>)</a:t>
            </a:r>
            <a:r>
              <a:rPr lang="zh-TW" altLang="zh-TW" sz="1800">
                <a:effectLst/>
                <a:cs typeface="Arial" panose="020B0604020202020204" pitchFamily="34" charset="0"/>
              </a:rPr>
              <a:t>的樣本數</a:t>
            </a:r>
          </a:p>
          <a:p>
            <a:endParaRPr lang="zh-TW" altLang="en-US" sz="3200"/>
          </a:p>
        </p:txBody>
      </p:sp>
    </p:spTree>
    <p:extLst>
      <p:ext uri="{BB962C8B-B14F-4D97-AF65-F5344CB8AC3E}">
        <p14:creationId xmlns:p14="http://schemas.microsoft.com/office/powerpoint/2010/main" val="337710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5667FE13-D537-43E0-9E9D-683D3B4D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評估指標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內容版面配置區 7">
                <a:extLst>
                  <a:ext uri="{FF2B5EF4-FFF2-40B4-BE49-F238E27FC236}">
                    <a16:creationId xmlns:a16="http://schemas.microsoft.com/office/drawing/2014/main" id="{A5797D19-98EC-4F64-9C27-28E802B59B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0" indent="-342900" algn="just">
                  <a:buFont typeface="Wingdings" panose="05000000000000000000" pitchFamily="2" charset="2"/>
                  <a:buChar char=""/>
                </a:pPr>
                <a14:m>
                  <m:oMath xmlns:m="http://schemas.openxmlformats.org/officeDocument/2006/math">
                    <m:r>
                      <a:rPr lang="zh-TW" altLang="zh-TW" sz="240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準確度</m:t>
                    </m:r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Accuracy</m:t>
                        </m:r>
                      </m:e>
                    </m:d>
                    <m: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𝑇𝑁</m:t>
                        </m:r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𝐹𝑁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𝑇𝑁</m:t>
                        </m:r>
                      </m:den>
                    </m:f>
                  </m:oMath>
                </a14:m>
                <a:endParaRPr lang="zh-TW" altLang="zh-TW" sz="2400" dirty="0">
                  <a:effectLst/>
                  <a:cs typeface="Arial" panose="020B0604020202020204" pitchFamily="34" charset="0"/>
                </a:endParaRPr>
              </a:p>
              <a:p>
                <a:pPr marL="342900" lvl="0" indent="-342900" algn="just">
                  <a:buFont typeface="Wingdings" panose="05000000000000000000" pitchFamily="2" charset="2"/>
                  <a:buChar char=""/>
                </a:pPr>
                <a14:m>
                  <m:oMath xmlns:m="http://schemas.openxmlformats.org/officeDocument/2006/math">
                    <m:r>
                      <a:rPr lang="zh-TW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精確度</m:t>
                    </m:r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precision</m:t>
                        </m:r>
                      </m:e>
                    </m:d>
                    <m: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𝐹𝑃</m:t>
                        </m:r>
                      </m:den>
                    </m:f>
                  </m:oMath>
                </a14:m>
                <a:endParaRPr lang="zh-TW" altLang="zh-TW" sz="2400" dirty="0">
                  <a:effectLst/>
                  <a:cs typeface="Arial" panose="020B0604020202020204" pitchFamily="34" charset="0"/>
                </a:endParaRPr>
              </a:p>
              <a:p>
                <a:pPr marL="342900" lvl="0" indent="-342900" algn="just">
                  <a:buFont typeface="Wingdings" panose="05000000000000000000" pitchFamily="2" charset="2"/>
                  <a:buChar char=""/>
                </a:pPr>
                <a14:m>
                  <m:oMath xmlns:m="http://schemas.openxmlformats.org/officeDocument/2006/math">
                    <m:r>
                      <a:rPr lang="zh-TW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召回率</m:t>
                    </m:r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recall</m:t>
                        </m:r>
                      </m:e>
                    </m:d>
                    <m: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𝐹𝑁</m:t>
                        </m:r>
                      </m:den>
                    </m:f>
                    <m:r>
                      <a:rPr lang="en-US" altLang="zh-TW" sz="2400" b="0" i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TW" altLang="zh-TW" sz="2400" b="0" dirty="0">
                    <a:effectLst/>
                    <a:cs typeface="Arial" panose="020B0604020202020204" pitchFamily="34" charset="0"/>
                  </a:rPr>
                  <a:t>真陽率</a:t>
                </a:r>
                <a:r>
                  <a:rPr lang="en-US" altLang="zh-TW" sz="2400" b="0" dirty="0">
                    <a:effectLst/>
                    <a:cs typeface="Arial" panose="020B0604020202020204" pitchFamily="34" charset="0"/>
                  </a:rPr>
                  <a:t>(TPR)</a:t>
                </a:r>
                <a:endParaRPr lang="zh-TW" altLang="zh-TW" sz="2400" b="0" dirty="0">
                  <a:effectLst/>
                  <a:cs typeface="Arial" panose="020B0604020202020204" pitchFamily="34" charset="0"/>
                </a:endParaRPr>
              </a:p>
              <a:p>
                <a:pPr marL="342900" lvl="0" indent="-342900" algn="just">
                  <a:buFont typeface="Wingdings" panose="05000000000000000000" pitchFamily="2" charset="2"/>
                  <a:buChar char="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F</m:t>
                    </m:r>
                    <m:r>
                      <a:rPr lang="en-US" altLang="zh-TW" sz="2400" b="1" i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𝟏</m:t>
                    </m:r>
                    <m:r>
                      <a:rPr lang="en-US" altLang="zh-TW" sz="2400" b="1" i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−</m:t>
                    </m:r>
                    <m:r>
                      <a:rPr lang="en-US" altLang="zh-TW" sz="2400" b="1" i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𝐬𝐜𝐨𝐫𝐞</m:t>
                    </m:r>
                    <m: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=2</m:t>
                    </m:r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𝑝𝑟𝑒𝑐𝑖𝑠𝑖𝑜𝑛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∗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𝑝𝑟𝑒𝑐𝑖𝑠𝑖𝑜𝑛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𝑟𝑒𝑐𝑎𝑙𝑙</m:t>
                        </m:r>
                      </m:den>
                    </m:f>
                    <m:r>
                      <a:rPr lang="en-US" altLang="zh-TW" sz="2400" i="1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24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TP</m:t>
                        </m:r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𝐹𝑁</m:t>
                        </m:r>
                      </m:den>
                    </m:f>
                  </m:oMath>
                </a14:m>
                <a:endParaRPr lang="zh-TW" altLang="zh-TW" sz="2400" dirty="0">
                  <a:effectLst/>
                  <a:cs typeface="Arial" panose="020B0604020202020204" pitchFamily="34" charset="0"/>
                </a:endParaRPr>
              </a:p>
              <a:p>
                <a:pPr marL="342900" lvl="0" indent="-342900" algn="just">
                  <a:buFont typeface="Wingdings" panose="05000000000000000000" pitchFamily="2" charset="2"/>
                  <a:buChar char=""/>
                </a:pPr>
                <a14:m>
                  <m:oMath xmlns:m="http://schemas.openxmlformats.org/officeDocument/2006/math">
                    <m:r>
                      <a:rPr lang="zh-TW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偽陽率</m:t>
                    </m:r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FPR</m:t>
                        </m:r>
                      </m:e>
                    </m:d>
                    <m: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𝐹𝑃</m:t>
                        </m:r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𝐹𝑃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𝑇𝑁</m:t>
                        </m:r>
                      </m:den>
                    </m:f>
                  </m:oMath>
                </a14:m>
                <a:endParaRPr lang="zh-TW" altLang="zh-TW" sz="2400" dirty="0">
                  <a:effectLst/>
                  <a:cs typeface="Arial" panose="020B0604020202020204" pitchFamily="34" charset="0"/>
                </a:endParaRPr>
              </a:p>
              <a:p>
                <a:endParaRPr lang="zh-TW" altLang="en-US" sz="3600" dirty="0"/>
              </a:p>
            </p:txBody>
          </p:sp>
        </mc:Choice>
        <mc:Fallback>
          <p:sp>
            <p:nvSpPr>
              <p:cNvPr id="8" name="內容版面配置區 7">
                <a:extLst>
                  <a:ext uri="{FF2B5EF4-FFF2-40B4-BE49-F238E27FC236}">
                    <a16:creationId xmlns:a16="http://schemas.microsoft.com/office/drawing/2014/main" id="{A5797D19-98EC-4F64-9C27-28E802B59B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CBC10F-2F8E-4C82-85E7-6F343EA8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77C8B-9873-4DE6-AFF5-E8ECE59D645B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80D161-9136-47F8-9126-08ABD83B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DEB29F3-77AC-4FA5-A8B4-01784DFA12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577102"/>
              </p:ext>
            </p:extLst>
          </p:nvPr>
        </p:nvGraphicFramePr>
        <p:xfrm>
          <a:off x="6580097" y="1143933"/>
          <a:ext cx="5181597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1233">
                  <a:extLst>
                    <a:ext uri="{9D8B030D-6E8A-4147-A177-3AD203B41FA5}">
                      <a16:colId xmlns:a16="http://schemas.microsoft.com/office/drawing/2014/main" val="2814314795"/>
                    </a:ext>
                  </a:extLst>
                </a:gridCol>
                <a:gridCol w="1366788">
                  <a:extLst>
                    <a:ext uri="{9D8B030D-6E8A-4147-A177-3AD203B41FA5}">
                      <a16:colId xmlns:a16="http://schemas.microsoft.com/office/drawing/2014/main" val="743490338"/>
                    </a:ext>
                  </a:extLst>
                </a:gridCol>
                <a:gridCol w="1366788">
                  <a:extLst>
                    <a:ext uri="{9D8B030D-6E8A-4147-A177-3AD203B41FA5}">
                      <a16:colId xmlns:a16="http://schemas.microsoft.com/office/drawing/2014/main" val="2447957498"/>
                    </a:ext>
                  </a:extLst>
                </a:gridCol>
                <a:gridCol w="1366788">
                  <a:extLst>
                    <a:ext uri="{9D8B030D-6E8A-4147-A177-3AD203B41FA5}">
                      <a16:colId xmlns:a16="http://schemas.microsoft.com/office/drawing/2014/main" val="3435250561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b="1" baseline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預測值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617798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Positive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Negative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917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b="1" baseline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實際值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Positive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TP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FP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6632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Negative</a:t>
                      </a:r>
                      <a:endParaRPr lang="zh-TW" altLang="en-US" baseline="0"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FN</a:t>
                      </a:r>
                      <a:endParaRPr lang="zh-TW" altLang="en-US" b="1" baseline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rgbClr val="3333FF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</a:rPr>
                        <a:t>TN</a:t>
                      </a:r>
                      <a:endParaRPr lang="zh-TW" altLang="en-US" b="1" baseline="0" dirty="0">
                        <a:solidFill>
                          <a:srgbClr val="3333FF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167108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63015F6F-C3E0-4F75-9166-6E969EA110BB}"/>
              </a:ext>
            </a:extLst>
          </p:cNvPr>
          <p:cNvSpPr txBox="1"/>
          <p:nvPr/>
        </p:nvSpPr>
        <p:spPr>
          <a:xfrm>
            <a:off x="650671" y="4491443"/>
            <a:ext cx="10765152" cy="1631216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精確度看出當模型預測為真時的正確率，</a:t>
            </a:r>
            <a:r>
              <a:rPr lang="en-US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FP</a:t>
            </a: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代表錯誤預測為真，亦稱為誤報。</a:t>
            </a:r>
            <a:endParaRPr lang="en-US" altLang="zh-TW" sz="2000" dirty="0">
              <a:effectLst/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召回率意謂實際為真的案例中被正確偵測出的比例。</a:t>
            </a:r>
            <a:endParaRPr lang="en-US" altLang="zh-TW" sz="2000" dirty="0">
              <a:effectLst/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以上兩種指標均比準確度適合用於評估不平衡分類</a:t>
            </a:r>
            <a:r>
              <a:rPr lang="en-US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(imbalanced classification)</a:t>
            </a: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問題，即所蒐集的案例中僅少部分的資料顯示為真。</a:t>
            </a:r>
            <a:endParaRPr lang="en-US" altLang="zh-TW" sz="2000" dirty="0">
              <a:effectLst/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F1-score­</a:t>
            </a:r>
            <a:r>
              <a:rPr lang="en-US" altLang="zh-TW" sz="2000" baseline="-25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­</a:t>
            </a: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則同時考量精確度與召回率，當</a:t>
            </a:r>
            <a:r>
              <a:rPr lang="en-US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F1score</a:t>
            </a: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趨近於</a:t>
            </a:r>
            <a:r>
              <a:rPr lang="en-US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</a:t>
            </a:r>
            <a:r>
              <a:rPr lang="zh-TW" altLang="zh-TW" sz="2000" dirty="0"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時，代表模型的精確度很低。</a:t>
            </a:r>
            <a:endParaRPr lang="zh-TW" altLang="en-US" sz="2400" dirty="0">
              <a:latin typeface="Calibri" panose="020F0502020204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250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ADF26-C3EF-4C55-9799-311E075C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>
                <a:effectLst/>
                <a:ea typeface="標楷體" panose="03000509000000000000" pitchFamily="65" charset="-120"/>
                <a:cs typeface="Calibri" panose="020F0502020204030204" pitchFamily="34" charset="0"/>
              </a:rPr>
              <a:t>AUC (Area Under The Curve)</a:t>
            </a:r>
            <a:endParaRPr lang="zh-TW" altLang="en-US" sz="7200"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AACCFC-137D-46F3-BCE6-EA3A18109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值為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ROC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曲線下的面積</a:t>
            </a:r>
            <a:endParaRPr lang="en-US" altLang="zh-TW">
              <a:effectLst/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/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ROC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曲線由真陽率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(TPR)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及偽陽率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(FPR)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所形成，橫軸設定為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FPR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，縱軸設定為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TPR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，配合不同的閾值就可以畫出一條曲線</a:t>
            </a:r>
            <a:endParaRPr lang="en-US" altLang="zh-TW">
              <a:effectLst/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模型好壞可由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評估，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值由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0.5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至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1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值常被用於評估模型的適用性，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值越趨近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1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代表模型越適合預測，反之若趨近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0.5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則不適合用於預測</a:t>
            </a:r>
            <a:endParaRPr lang="en-US" altLang="zh-TW">
              <a:effectLst/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/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如果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為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0.5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，代表模型沒有任何鑑別度，永遠都會有同等比例的負樣本被錯判。</a:t>
            </a:r>
            <a:endParaRPr lang="en-US" altLang="zh-TW">
              <a:effectLst/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/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如果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AUC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為</a:t>
            </a:r>
            <a:r>
              <a:rPr lang="en-US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1.0</a:t>
            </a:r>
            <a:r>
              <a:rPr lang="zh-TW" altLang="zh-TW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，代表是一個完美分類的模型，沒有任何的負樣本被錯誤地分類。</a:t>
            </a:r>
            <a:endParaRPr lang="zh-TW" altLang="en-US" sz="280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60960D-9F44-4874-BAE4-72862361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20C3BF-5108-4C76-8B0F-8E290282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4762EB2-95F6-26FE-E31F-A62E40E6EB3F}"/>
              </a:ext>
            </a:extLst>
          </p:cNvPr>
          <p:cNvSpPr txBox="1"/>
          <p:nvPr/>
        </p:nvSpPr>
        <p:spPr>
          <a:xfrm>
            <a:off x="2573216" y="5210466"/>
            <a:ext cx="61077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y_proba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model.predict_proba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)[:, 1]</a:t>
            </a:r>
          </a:p>
          <a:p>
            <a:pPr algn="l">
              <a:buNone/>
            </a:pP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auc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roc_auc_score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y_proba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" altLang="zh-TW" b="1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f"AUC</a:t>
            </a:r>
            <a:r>
              <a:rPr lang="en" altLang="zh-TW" b="1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{auc:.2f}")</a:t>
            </a:r>
          </a:p>
        </p:txBody>
      </p:sp>
    </p:spTree>
    <p:extLst>
      <p:ext uri="{BB962C8B-B14F-4D97-AF65-F5344CB8AC3E}">
        <p14:creationId xmlns:p14="http://schemas.microsoft.com/office/powerpoint/2010/main" val="94112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AF8707-9128-C7C0-C647-8D7BEF80057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285" y="1702501"/>
            <a:ext cx="4947430" cy="502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44426FB-6A52-171C-6B66-36FCF432A41A}"/>
              </a:ext>
            </a:extLst>
          </p:cNvPr>
          <p:cNvSpPr txBox="1"/>
          <p:nvPr/>
        </p:nvSpPr>
        <p:spPr>
          <a:xfrm>
            <a:off x="1770184" y="224575"/>
            <a:ext cx="865163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RocCurveDisplay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roc_auc_score</a:t>
            </a:r>
            <a:endParaRPr lang="en" altLang="zh-TW" b="1" i="0" u="none" strike="noStrike" dirty="0">
              <a:solidFill>
                <a:srgbClr val="0432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>
              <a:buNone/>
            </a:pP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RocCurveDisplay.from_estimator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(model, </a:t>
            </a: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plt.title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("ROC Curve")</a:t>
            </a:r>
          </a:p>
          <a:p>
            <a:pPr algn="l">
              <a:buNone/>
            </a:pPr>
            <a:r>
              <a:rPr lang="en" altLang="zh-TW" b="1" i="0" u="none" strike="noStrike" dirty="0" err="1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" altLang="zh-TW" b="1" i="0" u="none" strike="noStrike" dirty="0">
                <a:solidFill>
                  <a:srgbClr val="0432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9190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E3D1A3-26C8-4B70-BD72-20147209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Calculation of evaluation index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4D1815-213D-48DC-ACB1-0B2F34C79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依據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X_test</a:t>
            </a:r>
            <a:r>
              <a:rPr lang="zh-TW" alt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計算預測結果</a:t>
            </a:r>
            <a:endParaRPr lang="en-US" altLang="zh-TW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b="0">
                <a:latin typeface="Consolas" panose="020B0609020204030204" pitchFamily="49" charset="0"/>
              </a:rPr>
              <a:t>y_pred = model.predict(X_test)</a:t>
            </a:r>
            <a:endParaRPr lang="en-US" altLang="zh-TW" b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sklearn.metrics </a:t>
            </a:r>
            <a:r>
              <a:rPr lang="en-US" altLang="zh-TW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3333FF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>
                <a:solidFill>
                  <a:srgbClr val="3333FF"/>
                </a:solidFill>
                <a:effectLst/>
                <a:latin typeface="Consolas" panose="020B0609020204030204" pitchFamily="49" charset="0"/>
              </a:rPr>
              <a:t>confusion_matrix</a:t>
            </a:r>
          </a:p>
          <a:p>
            <a:r>
              <a:rPr lang="zh-TW" alt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產生分類評估指標報告</a:t>
            </a:r>
            <a:endParaRPr lang="en-US" altLang="zh-TW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report = </a:t>
            </a:r>
            <a:r>
              <a:rPr lang="en-US" altLang="zh-TW">
                <a:solidFill>
                  <a:srgbClr val="3333FF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TW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(report)</a:t>
            </a:r>
          </a:p>
          <a:p>
            <a:r>
              <a:rPr lang="zh-TW" altLang="en-US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計算混淆矩陣</a:t>
            </a:r>
            <a:endParaRPr lang="en-US" altLang="zh-TW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conf_matrix = </a:t>
            </a:r>
            <a:r>
              <a:rPr lang="fr-FR" altLang="zh-TW">
                <a:solidFill>
                  <a:srgbClr val="3333FF"/>
                </a:solidFill>
                <a:effectLst/>
                <a:latin typeface="Consolas" panose="020B0609020204030204" pitchFamily="49" charset="0"/>
              </a:rPr>
              <a:t>confusion_matrix</a:t>
            </a:r>
            <a:r>
              <a:rPr lang="fr-FR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(y_test, y_pred)</a:t>
            </a:r>
          </a:p>
          <a:p>
            <a:pPr marL="0" indent="0">
              <a:buNone/>
            </a:pPr>
            <a:r>
              <a:rPr lang="fr-FR" altLang="zh-TW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altLang="zh-TW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(conf_matrix)</a:t>
            </a:r>
          </a:p>
          <a:p>
            <a:endParaRPr lang="en-US" altLang="zh-TW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C383E-5535-4346-B21A-1D62A396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3ADF14F-5FB1-46C2-9729-1E718707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43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44293A-7FEF-4A0A-BC47-927898AC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0D0E51-26B3-40DA-8E2B-AF4604BE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9A0609A-4D41-4B4E-B798-522902E5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9603"/>
            <a:ext cx="6792273" cy="2638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3EE83A3-CCE2-4FAC-82BF-1A5AE991A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634" y="2109603"/>
            <a:ext cx="2353003" cy="1076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0E069200-6F50-4BA1-947B-9039257B0337}"/>
              </a:ext>
            </a:extLst>
          </p:cNvPr>
          <p:cNvSpPr txBox="1"/>
          <p:nvPr/>
        </p:nvSpPr>
        <p:spPr>
          <a:xfrm flipH="1">
            <a:off x="2765754" y="1395154"/>
            <a:ext cx="2937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Classification report</a:t>
            </a:r>
            <a:endParaRPr lang="zh-TW" altLang="en-US" sz="24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6CB6C3E-B50B-4441-8D53-9219225BB993}"/>
              </a:ext>
            </a:extLst>
          </p:cNvPr>
          <p:cNvSpPr txBox="1"/>
          <p:nvPr/>
        </p:nvSpPr>
        <p:spPr>
          <a:xfrm>
            <a:off x="8349634" y="1395154"/>
            <a:ext cx="2389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/>
              <a:t>Confusion Matrix</a:t>
            </a:r>
            <a:endParaRPr lang="zh-TW" altLang="en-US" sz="2400" b="1"/>
          </a:p>
        </p:txBody>
      </p:sp>
    </p:spTree>
    <p:extLst>
      <p:ext uri="{BB962C8B-B14F-4D97-AF65-F5344CB8AC3E}">
        <p14:creationId xmlns:p14="http://schemas.microsoft.com/office/powerpoint/2010/main" val="266597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B6057C4-3C7D-24C4-BDC7-255689388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246" y="1084385"/>
            <a:ext cx="7010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7C6723E-E38C-67E8-A503-E237FB7080CE}"/>
              </a:ext>
            </a:extLst>
          </p:cNvPr>
          <p:cNvSpPr txBox="1"/>
          <p:nvPr/>
        </p:nvSpPr>
        <p:spPr>
          <a:xfrm>
            <a:off x="93785" y="287215"/>
            <a:ext cx="1181686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 import </a:t>
            </a: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ConfusionMatrixDisplay</a:t>
            </a:r>
            <a:endParaRPr lang="en" altLang="zh-TW" sz="1600" b="1" i="0" u="none" strike="noStrike" dirty="0">
              <a:solidFill>
                <a:srgbClr val="0432F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ConfusionMatrixDisplay.from_predictions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display_labels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=['died','</a:t>
            </a: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survivied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'])</a:t>
            </a:r>
          </a:p>
          <a:p>
            <a:pPr algn="l">
              <a:buNone/>
            </a:pPr>
            <a:r>
              <a:rPr lang="en" altLang="zh-TW" sz="1600" b="1" i="0" u="none" strike="noStrike" dirty="0" err="1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" altLang="zh-TW" sz="1600" b="1" i="0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620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020229-744C-FE0B-38F6-DE1270C6B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2975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zh-TW" sz="5400" dirty="0"/>
              <a:t>Decision Tree (</a:t>
            </a:r>
            <a:r>
              <a:rPr lang="zh-TW" altLang="en-US" sz="5400" dirty="0"/>
              <a:t>決策樹</a:t>
            </a:r>
            <a:r>
              <a:rPr lang="en-US" altLang="zh-TW" sz="5400" dirty="0"/>
              <a:t>)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DD50F2-AC80-EBC2-AA6C-58A0709E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2650"/>
            <a:ext cx="9144000" cy="1655762"/>
          </a:xfrm>
        </p:spPr>
        <p:txBody>
          <a:bodyPr/>
          <a:lstStyle/>
          <a:p>
            <a:r>
              <a:rPr lang="en-US" altLang="zh-TW" dirty="0"/>
              <a:t>Classification And Rregression Tree (CART)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5262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509BD-74A2-4C99-B553-3F24485A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Classification and Regression Tree (CART)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88E652-3E5A-4DBE-B1F7-1CBF9279B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32" y="1253331"/>
            <a:ext cx="11082335" cy="4351338"/>
          </a:xfrm>
        </p:spPr>
        <p:txBody>
          <a:bodyPr/>
          <a:lstStyle/>
          <a:p>
            <a:r>
              <a:rPr lang="zh-TW" altLang="en-US" dirty="0"/>
              <a:t>決策樹學習模型，用於分類</a:t>
            </a:r>
            <a:r>
              <a:rPr lang="en-US" altLang="zh-TW" dirty="0"/>
              <a:t>(Classification)</a:t>
            </a:r>
            <a:r>
              <a:rPr lang="zh-TW" altLang="en-US" dirty="0"/>
              <a:t>及回歸</a:t>
            </a:r>
            <a:r>
              <a:rPr lang="en-US" altLang="zh-TW" dirty="0"/>
              <a:t>(Regression)</a:t>
            </a:r>
          </a:p>
          <a:p>
            <a:r>
              <a:rPr lang="en-US" altLang="zh-TW" dirty="0"/>
              <a:t>CART</a:t>
            </a:r>
            <a:r>
              <a:rPr lang="zh-TW" altLang="en-US" dirty="0"/>
              <a:t>可演化為一顆</a:t>
            </a:r>
            <a:r>
              <a:rPr lang="zh-TW" altLang="en-US" dirty="0">
                <a:solidFill>
                  <a:srgbClr val="0070C0"/>
                </a:solidFill>
              </a:rPr>
              <a:t>二元樹</a:t>
            </a:r>
            <a:r>
              <a:rPr lang="en-US" altLang="zh-TW" dirty="0">
                <a:solidFill>
                  <a:srgbClr val="0070C0"/>
                </a:solidFill>
              </a:rPr>
              <a:t>(binary tree)</a:t>
            </a:r>
            <a:r>
              <a:rPr lang="zh-TW" altLang="en-US" dirty="0"/>
              <a:t>，樹的每一個節點代表針對某一個特徵屬性</a:t>
            </a:r>
            <a:r>
              <a:rPr lang="en-US" altLang="zh-TW" dirty="0"/>
              <a:t>(feature)</a:t>
            </a:r>
            <a:r>
              <a:rPr lang="zh-TW" altLang="en-US" dirty="0"/>
              <a:t>，根據</a:t>
            </a:r>
            <a:r>
              <a:rPr lang="zh-TW" altLang="en-US" dirty="0">
                <a:solidFill>
                  <a:srgbClr val="C00000"/>
                </a:solidFill>
              </a:rPr>
              <a:t>特徵值</a:t>
            </a:r>
            <a:r>
              <a:rPr lang="zh-TW" altLang="en-US" dirty="0"/>
              <a:t>進行分割的結果</a:t>
            </a:r>
            <a:endParaRPr lang="en-US" altLang="zh-TW" dirty="0"/>
          </a:p>
          <a:p>
            <a:r>
              <a:rPr lang="en-US" altLang="zh-TW" dirty="0"/>
              <a:t>CART</a:t>
            </a:r>
            <a:r>
              <a:rPr lang="zh-TW" altLang="en-US" dirty="0"/>
              <a:t>演算過程簡單且模型具解釋性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FF4CB2-253D-4C22-9C28-9AD9852C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9DE18B-83AB-40D3-B2C8-653450D6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FE1A7BD-0454-46D8-A645-1C6E9EADACC0}"/>
              </a:ext>
            </a:extLst>
          </p:cNvPr>
          <p:cNvSpPr/>
          <p:nvPr/>
        </p:nvSpPr>
        <p:spPr>
          <a:xfrm>
            <a:off x="7517445" y="3095366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根節點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A9CC817-5D7A-4534-9B2F-73426104E4E6}"/>
              </a:ext>
            </a:extLst>
          </p:cNvPr>
          <p:cNvSpPr/>
          <p:nvPr/>
        </p:nvSpPr>
        <p:spPr>
          <a:xfrm>
            <a:off x="6713191" y="3797614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7A86635-3317-404F-A0D1-0ED618CFA7FC}"/>
              </a:ext>
            </a:extLst>
          </p:cNvPr>
          <p:cNvSpPr/>
          <p:nvPr/>
        </p:nvSpPr>
        <p:spPr>
          <a:xfrm>
            <a:off x="6422749" y="5271035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5AD9A97-6B0E-46E9-81C2-A5744A35160A}"/>
              </a:ext>
            </a:extLst>
          </p:cNvPr>
          <p:cNvSpPr/>
          <p:nvPr/>
        </p:nvSpPr>
        <p:spPr>
          <a:xfrm>
            <a:off x="7115318" y="4478042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E6AFF0D-7C32-4C03-AC2B-D07AD0A6C24C}"/>
              </a:ext>
            </a:extLst>
          </p:cNvPr>
          <p:cNvSpPr/>
          <p:nvPr/>
        </p:nvSpPr>
        <p:spPr>
          <a:xfrm>
            <a:off x="8841206" y="3797614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6444DC3-7D80-41FB-A5B2-6F6FDA4B024D}"/>
              </a:ext>
            </a:extLst>
          </p:cNvPr>
          <p:cNvSpPr/>
          <p:nvPr/>
        </p:nvSpPr>
        <p:spPr>
          <a:xfrm>
            <a:off x="5891392" y="4481098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77E0B63-C365-4555-8445-9290C600B6EE}"/>
              </a:ext>
            </a:extLst>
          </p:cNvPr>
          <p:cNvSpPr/>
          <p:nvPr/>
        </p:nvSpPr>
        <p:spPr>
          <a:xfrm>
            <a:off x="7724272" y="5271034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5C917F5-462D-4BB5-8C7D-C4D15C09272B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7151771" y="3524803"/>
            <a:ext cx="804254" cy="2728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81E8B79-0837-4818-9A50-3A2CA562867C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7956025" y="3524803"/>
            <a:ext cx="1323761" cy="2728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2444046-04A9-49BC-A924-E1C7FDDF1384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flipH="1">
            <a:off x="6329972" y="4227051"/>
            <a:ext cx="821799" cy="25404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8B0190F-177F-4BFA-8646-4CA86B50C332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7151771" y="4227051"/>
            <a:ext cx="402127" cy="25099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B5186E3-E3B2-4B8C-8BBB-980EE7AB941D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6861329" y="4907479"/>
            <a:ext cx="692569" cy="36355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7876CA2-A5E0-4D0C-8138-B8DA500089C2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7553898" y="4907479"/>
            <a:ext cx="608954" cy="363555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1024A5F-2E20-47C0-9E2B-039B6687CC43}"/>
              </a:ext>
            </a:extLst>
          </p:cNvPr>
          <p:cNvSpPr/>
          <p:nvPr/>
        </p:nvSpPr>
        <p:spPr>
          <a:xfrm>
            <a:off x="8267451" y="4478608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5981DC27-2206-46D7-97A1-45D6C02CA9B7}"/>
              </a:ext>
            </a:extLst>
          </p:cNvPr>
          <p:cNvSpPr/>
          <p:nvPr/>
        </p:nvSpPr>
        <p:spPr>
          <a:xfrm>
            <a:off x="9491377" y="4499862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D8DF262E-2C5B-458A-A110-A8EA03CE8A72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 flipH="1">
            <a:off x="8706031" y="4227051"/>
            <a:ext cx="573755" cy="2515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989B406-DACC-4DC8-BA25-A3BBF14E91E4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>
            <a:off x="9279786" y="4227051"/>
            <a:ext cx="650171" cy="272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2944CF8-719A-4728-9C1F-214C0172F21B}"/>
              </a:ext>
            </a:extLst>
          </p:cNvPr>
          <p:cNvSpPr/>
          <p:nvPr/>
        </p:nvSpPr>
        <p:spPr>
          <a:xfrm>
            <a:off x="8841205" y="5281650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8EB3979F-2D9F-4E85-9BD7-43D9C82B8823}"/>
              </a:ext>
            </a:extLst>
          </p:cNvPr>
          <p:cNvSpPr/>
          <p:nvPr/>
        </p:nvSpPr>
        <p:spPr>
          <a:xfrm>
            <a:off x="9990222" y="527103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804B1065-45D7-4CE1-BBE6-22D145CF0F73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 flipH="1">
            <a:off x="9279785" y="4929299"/>
            <a:ext cx="650172" cy="3523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020C862D-276B-4DBC-8ACD-B50350135798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>
            <a:off x="9929957" y="4929299"/>
            <a:ext cx="498845" cy="3417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24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BF2C1-69DE-4DE8-8154-F5DE07DF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CART</a:t>
            </a:r>
            <a:r>
              <a:rPr lang="zh-TW" altLang="en-US"/>
              <a:t>重要特性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FE2CFC-E056-4E99-B89B-7D9D03DC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Binary splitting: </a:t>
            </a:r>
            <a:r>
              <a:rPr lang="zh-TW" altLang="en-US"/>
              <a:t>父節點分割為</a:t>
            </a:r>
            <a:r>
              <a:rPr lang="en-US" altLang="zh-TW"/>
              <a:t>2</a:t>
            </a:r>
            <a:r>
              <a:rPr lang="zh-TW" altLang="en-US"/>
              <a:t>個子節點</a:t>
            </a:r>
            <a:endParaRPr lang="en-US" altLang="zh-TW"/>
          </a:p>
          <a:p>
            <a:r>
              <a:rPr lang="en-US" altLang="zh-TW"/>
              <a:t>Recursive Partitioning: </a:t>
            </a:r>
            <a:r>
              <a:rPr lang="zh-TW" altLang="en-US"/>
              <a:t>遞迴分割過程</a:t>
            </a:r>
            <a:endParaRPr lang="en-US" altLang="zh-TW"/>
          </a:p>
          <a:p>
            <a:r>
              <a:rPr lang="zh-TW" altLang="en-US"/>
              <a:t>可處理不同型別資料</a:t>
            </a:r>
            <a:r>
              <a:rPr lang="en-US" altLang="zh-TW"/>
              <a:t>:</a:t>
            </a:r>
            <a:r>
              <a:rPr lang="zh-TW" altLang="en-US"/>
              <a:t> 數值或類別</a:t>
            </a:r>
            <a:endParaRPr lang="en-US" altLang="zh-TW"/>
          </a:p>
          <a:p>
            <a:r>
              <a:rPr lang="zh-TW" altLang="en-US"/>
              <a:t>不需要 </a:t>
            </a:r>
            <a:r>
              <a:rPr lang="en-US" altLang="zh-TW"/>
              <a:t>feature scaling: </a:t>
            </a:r>
            <a:r>
              <a:rPr lang="zh-TW" altLang="en-US"/>
              <a:t>資料不須正規化</a:t>
            </a:r>
            <a:endParaRPr lang="en-US" altLang="zh-TW"/>
          </a:p>
          <a:p>
            <a:r>
              <a:rPr lang="zh-TW" altLang="en-US"/>
              <a:t>生成太複雜的樹會產生</a:t>
            </a:r>
            <a:r>
              <a:rPr lang="en-US" altLang="zh-TW"/>
              <a:t>overfitting</a:t>
            </a:r>
            <a:r>
              <a:rPr lang="zh-TW" altLang="en-US"/>
              <a:t>問題</a:t>
            </a:r>
            <a:endParaRPr lang="en-US" altLang="zh-TW"/>
          </a:p>
          <a:p>
            <a:r>
              <a:rPr lang="zh-TW" altLang="en-US"/>
              <a:t>資料些微變動考能造成不同結果分割</a:t>
            </a:r>
            <a:endParaRPr lang="en-US" altLang="zh-TW"/>
          </a:p>
          <a:p>
            <a:r>
              <a:rPr lang="zh-TW" altLang="en-US"/>
              <a:t>某些特徵屬性可能具有</a:t>
            </a:r>
            <a:r>
              <a:rPr lang="en-US" altLang="zh-TW"/>
              <a:t>bias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80333A-04E5-4B3F-904A-51C088027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F1333B-8531-403D-9DC4-3A6EC4F7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DCBCB0D-7849-4A5E-8E91-52000E5E93C9}"/>
              </a:ext>
            </a:extLst>
          </p:cNvPr>
          <p:cNvSpPr/>
          <p:nvPr/>
        </p:nvSpPr>
        <p:spPr>
          <a:xfrm>
            <a:off x="8610600" y="1825625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根節點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DD7CB3D-7E63-4504-A780-937BA832F162}"/>
              </a:ext>
            </a:extLst>
          </p:cNvPr>
          <p:cNvSpPr/>
          <p:nvPr/>
        </p:nvSpPr>
        <p:spPr>
          <a:xfrm>
            <a:off x="7806346" y="252787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F484CF8-02F1-40A4-BBA9-37FE1FED0238}"/>
              </a:ext>
            </a:extLst>
          </p:cNvPr>
          <p:cNvSpPr/>
          <p:nvPr/>
        </p:nvSpPr>
        <p:spPr>
          <a:xfrm>
            <a:off x="7515904" y="4001294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A9819AE-B319-46EA-B8BA-3A95A799E871}"/>
              </a:ext>
            </a:extLst>
          </p:cNvPr>
          <p:cNvSpPr/>
          <p:nvPr/>
        </p:nvSpPr>
        <p:spPr>
          <a:xfrm>
            <a:off x="8208473" y="3208301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A959E4D-5316-4E48-B7F3-78FACB17AAA8}"/>
              </a:ext>
            </a:extLst>
          </p:cNvPr>
          <p:cNvSpPr/>
          <p:nvPr/>
        </p:nvSpPr>
        <p:spPr>
          <a:xfrm>
            <a:off x="9934361" y="252787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877B319-BE38-490D-91FA-765ED580960E}"/>
              </a:ext>
            </a:extLst>
          </p:cNvPr>
          <p:cNvSpPr/>
          <p:nvPr/>
        </p:nvSpPr>
        <p:spPr>
          <a:xfrm>
            <a:off x="6984547" y="3211357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57A9AC3-8E3B-4B3D-AFA1-E55C3FA3BEE8}"/>
              </a:ext>
            </a:extLst>
          </p:cNvPr>
          <p:cNvSpPr/>
          <p:nvPr/>
        </p:nvSpPr>
        <p:spPr>
          <a:xfrm>
            <a:off x="8817427" y="400129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2152002-83B4-4E9E-8832-4B3C3FC06D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8244926" y="2255062"/>
            <a:ext cx="804254" cy="2728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3F02052-BAF7-47F1-B1D3-FE1D4F5B2007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9049180" y="2255062"/>
            <a:ext cx="1323761" cy="2728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FDF0C1C9-BE44-4F85-BA29-7785BA85DB83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flipH="1">
            <a:off x="7423127" y="2957310"/>
            <a:ext cx="821799" cy="25404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12AD4625-B12F-4FFB-9B92-0EF9C008DDC5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8244926" y="2957310"/>
            <a:ext cx="402127" cy="25099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135C139A-DBA9-4A95-807D-08239728D7E4}"/>
              </a:ext>
            </a:extLst>
          </p:cNvPr>
          <p:cNvCxnSpPr>
            <a:stCxn id="9" idx="2"/>
            <a:endCxn id="8" idx="0"/>
          </p:cNvCxnSpPr>
          <p:nvPr/>
        </p:nvCxnSpPr>
        <p:spPr>
          <a:xfrm flipH="1">
            <a:off x="7954484" y="3637738"/>
            <a:ext cx="692569" cy="36355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E1FD4A0-4A1E-4DBE-85FC-F83C754EBE40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8647053" y="3637738"/>
            <a:ext cx="608954" cy="363555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0D1DD67A-5408-40E5-AE50-3101EB4D5E87}"/>
              </a:ext>
            </a:extLst>
          </p:cNvPr>
          <p:cNvSpPr/>
          <p:nvPr/>
        </p:nvSpPr>
        <p:spPr>
          <a:xfrm>
            <a:off x="9432399" y="3230121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CA415AC2-2B05-4947-A24E-BC264B22D7DD}"/>
              </a:ext>
            </a:extLst>
          </p:cNvPr>
          <p:cNvSpPr/>
          <p:nvPr/>
        </p:nvSpPr>
        <p:spPr>
          <a:xfrm>
            <a:off x="10584532" y="3230121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370FB9F3-550C-4960-8B64-B2A9D857245D}"/>
              </a:ext>
            </a:extLst>
          </p:cNvPr>
          <p:cNvCxnSpPr>
            <a:stCxn id="10" idx="2"/>
            <a:endCxn id="43" idx="0"/>
          </p:cNvCxnSpPr>
          <p:nvPr/>
        </p:nvCxnSpPr>
        <p:spPr>
          <a:xfrm flipH="1">
            <a:off x="9870979" y="2957310"/>
            <a:ext cx="501962" cy="272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330DE55E-89D7-4B17-8B15-CF7927FDC9D6}"/>
              </a:ext>
            </a:extLst>
          </p:cNvPr>
          <p:cNvCxnSpPr>
            <a:stCxn id="10" idx="2"/>
            <a:endCxn id="44" idx="0"/>
          </p:cNvCxnSpPr>
          <p:nvPr/>
        </p:nvCxnSpPr>
        <p:spPr>
          <a:xfrm>
            <a:off x="10372941" y="2957310"/>
            <a:ext cx="650171" cy="272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DCBAC649-38D4-434E-A212-69D82B9C61B5}"/>
              </a:ext>
            </a:extLst>
          </p:cNvPr>
          <p:cNvSpPr/>
          <p:nvPr/>
        </p:nvSpPr>
        <p:spPr>
          <a:xfrm>
            <a:off x="9934360" y="4011909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3C976109-1447-4DF1-836F-0687FA189F7C}"/>
              </a:ext>
            </a:extLst>
          </p:cNvPr>
          <p:cNvSpPr/>
          <p:nvPr/>
        </p:nvSpPr>
        <p:spPr>
          <a:xfrm>
            <a:off x="11083377" y="4001292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9820F865-2B59-4C44-8D90-F589C9BC3803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flipH="1">
            <a:off x="10372940" y="3659558"/>
            <a:ext cx="650172" cy="3523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73DBB6CA-F841-4E86-9E21-F0DAFC8BD475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11023112" y="3659558"/>
            <a:ext cx="498845" cy="3417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13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5F3B02-9A55-4A15-8551-FD897B52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Decision tree 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概念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C8ABE1-195E-4B27-BFEE-FE09F8A59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03" y="1233579"/>
            <a:ext cx="7330536" cy="5193811"/>
          </a:xfrm>
        </p:spPr>
        <p:txBody>
          <a:bodyPr>
            <a:normAutofit/>
          </a:bodyPr>
          <a:lstStyle/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Root node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根</a:t>
            </a:r>
            <a:r>
              <a:rPr lang="zh-TW" altLang="en-US" b="0" dirty="0">
                <a:solidFill>
                  <a:srgbClr val="242424"/>
                </a:solidFill>
                <a:latin typeface="source-serif-pro"/>
              </a:rPr>
              <a:t>節點</a:t>
            </a: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Splitting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urce-serif-pro"/>
              </a:rPr>
              <a:t>     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節點分割成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2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或多子節點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(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子樹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)</a:t>
            </a:r>
          </a:p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Internal node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dirty="0">
                <a:solidFill>
                  <a:srgbClr val="242424"/>
                </a:solidFill>
                <a:latin typeface="source-serif-pro"/>
              </a:rPr>
              <a:t>中間</a:t>
            </a:r>
            <a:r>
              <a:rPr lang="en-US" altLang="zh-TW" b="0" dirty="0">
                <a:solidFill>
                  <a:srgbClr val="242424"/>
                </a:solidFill>
                <a:latin typeface="source-serif-pro"/>
              </a:rPr>
              <a:t>(</a:t>
            </a:r>
            <a:r>
              <a:rPr lang="zh-TW" altLang="en-US" b="0" dirty="0">
                <a:solidFill>
                  <a:srgbClr val="242424"/>
                </a:solidFill>
                <a:latin typeface="source-serif-pro"/>
              </a:rPr>
              <a:t>內</a:t>
            </a:r>
            <a:r>
              <a:rPr lang="en-US" altLang="zh-TW" b="0" dirty="0">
                <a:solidFill>
                  <a:srgbClr val="242424"/>
                </a:solidFill>
                <a:latin typeface="source-serif-pro"/>
              </a:rPr>
              <a:t>)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節點，依據特徵屬性值進行分割</a:t>
            </a: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Leaf node or Terminal node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葉節點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(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終端節點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)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，無法進一步分割的節點</a:t>
            </a: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Branch or sub-tree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dirty="0">
                <a:solidFill>
                  <a:srgbClr val="242424"/>
                </a:solidFill>
                <a:latin typeface="source-serif-pro"/>
              </a:rPr>
              <a:t>子樹</a:t>
            </a:r>
            <a:r>
              <a:rPr lang="en-US" altLang="zh-TW" b="0" dirty="0">
                <a:solidFill>
                  <a:srgbClr val="242424"/>
                </a:solidFill>
                <a:latin typeface="source-serif-pro"/>
              </a:rPr>
              <a:t>(</a:t>
            </a:r>
            <a:r>
              <a:rPr lang="zh-TW" altLang="en-US" b="0" dirty="0">
                <a:solidFill>
                  <a:srgbClr val="242424"/>
                </a:solidFill>
                <a:latin typeface="source-serif-pro"/>
              </a:rPr>
              <a:t>子節點</a:t>
            </a:r>
            <a:r>
              <a:rPr lang="en-US" altLang="zh-TW" b="0" dirty="0">
                <a:solidFill>
                  <a:srgbClr val="242424"/>
                </a:solidFill>
                <a:latin typeface="source-serif-pro"/>
              </a:rPr>
              <a:t>)</a:t>
            </a: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Parent or child node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分割成子節點的節點稱為父節點</a:t>
            </a: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urce-serif-pro"/>
              </a:rPr>
              <a:t>Pruning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 —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修剪節點以降低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overfitting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，</a:t>
            </a:r>
            <a:r>
              <a:rPr lang="zh-TW" altLang="en-US" b="0" dirty="0">
                <a:solidFill>
                  <a:srgbClr val="242424"/>
                </a:solidFill>
                <a:latin typeface="source-serif-pro"/>
              </a:rPr>
              <a:t>提升準確度</a:t>
            </a:r>
            <a:endParaRPr lang="en-US" altLang="zh-TW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2AC1DC-9E42-45BE-8A1C-3EED3C81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3D4B02-E2C2-4A89-9F6C-21FA258D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1B877DD-6C70-48B6-970A-BD8439FBD760}"/>
              </a:ext>
            </a:extLst>
          </p:cNvPr>
          <p:cNvSpPr/>
          <p:nvPr/>
        </p:nvSpPr>
        <p:spPr>
          <a:xfrm>
            <a:off x="9813114" y="2083395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根節點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C2BDCF0-64FD-49E7-95AA-DC13EAFE1390}"/>
              </a:ext>
            </a:extLst>
          </p:cNvPr>
          <p:cNvSpPr/>
          <p:nvPr/>
        </p:nvSpPr>
        <p:spPr>
          <a:xfrm>
            <a:off x="9008860" y="278564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13B0E04-DDAB-4130-A612-9A3C91C58DFA}"/>
              </a:ext>
            </a:extLst>
          </p:cNvPr>
          <p:cNvSpPr/>
          <p:nvPr/>
        </p:nvSpPr>
        <p:spPr>
          <a:xfrm>
            <a:off x="8718418" y="4259064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2AFE6B-CA85-4BDC-AEF7-DFBF6D4C676E}"/>
              </a:ext>
            </a:extLst>
          </p:cNvPr>
          <p:cNvSpPr/>
          <p:nvPr/>
        </p:nvSpPr>
        <p:spPr>
          <a:xfrm>
            <a:off x="9410987" y="3466071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內節點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ED1EE9A-4469-461C-9CD4-5A43DFFCB87E}"/>
              </a:ext>
            </a:extLst>
          </p:cNvPr>
          <p:cNvSpPr/>
          <p:nvPr/>
        </p:nvSpPr>
        <p:spPr>
          <a:xfrm>
            <a:off x="11136875" y="278564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366C986-B969-41AE-A3EE-C62ED68CCD31}"/>
              </a:ext>
            </a:extLst>
          </p:cNvPr>
          <p:cNvSpPr/>
          <p:nvPr/>
        </p:nvSpPr>
        <p:spPr>
          <a:xfrm>
            <a:off x="8187061" y="3469127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220A6E1-429E-4CC5-B30C-5A17E276FD66}"/>
              </a:ext>
            </a:extLst>
          </p:cNvPr>
          <p:cNvSpPr/>
          <p:nvPr/>
        </p:nvSpPr>
        <p:spPr>
          <a:xfrm>
            <a:off x="10019941" y="4259063"/>
            <a:ext cx="877159" cy="42943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葉節點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01752EE-78AC-4109-BE9C-59351438213F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9447440" y="2512832"/>
            <a:ext cx="804254" cy="2728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964532A-202E-49CE-8483-C6C353C7E849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10251694" y="2512832"/>
            <a:ext cx="1323761" cy="2728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06A7C55-96D7-4A7D-9386-61782D7CE544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8625641" y="3215080"/>
            <a:ext cx="821799" cy="25404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9CB4323-B89E-44CD-BD62-C4E2DD5A3594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9447440" y="3215080"/>
            <a:ext cx="402127" cy="25099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FC8B74E-9BA8-4FE4-9F0F-77F46F4FB4C4}"/>
              </a:ext>
            </a:extLst>
          </p:cNvPr>
          <p:cNvCxnSpPr>
            <a:stCxn id="9" idx="2"/>
            <a:endCxn id="8" idx="0"/>
          </p:cNvCxnSpPr>
          <p:nvPr/>
        </p:nvCxnSpPr>
        <p:spPr>
          <a:xfrm flipH="1">
            <a:off x="9156998" y="3895508"/>
            <a:ext cx="692569" cy="36355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8854BCD-EDD6-4DAF-A415-5056764198A7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9849567" y="3895508"/>
            <a:ext cx="608954" cy="363555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68EC988-F695-4F9E-8454-229D71AFA781}"/>
              </a:ext>
            </a:extLst>
          </p:cNvPr>
          <p:cNvSpPr/>
          <p:nvPr/>
        </p:nvSpPr>
        <p:spPr>
          <a:xfrm>
            <a:off x="8084577" y="2690487"/>
            <a:ext cx="2856927" cy="2297411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A1183830-56AF-4AA7-964A-5802F6F0193A}"/>
              </a:ext>
            </a:extLst>
          </p:cNvPr>
          <p:cNvSpPr/>
          <p:nvPr/>
        </p:nvSpPr>
        <p:spPr>
          <a:xfrm>
            <a:off x="10154044" y="2417821"/>
            <a:ext cx="253989" cy="2406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E360B69-19BC-4689-A228-D9B4A96FC421}"/>
              </a:ext>
            </a:extLst>
          </p:cNvPr>
          <p:cNvSpPr/>
          <p:nvPr/>
        </p:nvSpPr>
        <p:spPr>
          <a:xfrm>
            <a:off x="9281431" y="3091708"/>
            <a:ext cx="253989" cy="2406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9E24BF80-FD78-4F94-B9BB-27C40AB49EA4}"/>
              </a:ext>
            </a:extLst>
          </p:cNvPr>
          <p:cNvSpPr/>
          <p:nvPr/>
        </p:nvSpPr>
        <p:spPr>
          <a:xfrm>
            <a:off x="9722571" y="3787154"/>
            <a:ext cx="253989" cy="2406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720FA9B6-8F20-44D9-8CAF-432EDFAA2113}"/>
              </a:ext>
            </a:extLst>
          </p:cNvPr>
          <p:cNvSpPr/>
          <p:nvPr/>
        </p:nvSpPr>
        <p:spPr>
          <a:xfrm>
            <a:off x="2301306" y="2305424"/>
            <a:ext cx="253989" cy="2406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5CFFCF6-FA16-469B-9462-037E3932EA09}"/>
              </a:ext>
            </a:extLst>
          </p:cNvPr>
          <p:cNvSpPr txBox="1"/>
          <p:nvPr/>
        </p:nvSpPr>
        <p:spPr>
          <a:xfrm>
            <a:off x="8111299" y="235347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子樹</a:t>
            </a:r>
          </a:p>
        </p:txBody>
      </p:sp>
    </p:spTree>
    <p:extLst>
      <p:ext uri="{BB962C8B-B14F-4D97-AF65-F5344CB8AC3E}">
        <p14:creationId xmlns:p14="http://schemas.microsoft.com/office/powerpoint/2010/main" val="397253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911FB-C32C-DFB7-445F-EA50427C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Regression Tree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A24532-5561-3300-3317-5F458E284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68" y="1636284"/>
            <a:ext cx="8189526" cy="4744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397C705-B517-EEA6-74AE-D22825D9E870}"/>
                  </a:ext>
                </a:extLst>
              </p:cNvPr>
              <p:cNvSpPr txBox="1"/>
              <p:nvPr/>
            </p:nvSpPr>
            <p:spPr>
              <a:xfrm>
                <a:off x="8917858" y="3529781"/>
                <a:ext cx="21721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sz="28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sz="28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397C705-B517-EEA6-74AE-D22825D9E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858" y="3529781"/>
                <a:ext cx="2172198" cy="523220"/>
              </a:xfrm>
              <a:prstGeom prst="rect">
                <a:avLst/>
              </a:prstGeom>
              <a:blipFill>
                <a:blip r:embed="rId3"/>
                <a:stretch>
                  <a:fillRect r="-1163" b="-186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03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ECD7F-C96F-0628-104C-2886767C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9A82D7D-734B-E21A-5E0A-7A73D7BD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1978735"/>
            <a:ext cx="5927248" cy="37067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3C57A7D-CF85-1327-D46E-DD3A7B46B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914" y="2019439"/>
            <a:ext cx="5451270" cy="362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75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A03968B-245B-F9D6-3F30-090572F6C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274466"/>
            <a:ext cx="6050707" cy="339296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F894CD8-FECD-7931-38A4-D4C6B453F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148" y="2750916"/>
            <a:ext cx="5802462" cy="351715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E0EE956-1293-009C-D568-312E775F0BFB}"/>
              </a:ext>
            </a:extLst>
          </p:cNvPr>
          <p:cNvSpPr txBox="1"/>
          <p:nvPr/>
        </p:nvSpPr>
        <p:spPr>
          <a:xfrm>
            <a:off x="8721213" y="2381584"/>
            <a:ext cx="6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Root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8915C0-49FD-A4C7-A0CB-C9A0111D23FD}"/>
              </a:ext>
            </a:extLst>
          </p:cNvPr>
          <p:cNvSpPr txBox="1"/>
          <p:nvPr/>
        </p:nvSpPr>
        <p:spPr>
          <a:xfrm>
            <a:off x="6381135" y="3578942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Inner node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AE1FE38-164E-FB27-A350-487B6E5AE60A}"/>
              </a:ext>
            </a:extLst>
          </p:cNvPr>
          <p:cNvSpPr txBox="1"/>
          <p:nvPr/>
        </p:nvSpPr>
        <p:spPr>
          <a:xfrm>
            <a:off x="6485074" y="5378245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Leaf node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7323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CA3C7C-F279-4CC1-323B-C1DB4F54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節點分割規則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9D5F8DF-9C62-9D6B-5097-58C9D40DEF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迴歸樹（</a:t>
                </a:r>
                <a:r>
                  <a:rPr lang="en" altLang="zh-TW" dirty="0"/>
                  <a:t>Regression Tree</a:t>
                </a:r>
                <a:r>
                  <a:rPr lang="zh-TW" altLang="en" dirty="0"/>
                  <a:t>）</a:t>
                </a:r>
                <a:r>
                  <a:rPr lang="zh-TW" altLang="en-US" dirty="0"/>
                  <a:t>中，「資訊增益」（</a:t>
                </a:r>
                <a:r>
                  <a:rPr lang="en" altLang="zh-TW" dirty="0"/>
                  <a:t>Information Gain</a:t>
                </a:r>
                <a:r>
                  <a:rPr lang="zh-TW" altLang="en" dirty="0"/>
                  <a:t>）</a:t>
                </a:r>
                <a:r>
                  <a:rPr lang="zh-TW" altLang="en-US" dirty="0"/>
                  <a:t>的概念等同於</a:t>
                </a:r>
                <a:r>
                  <a:rPr lang="zh-TW" altLang="en-US" b="1" dirty="0"/>
                  <a:t>變異數減少量（</a:t>
                </a:r>
                <a:r>
                  <a:rPr lang="en" altLang="zh-TW" b="1" dirty="0"/>
                  <a:t>Variance Reduction</a:t>
                </a:r>
                <a:r>
                  <a:rPr lang="zh-TW" altLang="en" b="1" dirty="0"/>
                  <a:t>）</a:t>
                </a:r>
                <a:endParaRPr lang="en-US" altLang="zh-TW" b="1" dirty="0"/>
              </a:p>
              <a:p>
                <a:r>
                  <a:rPr lang="zh-TW" altLang="en-US" dirty="0"/>
                  <a:t>以</a:t>
                </a:r>
                <a:r>
                  <a:rPr lang="zh-TW" altLang="en-US" b="1" dirty="0"/>
                  <a:t>均方誤差（</a:t>
                </a:r>
                <a:r>
                  <a:rPr lang="en" altLang="zh-TW" b="1" dirty="0"/>
                  <a:t>MSE</a:t>
                </a:r>
                <a:r>
                  <a:rPr lang="zh-TW" altLang="en" b="1" dirty="0"/>
                  <a:t>）</a:t>
                </a:r>
                <a:r>
                  <a:rPr lang="zh-TW" altLang="en-US" b="1" dirty="0"/>
                  <a:t>或變異數</a:t>
                </a:r>
                <a:r>
                  <a:rPr lang="zh-TW" altLang="en-US" dirty="0"/>
                  <a:t>衡量節點內數值的「混亂程度」或「分散程度」</a:t>
                </a:r>
                <a:endParaRPr lang="en-US" altLang="zh-TW" dirty="0"/>
              </a:p>
              <a:p>
                <a:r>
                  <a:rPr lang="zh-TW" altLang="en-US" dirty="0"/>
                  <a:t>計算資訊增益（變異數減少量），針對所有特徵及切分點，找出可產生最大資訊增益</a:t>
                </a:r>
                <a:endParaRPr lang="en-US" altLang="zh-TW" dirty="0"/>
              </a:p>
              <a:p>
                <a:endParaRPr lang="en-US" altLang="zh-TW" dirty="0"/>
              </a:p>
              <a:p>
                <a:pPr marL="0" indent="0" algn="ctr">
                  <a:buNone/>
                </a:pPr>
                <a:r>
                  <a:rPr lang="en-US" altLang="zh-TW" dirty="0"/>
                  <a:t>Information Gain = </a:t>
                </a:r>
                <a:r>
                  <a:rPr lang="en-US" altLang="zh-TW" dirty="0" err="1"/>
                  <a:t>Variance</a:t>
                </a:r>
                <a:r>
                  <a:rPr lang="en-US" altLang="zh-TW" baseline="-25000" dirty="0" err="1"/>
                  <a:t>parent</a:t>
                </a:r>
                <a:r>
                  <a:rPr lang="en-US" altLang="zh-TW" dirty="0"/>
                  <a:t> - </a:t>
                </a:r>
                <a:r>
                  <a:rPr lang="en-US" altLang="zh-TW" dirty="0" err="1"/>
                  <a:t>Variance</a:t>
                </a:r>
                <a:r>
                  <a:rPr lang="en-US" altLang="zh-TW" baseline="-25000" dirty="0" err="1"/>
                  <a:t>after</a:t>
                </a:r>
                <a:endParaRPr lang="en-US" altLang="zh-TW" baseline="-25000" dirty="0"/>
              </a:p>
              <a:p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𝑎𝑓𝑡𝑒𝑟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𝑙𝑒𝑓𝑡𝑟𝑒𝑒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𝑟𝑖𝑔h𝑡𝑡𝑟𝑒𝑒</m:t>
                      </m:r>
                    </m:oMath>
                  </m:oMathPara>
                </a14:m>
                <a:endParaRPr lang="en-US" altLang="zh-TW" baseline="-250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9D5F8DF-9C62-9D6B-5097-58C9D40DE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19" t="-22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78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1591</Words>
  <Application>Microsoft Macintosh PowerPoint</Application>
  <PresentationFormat>寬螢幕</PresentationFormat>
  <Paragraphs>217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8" baseType="lpstr">
      <vt:lpstr>微軟正黑體</vt:lpstr>
      <vt:lpstr>標楷體</vt:lpstr>
      <vt:lpstr>sohne</vt:lpstr>
      <vt:lpstr>source-serif-pro</vt:lpstr>
      <vt:lpstr>Arial</vt:lpstr>
      <vt:lpstr>Calibri</vt:lpstr>
      <vt:lpstr>Cambria Math</vt:lpstr>
      <vt:lpstr>Consolas</vt:lpstr>
      <vt:lpstr>Courier New</vt:lpstr>
      <vt:lpstr>Symbol</vt:lpstr>
      <vt:lpstr>Times New Roman</vt:lpstr>
      <vt:lpstr>Tw Cen MT</vt:lpstr>
      <vt:lpstr>Wingdings</vt:lpstr>
      <vt:lpstr>Office 佈景主題</vt:lpstr>
      <vt:lpstr>Logistic Regression</vt:lpstr>
      <vt:lpstr>Logistic Regression</vt:lpstr>
      <vt:lpstr>二元分類問題：依據年齡決定是否販賣保險</vt:lpstr>
      <vt:lpstr>Maximum Likelyhood</vt:lpstr>
      <vt:lpstr>PowerPoint 簡報</vt:lpstr>
      <vt:lpstr>Logistic Regression 問題架構</vt:lpstr>
      <vt:lpstr>breast_cancer 資料集</vt:lpstr>
      <vt:lpstr>Sklearn 實作 Logistic Regression</vt:lpstr>
      <vt:lpstr>Logistic Regression model of sklearn</vt:lpstr>
      <vt:lpstr>Evaluation for classification model</vt:lpstr>
      <vt:lpstr>評估指標</vt:lpstr>
      <vt:lpstr>AUC (Area Under The Curve)</vt:lpstr>
      <vt:lpstr>PowerPoint 簡報</vt:lpstr>
      <vt:lpstr>Calculation of evaluation index</vt:lpstr>
      <vt:lpstr>PowerPoint 簡報</vt:lpstr>
      <vt:lpstr>PowerPoint 簡報</vt:lpstr>
      <vt:lpstr>Decision Tree (決策樹)</vt:lpstr>
      <vt:lpstr>Classification and Regression Tree (CART)</vt:lpstr>
      <vt:lpstr>CART重要特性</vt:lpstr>
      <vt:lpstr>Decision tree 概念</vt:lpstr>
      <vt:lpstr>Regression Tree</vt:lpstr>
      <vt:lpstr>PowerPoint 簡報</vt:lpstr>
      <vt:lpstr>PowerPoint 簡報</vt:lpstr>
      <vt:lpstr>節點分割規則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Jainshone Chung</dc:creator>
  <cp:lastModifiedBy>Jainshone Chung</cp:lastModifiedBy>
  <cp:revision>3</cp:revision>
  <dcterms:created xsi:type="dcterms:W3CDTF">2026-05-04T02:08:19Z</dcterms:created>
  <dcterms:modified xsi:type="dcterms:W3CDTF">2026-05-06T07:06:53Z</dcterms:modified>
</cp:coreProperties>
</file>