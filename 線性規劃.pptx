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59" r:id="rId3"/>
    <p:sldId id="302" r:id="rId4"/>
    <p:sldId id="270" r:id="rId5"/>
    <p:sldId id="267" r:id="rId6"/>
    <p:sldId id="273" r:id="rId7"/>
    <p:sldId id="275" r:id="rId8"/>
    <p:sldId id="420" r:id="rId9"/>
    <p:sldId id="421" r:id="rId10"/>
    <p:sldId id="271" r:id="rId11"/>
    <p:sldId id="272" r:id="rId12"/>
    <p:sldId id="411" r:id="rId13"/>
    <p:sldId id="274" r:id="rId14"/>
    <p:sldId id="418" r:id="rId15"/>
    <p:sldId id="285" r:id="rId16"/>
    <p:sldId id="286" r:id="rId17"/>
    <p:sldId id="412" r:id="rId18"/>
    <p:sldId id="269" r:id="rId19"/>
    <p:sldId id="413" r:id="rId20"/>
    <p:sldId id="414" r:id="rId21"/>
    <p:sldId id="415" r:id="rId22"/>
    <p:sldId id="416" r:id="rId23"/>
    <p:sldId id="417" r:id="rId24"/>
    <p:sldId id="290" r:id="rId25"/>
    <p:sldId id="291" r:id="rId26"/>
    <p:sldId id="287" r:id="rId27"/>
    <p:sldId id="422" r:id="rId28"/>
    <p:sldId id="288" r:id="rId29"/>
    <p:sldId id="289" r:id="rId30"/>
    <p:sldId id="292" r:id="rId31"/>
    <p:sldId id="419" r:id="rId3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739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22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82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8DECB-A0B6-4DD2-B197-8C045D824337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64A2A5-5EC5-4524-B8EE-5D95C83197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0779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造成對於新資料的預測效能不佳，此為 </a:t>
            </a:r>
            <a:r>
              <a:rPr lang="en-US" altLang="zh-TW" i="0" dirty="0">
                <a:solidFill>
                  <a:srgbClr val="C00000"/>
                </a:solidFill>
                <a:effectLst/>
                <a:latin typeface="Nunito" pitchFamily="2" charset="0"/>
              </a:rPr>
              <a:t>overfitting</a:t>
            </a:r>
            <a:r>
              <a:rPr lang="zh-TW" alt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現象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6220E-F5F4-4DA5-B97F-4EC1DB5A44DA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9865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6CE076-914F-494A-A29D-F4D5DABEB3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79961CA-3C1E-4946-A8E9-0747F111C4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369520E-4A56-4587-B3C9-E60FF0E76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5DE6C-E494-4D6F-9603-2519E4DBE8B2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8E40879-2058-4CDC-90B8-345941FD4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98E6FE6-74EB-40E6-9AB9-2AB859298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ECB2C-3155-4DEF-866B-F55E04DCDB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7374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03A0A5-E205-4AB9-A50A-D0386A97D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2AA461-4640-4E36-9C4D-E120D1EE5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3340234-375E-4EF7-8B1E-57ACC57B3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5DE6C-E494-4D6F-9603-2519E4DBE8B2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5341D1D-219F-44E7-A599-2DB820BBA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974165C-06B2-4247-B4E6-E0B1C0AAF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ECB2C-3155-4DEF-866B-F55E04DCDB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5157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6616A6-D5DB-4DD4-BD7D-15F47733D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2D90D6D-A499-4D79-9B37-795BFCD1B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69BBA69-6D61-4376-92E7-93C939B13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5DE6C-E494-4D6F-9603-2519E4DBE8B2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C2BF60F-4BF7-4F28-98DB-B24AEF087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226348D-9B14-4DCC-8D3E-8A36F420B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ECB2C-3155-4DEF-866B-F55E04DCDB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793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AFD23F-7F03-4512-893B-B51C527C1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30ADB9F-2303-46C8-8CCF-A366C9E969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C1EB79C-F9BD-4805-830B-B321EA49B4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FC12510-4AC1-4DE1-8B6C-BDFD5796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5DE6C-E494-4D6F-9603-2519E4DBE8B2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D30D9B4-5B1A-40F2-9945-EEF0E4513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7D3B5E7-A505-4647-B1FD-B061EFC85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ECB2C-3155-4DEF-866B-F55E04DCDB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6610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9839A7-C5A0-4DB8-ACC8-422F20040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EF5DF3D-A0C5-4F9B-9099-30E90FC46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0ABE8FB-6556-4817-89FD-653A0020E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F422C53-7AF5-43CB-9B71-4BC8ED2176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8B2B3D4-455D-49E2-89AF-E8628FD34E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D80CD0E-8CA0-498E-8174-DFCAFC091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5DE6C-E494-4D6F-9603-2519E4DBE8B2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0C0E31C-7AEF-4A7F-8609-7697CCEDD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A3FEE89-3D53-4509-BA1A-9B294D9A7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ECB2C-3155-4DEF-866B-F55E04DCDB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1030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6737C5-877C-4BEA-AE99-7CA9E46EE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2A72BF2-9932-4493-91D3-5E5FC599D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5DE6C-E494-4D6F-9603-2519E4DBE8B2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0F14103-F872-4063-B63C-06CA74CB9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AAE38FD-71E4-489A-8304-D060DB6C9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ECB2C-3155-4DEF-866B-F55E04DCDB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0722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CDDE3CD-F1A0-495C-A2CE-27731A24D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5DE6C-E494-4D6F-9603-2519E4DBE8B2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FAE1BBF-75A2-4F86-A9ED-4F0B0A8CE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4C3B8C6-FC89-4A23-9317-C9B5D68C0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ECB2C-3155-4DEF-866B-F55E04DCDB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0025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BAAC7C-7355-40E9-8923-DEBD10973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99273BB-35E0-4ADA-9A88-6BF1F9F37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9CEA508-EDE6-423C-B1D1-68EBB7E879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AB80693-DFD8-4350-8580-3FCED5BBE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5DE6C-E494-4D6F-9603-2519E4DBE8B2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D75FDED-3CDB-4F0A-B8AC-2EE50A6EE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4850E60-3975-4A8C-9685-E9BF6D88A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ECB2C-3155-4DEF-866B-F55E04DCDB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5511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78C990-58D4-494D-8E6E-7A21C21E2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C47EF3A-A831-47C1-8A05-8275C798D4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11D6060-1D43-4708-A45F-C5C212F34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F54BEE9-393D-4139-9EAB-9B1B7008B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5DE6C-E494-4D6F-9603-2519E4DBE8B2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0B5C3B3-3924-4E12-9FC6-4C47FF7A4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2419E9D-CE46-4593-B07D-3D611EA3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ECB2C-3155-4DEF-866B-F55E04DCDB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2869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AF85CE-2598-46F4-9545-DBBFC5084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02F0F03-0A8E-45D8-BFB1-26557CD9FD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119B7C3-D88C-486F-9524-95FEEDE08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5DE6C-E494-4D6F-9603-2519E4DBE8B2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BC3BA3D-C103-4F11-B94C-2DC38717F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8A22C5C-371F-4B9D-83A0-1115063B0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ECB2C-3155-4DEF-866B-F55E04DCDB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0261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282911E-0855-4006-A5B5-BD14B34C9D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163A2BD-87A3-4275-9DFF-E54096ED91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E1892B3-9A6A-4E15-A05B-7BAC6B4CC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5DE6C-E494-4D6F-9603-2519E4DBE8B2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DCD4B77-631F-4E98-B064-730B312DE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FE1D1E3-20D1-46F5-8776-840AFCCB7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ECB2C-3155-4DEF-866B-F55E04DCDB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0458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69D9AA8-F77B-4D66-8A5E-679B648DB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77B9ED2-18A8-40AA-9AF4-25137C8AC9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0137702-5E7D-4703-91AC-983B06C15B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D5DE6C-E494-4D6F-9603-2519E4DBE8B2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8970A87-5324-4C2D-AB07-42671AB70E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BBBBF2C-F13A-4717-8D52-89794C4202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4ECB2C-3155-4DEF-866B-F55E04DCDB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9890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tx1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Calibri" panose="020F0502020204030204" pitchFamily="34" charset="0"/>
          <a:ea typeface="微軟正黑體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" panose="020F0502020204030204" pitchFamily="34" charset="0"/>
          <a:ea typeface="微軟正黑體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Calibri" panose="020F0502020204030204" pitchFamily="34" charset="0"/>
          <a:ea typeface="微軟正黑體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hyperlink" Target="https://scikit-learn.org/stable/modules/generated/sklearn.metrics.mean_squared_error.html#sklearn.metrics.mean_squared_error" TargetMode="External"/><Relationship Id="rId13" Type="http://schemas.openxmlformats.org/officeDocument/2006/relationships/hyperlink" Target="https://scikit-learn.org/stable/modules/model_evaluation.html#scoring-string-names" TargetMode="External"/><Relationship Id="rId3" Type="http://schemas.openxmlformats.org/officeDocument/2006/relationships/hyperlink" Target="https://scikit-learn.org/stable/modules/generated/sklearn.preprocessing.PolynomialFeatures.html#sklearn.preprocessing.PolynomialFeatures" TargetMode="External"/><Relationship Id="rId7" Type="http://schemas.openxmlformats.org/officeDocument/2006/relationships/hyperlink" Target="https://scikit-learn.org/stable/modules/generated/sklearn.model_selection.KFold.html" TargetMode="External"/><Relationship Id="rId12" Type="http://schemas.openxmlformats.org/officeDocument/2006/relationships/hyperlink" Target="https://scikit-learn.org/stable/modules/generated/sklearn.model_selection.cross_val_score.html#sklearn.model_selection.cross_val_score" TargetMode="External"/><Relationship Id="rId2" Type="http://schemas.openxmlformats.org/officeDocument/2006/relationships/hyperlink" Target="https://scikit-learn.org/stable/modules/generated/sklearn.linear_model.LinearRegression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cikit-learn.org/stable/modules/generated/sklearn.linear_model.Ridge.html" TargetMode="External"/><Relationship Id="rId11" Type="http://schemas.openxmlformats.org/officeDocument/2006/relationships/hyperlink" Target="https://scikit-learn.org/stable/modules/generated/sklearn.model_selection.cross_validate.html" TargetMode="External"/><Relationship Id="rId5" Type="http://schemas.openxmlformats.org/officeDocument/2006/relationships/hyperlink" Target="https://scikit-learn.org/stable/modules/generated/sklearn.linear_model.Lasso.html" TargetMode="External"/><Relationship Id="rId10" Type="http://schemas.openxmlformats.org/officeDocument/2006/relationships/hyperlink" Target="https://scikit-learn.org/stable/modules/generated/sklearn.metrics.r2_score.html#sklearn.metrics.r2_score" TargetMode="External"/><Relationship Id="rId4" Type="http://schemas.openxmlformats.org/officeDocument/2006/relationships/hyperlink" Target="https://scikit-learn.org/stable/modules/generated/sklearn.model_selection.train_test_split.html" TargetMode="External"/><Relationship Id="rId9" Type="http://schemas.openxmlformats.org/officeDocument/2006/relationships/hyperlink" Target="https://scikit-learn.org/stable/modules/generated/sklearn.metrics.root_mean_squared_error.html#sklearn.metrics.root_mean_squared_erro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EA52F4-368C-4E34-9E1F-DBE0D59272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/>
              <a:t>機器學習演算法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BF7FC01-C293-4086-A214-F6BD18DC20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8622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54E8B73A-7000-4EC1-8516-51ADCBA777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0"/>
            <a:ext cx="5486400" cy="6858000"/>
          </a:xfrm>
          <a:prstGeom prst="rect">
            <a:avLst/>
          </a:prstGeom>
        </p:spPr>
      </p:pic>
      <p:sp>
        <p:nvSpPr>
          <p:cNvPr id="10" name="手繪多邊形: 圖案 9">
            <a:extLst>
              <a:ext uri="{FF2B5EF4-FFF2-40B4-BE49-F238E27FC236}">
                <a16:creationId xmlns:a16="http://schemas.microsoft.com/office/drawing/2014/main" id="{2E120726-02E7-4A4F-9194-2D585B2CD25F}"/>
              </a:ext>
            </a:extLst>
          </p:cNvPr>
          <p:cNvSpPr/>
          <p:nvPr/>
        </p:nvSpPr>
        <p:spPr>
          <a:xfrm>
            <a:off x="3193676" y="4368886"/>
            <a:ext cx="2709583" cy="2442049"/>
          </a:xfrm>
          <a:custGeom>
            <a:avLst/>
            <a:gdLst>
              <a:gd name="connsiteX0" fmla="*/ 537883 w 2709583"/>
              <a:gd name="connsiteY0" fmla="*/ 35026 h 2442049"/>
              <a:gd name="connsiteX1" fmla="*/ 443753 w 2709583"/>
              <a:gd name="connsiteY1" fmla="*/ 55196 h 2442049"/>
              <a:gd name="connsiteX2" fmla="*/ 389965 w 2709583"/>
              <a:gd name="connsiteY2" fmla="*/ 68643 h 2442049"/>
              <a:gd name="connsiteX3" fmla="*/ 322730 w 2709583"/>
              <a:gd name="connsiteY3" fmla="*/ 102261 h 2442049"/>
              <a:gd name="connsiteX4" fmla="*/ 228600 w 2709583"/>
              <a:gd name="connsiteY4" fmla="*/ 156049 h 2442049"/>
              <a:gd name="connsiteX5" fmla="*/ 201706 w 2709583"/>
              <a:gd name="connsiteY5" fmla="*/ 182943 h 2442049"/>
              <a:gd name="connsiteX6" fmla="*/ 147918 w 2709583"/>
              <a:gd name="connsiteY6" fmla="*/ 277073 h 2442049"/>
              <a:gd name="connsiteX7" fmla="*/ 121024 w 2709583"/>
              <a:gd name="connsiteY7" fmla="*/ 351032 h 2442049"/>
              <a:gd name="connsiteX8" fmla="*/ 87406 w 2709583"/>
              <a:gd name="connsiteY8" fmla="*/ 478779 h 2442049"/>
              <a:gd name="connsiteX9" fmla="*/ 47065 w 2709583"/>
              <a:gd name="connsiteY9" fmla="*/ 606526 h 2442049"/>
              <a:gd name="connsiteX10" fmla="*/ 40342 w 2709583"/>
              <a:gd name="connsiteY10" fmla="*/ 653590 h 2442049"/>
              <a:gd name="connsiteX11" fmla="*/ 26895 w 2709583"/>
              <a:gd name="connsiteY11" fmla="*/ 714102 h 2442049"/>
              <a:gd name="connsiteX12" fmla="*/ 13448 w 2709583"/>
              <a:gd name="connsiteY12" fmla="*/ 848573 h 2442049"/>
              <a:gd name="connsiteX13" fmla="*/ 6724 w 2709583"/>
              <a:gd name="connsiteY13" fmla="*/ 1016661 h 2442049"/>
              <a:gd name="connsiteX14" fmla="*/ 0 w 2709583"/>
              <a:gd name="connsiteY14" fmla="*/ 1090620 h 2442049"/>
              <a:gd name="connsiteX15" fmla="*/ 6724 w 2709583"/>
              <a:gd name="connsiteY15" fmla="*/ 1305773 h 2442049"/>
              <a:gd name="connsiteX16" fmla="*/ 20171 w 2709583"/>
              <a:gd name="connsiteY16" fmla="*/ 1541096 h 2442049"/>
              <a:gd name="connsiteX17" fmla="*/ 47065 w 2709583"/>
              <a:gd name="connsiteY17" fmla="*/ 1662120 h 2442049"/>
              <a:gd name="connsiteX18" fmla="*/ 53789 w 2709583"/>
              <a:gd name="connsiteY18" fmla="*/ 1702461 h 2442049"/>
              <a:gd name="connsiteX19" fmla="*/ 60512 w 2709583"/>
              <a:gd name="connsiteY19" fmla="*/ 1729355 h 2442049"/>
              <a:gd name="connsiteX20" fmla="*/ 100853 w 2709583"/>
              <a:gd name="connsiteY20" fmla="*/ 1931061 h 2442049"/>
              <a:gd name="connsiteX21" fmla="*/ 127748 w 2709583"/>
              <a:gd name="connsiteY21" fmla="*/ 2031914 h 2442049"/>
              <a:gd name="connsiteX22" fmla="*/ 154642 w 2709583"/>
              <a:gd name="connsiteY22" fmla="*/ 2072255 h 2442049"/>
              <a:gd name="connsiteX23" fmla="*/ 235324 w 2709583"/>
              <a:gd name="connsiteY23" fmla="*/ 2179832 h 2442049"/>
              <a:gd name="connsiteX24" fmla="*/ 235324 w 2709583"/>
              <a:gd name="connsiteY24" fmla="*/ 2179832 h 2442049"/>
              <a:gd name="connsiteX25" fmla="*/ 255495 w 2709583"/>
              <a:gd name="connsiteY25" fmla="*/ 2206726 h 2442049"/>
              <a:gd name="connsiteX26" fmla="*/ 322730 w 2709583"/>
              <a:gd name="connsiteY26" fmla="*/ 2247067 h 2442049"/>
              <a:gd name="connsiteX27" fmla="*/ 403412 w 2709583"/>
              <a:gd name="connsiteY27" fmla="*/ 2287408 h 2442049"/>
              <a:gd name="connsiteX28" fmla="*/ 504265 w 2709583"/>
              <a:gd name="connsiteY28" fmla="*/ 2321026 h 2442049"/>
              <a:gd name="connsiteX29" fmla="*/ 524436 w 2709583"/>
              <a:gd name="connsiteY29" fmla="*/ 2334473 h 2442049"/>
              <a:gd name="connsiteX30" fmla="*/ 652183 w 2709583"/>
              <a:gd name="connsiteY30" fmla="*/ 2368090 h 2442049"/>
              <a:gd name="connsiteX31" fmla="*/ 712695 w 2709583"/>
              <a:gd name="connsiteY31" fmla="*/ 2388261 h 2442049"/>
              <a:gd name="connsiteX32" fmla="*/ 753036 w 2709583"/>
              <a:gd name="connsiteY32" fmla="*/ 2401708 h 2442049"/>
              <a:gd name="connsiteX33" fmla="*/ 894230 w 2709583"/>
              <a:gd name="connsiteY33" fmla="*/ 2421879 h 2442049"/>
              <a:gd name="connsiteX34" fmla="*/ 1055595 w 2709583"/>
              <a:gd name="connsiteY34" fmla="*/ 2442049 h 2442049"/>
              <a:gd name="connsiteX35" fmla="*/ 1176618 w 2709583"/>
              <a:gd name="connsiteY35" fmla="*/ 2435326 h 2442049"/>
              <a:gd name="connsiteX36" fmla="*/ 1203512 w 2709583"/>
              <a:gd name="connsiteY36" fmla="*/ 2421879 h 2442049"/>
              <a:gd name="connsiteX37" fmla="*/ 1257300 w 2709583"/>
              <a:gd name="connsiteY37" fmla="*/ 2408432 h 2442049"/>
              <a:gd name="connsiteX38" fmla="*/ 1405218 w 2709583"/>
              <a:gd name="connsiteY38" fmla="*/ 2388261 h 2442049"/>
              <a:gd name="connsiteX39" fmla="*/ 1553136 w 2709583"/>
              <a:gd name="connsiteY39" fmla="*/ 2341196 h 2442049"/>
              <a:gd name="connsiteX40" fmla="*/ 1586753 w 2709583"/>
              <a:gd name="connsiteY40" fmla="*/ 2327749 h 2442049"/>
              <a:gd name="connsiteX41" fmla="*/ 1667436 w 2709583"/>
              <a:gd name="connsiteY41" fmla="*/ 2267238 h 2442049"/>
              <a:gd name="connsiteX42" fmla="*/ 1768289 w 2709583"/>
              <a:gd name="connsiteY42" fmla="*/ 2193279 h 2442049"/>
              <a:gd name="connsiteX43" fmla="*/ 1949824 w 2709583"/>
              <a:gd name="connsiteY43" fmla="*/ 2065532 h 2442049"/>
              <a:gd name="connsiteX44" fmla="*/ 2064124 w 2709583"/>
              <a:gd name="connsiteY44" fmla="*/ 1957955 h 2442049"/>
              <a:gd name="connsiteX45" fmla="*/ 2091018 w 2709583"/>
              <a:gd name="connsiteY45" fmla="*/ 1931061 h 2442049"/>
              <a:gd name="connsiteX46" fmla="*/ 2111189 w 2709583"/>
              <a:gd name="connsiteY46" fmla="*/ 1910890 h 2442049"/>
              <a:gd name="connsiteX47" fmla="*/ 2138083 w 2709583"/>
              <a:gd name="connsiteY47" fmla="*/ 1877273 h 2442049"/>
              <a:gd name="connsiteX48" fmla="*/ 2164977 w 2709583"/>
              <a:gd name="connsiteY48" fmla="*/ 1850379 h 2442049"/>
              <a:gd name="connsiteX49" fmla="*/ 2212042 w 2709583"/>
              <a:gd name="connsiteY49" fmla="*/ 1789867 h 2442049"/>
              <a:gd name="connsiteX50" fmla="*/ 2259106 w 2709583"/>
              <a:gd name="connsiteY50" fmla="*/ 1742802 h 2442049"/>
              <a:gd name="connsiteX51" fmla="*/ 2286000 w 2709583"/>
              <a:gd name="connsiteY51" fmla="*/ 1715908 h 2442049"/>
              <a:gd name="connsiteX52" fmla="*/ 2339789 w 2709583"/>
              <a:gd name="connsiteY52" fmla="*/ 1648673 h 2442049"/>
              <a:gd name="connsiteX53" fmla="*/ 2393577 w 2709583"/>
              <a:gd name="connsiteY53" fmla="*/ 1594885 h 2442049"/>
              <a:gd name="connsiteX54" fmla="*/ 2467536 w 2709583"/>
              <a:gd name="connsiteY54" fmla="*/ 1534373 h 2442049"/>
              <a:gd name="connsiteX55" fmla="*/ 2487706 w 2709583"/>
              <a:gd name="connsiteY55" fmla="*/ 1514202 h 2442049"/>
              <a:gd name="connsiteX56" fmla="*/ 2514600 w 2709583"/>
              <a:gd name="connsiteY56" fmla="*/ 1473861 h 2442049"/>
              <a:gd name="connsiteX57" fmla="*/ 2581836 w 2709583"/>
              <a:gd name="connsiteY57" fmla="*/ 1399902 h 2442049"/>
              <a:gd name="connsiteX58" fmla="*/ 2675965 w 2709583"/>
              <a:gd name="connsiteY58" fmla="*/ 1251985 h 2442049"/>
              <a:gd name="connsiteX59" fmla="*/ 2709583 w 2709583"/>
              <a:gd name="connsiteY59" fmla="*/ 1110790 h 2442049"/>
              <a:gd name="connsiteX60" fmla="*/ 2696136 w 2709583"/>
              <a:gd name="connsiteY60" fmla="*/ 1030108 h 2442049"/>
              <a:gd name="connsiteX61" fmla="*/ 2689412 w 2709583"/>
              <a:gd name="connsiteY61" fmla="*/ 1003214 h 2442049"/>
              <a:gd name="connsiteX62" fmla="*/ 2642348 w 2709583"/>
              <a:gd name="connsiteY62" fmla="*/ 949426 h 2442049"/>
              <a:gd name="connsiteX63" fmla="*/ 2608730 w 2709583"/>
              <a:gd name="connsiteY63" fmla="*/ 909085 h 2442049"/>
              <a:gd name="connsiteX64" fmla="*/ 2568389 w 2709583"/>
              <a:gd name="connsiteY64" fmla="*/ 888914 h 2442049"/>
              <a:gd name="connsiteX65" fmla="*/ 2541495 w 2709583"/>
              <a:gd name="connsiteY65" fmla="*/ 875467 h 2442049"/>
              <a:gd name="connsiteX66" fmla="*/ 2494430 w 2709583"/>
              <a:gd name="connsiteY66" fmla="*/ 855296 h 2442049"/>
              <a:gd name="connsiteX67" fmla="*/ 2440642 w 2709583"/>
              <a:gd name="connsiteY67" fmla="*/ 841849 h 2442049"/>
              <a:gd name="connsiteX68" fmla="*/ 2393577 w 2709583"/>
              <a:gd name="connsiteY68" fmla="*/ 828402 h 2442049"/>
              <a:gd name="connsiteX69" fmla="*/ 2359959 w 2709583"/>
              <a:gd name="connsiteY69" fmla="*/ 821679 h 2442049"/>
              <a:gd name="connsiteX70" fmla="*/ 2265830 w 2709583"/>
              <a:gd name="connsiteY70" fmla="*/ 788061 h 2442049"/>
              <a:gd name="connsiteX71" fmla="*/ 2171700 w 2709583"/>
              <a:gd name="connsiteY71" fmla="*/ 747720 h 2442049"/>
              <a:gd name="connsiteX72" fmla="*/ 2151530 w 2709583"/>
              <a:gd name="connsiteY72" fmla="*/ 734273 h 2442049"/>
              <a:gd name="connsiteX73" fmla="*/ 2057400 w 2709583"/>
              <a:gd name="connsiteY73" fmla="*/ 626696 h 2442049"/>
              <a:gd name="connsiteX74" fmla="*/ 2010336 w 2709583"/>
              <a:gd name="connsiteY74" fmla="*/ 566185 h 2442049"/>
              <a:gd name="connsiteX75" fmla="*/ 1969995 w 2709583"/>
              <a:gd name="connsiteY75" fmla="*/ 498949 h 2442049"/>
              <a:gd name="connsiteX76" fmla="*/ 1815353 w 2709583"/>
              <a:gd name="connsiteY76" fmla="*/ 277073 h 2442049"/>
              <a:gd name="connsiteX77" fmla="*/ 1788459 w 2709583"/>
              <a:gd name="connsiteY77" fmla="*/ 243455 h 2442049"/>
              <a:gd name="connsiteX78" fmla="*/ 1754842 w 2709583"/>
              <a:gd name="connsiteY78" fmla="*/ 209838 h 2442049"/>
              <a:gd name="connsiteX79" fmla="*/ 1741395 w 2709583"/>
              <a:gd name="connsiteY79" fmla="*/ 189667 h 2442049"/>
              <a:gd name="connsiteX80" fmla="*/ 1707777 w 2709583"/>
              <a:gd name="connsiteY80" fmla="*/ 162773 h 2442049"/>
              <a:gd name="connsiteX81" fmla="*/ 1680883 w 2709583"/>
              <a:gd name="connsiteY81" fmla="*/ 135879 h 2442049"/>
              <a:gd name="connsiteX82" fmla="*/ 1620371 w 2709583"/>
              <a:gd name="connsiteY82" fmla="*/ 95538 h 2442049"/>
              <a:gd name="connsiteX83" fmla="*/ 1593477 w 2709583"/>
              <a:gd name="connsiteY83" fmla="*/ 82090 h 2442049"/>
              <a:gd name="connsiteX84" fmla="*/ 1553136 w 2709583"/>
              <a:gd name="connsiteY84" fmla="*/ 55196 h 2442049"/>
              <a:gd name="connsiteX85" fmla="*/ 1519518 w 2709583"/>
              <a:gd name="connsiteY85" fmla="*/ 48473 h 2442049"/>
              <a:gd name="connsiteX86" fmla="*/ 1358153 w 2709583"/>
              <a:gd name="connsiteY86" fmla="*/ 14855 h 2442049"/>
              <a:gd name="connsiteX87" fmla="*/ 1337983 w 2709583"/>
              <a:gd name="connsiteY87" fmla="*/ 8132 h 2442049"/>
              <a:gd name="connsiteX88" fmla="*/ 887506 w 2709583"/>
              <a:gd name="connsiteY88" fmla="*/ 8132 h 2442049"/>
              <a:gd name="connsiteX89" fmla="*/ 786653 w 2709583"/>
              <a:gd name="connsiteY89" fmla="*/ 21579 h 2442049"/>
              <a:gd name="connsiteX90" fmla="*/ 759759 w 2709583"/>
              <a:gd name="connsiteY90" fmla="*/ 28302 h 2442049"/>
              <a:gd name="connsiteX91" fmla="*/ 537883 w 2709583"/>
              <a:gd name="connsiteY91" fmla="*/ 35026 h 24420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2709583" h="2442049">
                <a:moveTo>
                  <a:pt x="537883" y="35026"/>
                </a:moveTo>
                <a:cubicBezTo>
                  <a:pt x="485215" y="39508"/>
                  <a:pt x="475044" y="48085"/>
                  <a:pt x="443753" y="55196"/>
                </a:cubicBezTo>
                <a:cubicBezTo>
                  <a:pt x="425731" y="59292"/>
                  <a:pt x="407189" y="61945"/>
                  <a:pt x="389965" y="68643"/>
                </a:cubicBezTo>
                <a:cubicBezTo>
                  <a:pt x="366612" y="77725"/>
                  <a:pt x="345995" y="92955"/>
                  <a:pt x="322730" y="102261"/>
                </a:cubicBezTo>
                <a:cubicBezTo>
                  <a:pt x="286118" y="116905"/>
                  <a:pt x="259957" y="124692"/>
                  <a:pt x="228600" y="156049"/>
                </a:cubicBezTo>
                <a:cubicBezTo>
                  <a:pt x="219635" y="165014"/>
                  <a:pt x="208738" y="172394"/>
                  <a:pt x="201706" y="182943"/>
                </a:cubicBezTo>
                <a:cubicBezTo>
                  <a:pt x="181660" y="213012"/>
                  <a:pt x="160268" y="243111"/>
                  <a:pt x="147918" y="277073"/>
                </a:cubicBezTo>
                <a:cubicBezTo>
                  <a:pt x="138953" y="301726"/>
                  <a:pt x="128562" y="325906"/>
                  <a:pt x="121024" y="351032"/>
                </a:cubicBezTo>
                <a:cubicBezTo>
                  <a:pt x="108371" y="393207"/>
                  <a:pt x="100058" y="436604"/>
                  <a:pt x="87406" y="478779"/>
                </a:cubicBezTo>
                <a:cubicBezTo>
                  <a:pt x="61127" y="566379"/>
                  <a:pt x="74635" y="523816"/>
                  <a:pt x="47065" y="606526"/>
                </a:cubicBezTo>
                <a:cubicBezTo>
                  <a:pt x="44824" y="622214"/>
                  <a:pt x="43262" y="638014"/>
                  <a:pt x="40342" y="653590"/>
                </a:cubicBezTo>
                <a:cubicBezTo>
                  <a:pt x="36534" y="673899"/>
                  <a:pt x="30292" y="693720"/>
                  <a:pt x="26895" y="714102"/>
                </a:cubicBezTo>
                <a:cubicBezTo>
                  <a:pt x="23110" y="736813"/>
                  <a:pt x="15089" y="830520"/>
                  <a:pt x="13448" y="848573"/>
                </a:cubicBezTo>
                <a:cubicBezTo>
                  <a:pt x="11207" y="904602"/>
                  <a:pt x="9835" y="960673"/>
                  <a:pt x="6724" y="1016661"/>
                </a:cubicBezTo>
                <a:cubicBezTo>
                  <a:pt x="5351" y="1041378"/>
                  <a:pt x="0" y="1065865"/>
                  <a:pt x="0" y="1090620"/>
                </a:cubicBezTo>
                <a:cubicBezTo>
                  <a:pt x="0" y="1162373"/>
                  <a:pt x="3514" y="1234092"/>
                  <a:pt x="6724" y="1305773"/>
                </a:cubicBezTo>
                <a:cubicBezTo>
                  <a:pt x="10239" y="1384263"/>
                  <a:pt x="3127" y="1464398"/>
                  <a:pt x="20171" y="1541096"/>
                </a:cubicBezTo>
                <a:cubicBezTo>
                  <a:pt x="29136" y="1581437"/>
                  <a:pt x="38636" y="1621663"/>
                  <a:pt x="47065" y="1662120"/>
                </a:cubicBezTo>
                <a:cubicBezTo>
                  <a:pt x="49845" y="1675466"/>
                  <a:pt x="51115" y="1689093"/>
                  <a:pt x="53789" y="1702461"/>
                </a:cubicBezTo>
                <a:cubicBezTo>
                  <a:pt x="55601" y="1711522"/>
                  <a:pt x="58993" y="1720240"/>
                  <a:pt x="60512" y="1729355"/>
                </a:cubicBezTo>
                <a:cubicBezTo>
                  <a:pt x="97863" y="1953465"/>
                  <a:pt x="60582" y="1786083"/>
                  <a:pt x="100853" y="1931061"/>
                </a:cubicBezTo>
                <a:cubicBezTo>
                  <a:pt x="103598" y="1940942"/>
                  <a:pt x="122165" y="2019817"/>
                  <a:pt x="127748" y="2031914"/>
                </a:cubicBezTo>
                <a:cubicBezTo>
                  <a:pt x="134521" y="2046588"/>
                  <a:pt x="146077" y="2058550"/>
                  <a:pt x="154642" y="2072255"/>
                </a:cubicBezTo>
                <a:cubicBezTo>
                  <a:pt x="210337" y="2161367"/>
                  <a:pt x="172449" y="2116956"/>
                  <a:pt x="235324" y="2179832"/>
                </a:cubicBezTo>
                <a:lnTo>
                  <a:pt x="235324" y="2179832"/>
                </a:lnTo>
                <a:cubicBezTo>
                  <a:pt x="242048" y="2188797"/>
                  <a:pt x="247571" y="2198802"/>
                  <a:pt x="255495" y="2206726"/>
                </a:cubicBezTo>
                <a:cubicBezTo>
                  <a:pt x="276461" y="2227691"/>
                  <a:pt x="296457" y="2232920"/>
                  <a:pt x="322730" y="2247067"/>
                </a:cubicBezTo>
                <a:cubicBezTo>
                  <a:pt x="370320" y="2272692"/>
                  <a:pt x="359667" y="2272097"/>
                  <a:pt x="403412" y="2287408"/>
                </a:cubicBezTo>
                <a:cubicBezTo>
                  <a:pt x="436859" y="2299114"/>
                  <a:pt x="474780" y="2301370"/>
                  <a:pt x="504265" y="2321026"/>
                </a:cubicBezTo>
                <a:cubicBezTo>
                  <a:pt x="510989" y="2325508"/>
                  <a:pt x="516933" y="2331472"/>
                  <a:pt x="524436" y="2334473"/>
                </a:cubicBezTo>
                <a:cubicBezTo>
                  <a:pt x="565319" y="2350826"/>
                  <a:pt x="611301" y="2351736"/>
                  <a:pt x="652183" y="2368090"/>
                </a:cubicBezTo>
                <a:cubicBezTo>
                  <a:pt x="719585" y="2395053"/>
                  <a:pt x="654792" y="2370891"/>
                  <a:pt x="712695" y="2388261"/>
                </a:cubicBezTo>
                <a:cubicBezTo>
                  <a:pt x="726272" y="2392334"/>
                  <a:pt x="739199" y="2398633"/>
                  <a:pt x="753036" y="2401708"/>
                </a:cubicBezTo>
                <a:cubicBezTo>
                  <a:pt x="870727" y="2427861"/>
                  <a:pt x="793973" y="2405169"/>
                  <a:pt x="894230" y="2421879"/>
                </a:cubicBezTo>
                <a:cubicBezTo>
                  <a:pt x="1039514" y="2446093"/>
                  <a:pt x="849528" y="2428312"/>
                  <a:pt x="1055595" y="2442049"/>
                </a:cubicBezTo>
                <a:cubicBezTo>
                  <a:pt x="1095936" y="2439808"/>
                  <a:pt x="1136585" y="2440785"/>
                  <a:pt x="1176618" y="2435326"/>
                </a:cubicBezTo>
                <a:cubicBezTo>
                  <a:pt x="1186549" y="2433972"/>
                  <a:pt x="1194004" y="2425048"/>
                  <a:pt x="1203512" y="2421879"/>
                </a:cubicBezTo>
                <a:cubicBezTo>
                  <a:pt x="1221045" y="2416035"/>
                  <a:pt x="1239117" y="2411738"/>
                  <a:pt x="1257300" y="2408432"/>
                </a:cubicBezTo>
                <a:cubicBezTo>
                  <a:pt x="1292491" y="2402034"/>
                  <a:pt x="1363777" y="2393441"/>
                  <a:pt x="1405218" y="2388261"/>
                </a:cubicBezTo>
                <a:cubicBezTo>
                  <a:pt x="1454524" y="2372573"/>
                  <a:pt x="1505095" y="2360413"/>
                  <a:pt x="1553136" y="2341196"/>
                </a:cubicBezTo>
                <a:cubicBezTo>
                  <a:pt x="1564342" y="2336714"/>
                  <a:pt x="1576158" y="2333528"/>
                  <a:pt x="1586753" y="2327749"/>
                </a:cubicBezTo>
                <a:cubicBezTo>
                  <a:pt x="1626987" y="2305803"/>
                  <a:pt x="1630570" y="2295326"/>
                  <a:pt x="1667436" y="2267238"/>
                </a:cubicBezTo>
                <a:cubicBezTo>
                  <a:pt x="1700596" y="2241973"/>
                  <a:pt x="1733602" y="2216404"/>
                  <a:pt x="1768289" y="2193279"/>
                </a:cubicBezTo>
                <a:cubicBezTo>
                  <a:pt x="1819683" y="2159016"/>
                  <a:pt x="1905417" y="2103596"/>
                  <a:pt x="1949824" y="2065532"/>
                </a:cubicBezTo>
                <a:cubicBezTo>
                  <a:pt x="2020953" y="2004563"/>
                  <a:pt x="1982278" y="2039801"/>
                  <a:pt x="2064124" y="1957955"/>
                </a:cubicBezTo>
                <a:lnTo>
                  <a:pt x="2091018" y="1931061"/>
                </a:lnTo>
                <a:cubicBezTo>
                  <a:pt x="2097742" y="1924337"/>
                  <a:pt x="2105249" y="1918315"/>
                  <a:pt x="2111189" y="1910890"/>
                </a:cubicBezTo>
                <a:cubicBezTo>
                  <a:pt x="2120154" y="1899684"/>
                  <a:pt x="2128549" y="1887999"/>
                  <a:pt x="2138083" y="1877273"/>
                </a:cubicBezTo>
                <a:cubicBezTo>
                  <a:pt x="2146506" y="1867797"/>
                  <a:pt x="2156788" y="1860057"/>
                  <a:pt x="2164977" y="1850379"/>
                </a:cubicBezTo>
                <a:cubicBezTo>
                  <a:pt x="2181483" y="1830872"/>
                  <a:pt x="2193973" y="1807936"/>
                  <a:pt x="2212042" y="1789867"/>
                </a:cubicBezTo>
                <a:lnTo>
                  <a:pt x="2259106" y="1742802"/>
                </a:lnTo>
                <a:cubicBezTo>
                  <a:pt x="2268071" y="1733837"/>
                  <a:pt x="2278080" y="1725808"/>
                  <a:pt x="2286000" y="1715908"/>
                </a:cubicBezTo>
                <a:cubicBezTo>
                  <a:pt x="2303930" y="1693496"/>
                  <a:pt x="2319494" y="1668968"/>
                  <a:pt x="2339789" y="1648673"/>
                </a:cubicBezTo>
                <a:cubicBezTo>
                  <a:pt x="2357718" y="1630744"/>
                  <a:pt x="2373292" y="1610099"/>
                  <a:pt x="2393577" y="1594885"/>
                </a:cubicBezTo>
                <a:cubicBezTo>
                  <a:pt x="2428386" y="1568778"/>
                  <a:pt x="2427848" y="1570092"/>
                  <a:pt x="2467536" y="1534373"/>
                </a:cubicBezTo>
                <a:cubicBezTo>
                  <a:pt x="2474604" y="1528012"/>
                  <a:pt x="2481868" y="1521708"/>
                  <a:pt x="2487706" y="1514202"/>
                </a:cubicBezTo>
                <a:cubicBezTo>
                  <a:pt x="2497628" y="1501445"/>
                  <a:pt x="2501153" y="1482826"/>
                  <a:pt x="2514600" y="1473861"/>
                </a:cubicBezTo>
                <a:cubicBezTo>
                  <a:pt x="2552675" y="1448478"/>
                  <a:pt x="2540427" y="1459715"/>
                  <a:pt x="2581836" y="1399902"/>
                </a:cubicBezTo>
                <a:cubicBezTo>
                  <a:pt x="2602404" y="1370193"/>
                  <a:pt x="2659700" y="1293551"/>
                  <a:pt x="2675965" y="1251985"/>
                </a:cubicBezTo>
                <a:cubicBezTo>
                  <a:pt x="2700572" y="1189100"/>
                  <a:pt x="2701469" y="1167585"/>
                  <a:pt x="2709583" y="1110790"/>
                </a:cubicBezTo>
                <a:cubicBezTo>
                  <a:pt x="2705101" y="1083896"/>
                  <a:pt x="2701161" y="1056906"/>
                  <a:pt x="2696136" y="1030108"/>
                </a:cubicBezTo>
                <a:cubicBezTo>
                  <a:pt x="2694433" y="1021026"/>
                  <a:pt x="2693052" y="1011707"/>
                  <a:pt x="2689412" y="1003214"/>
                </a:cubicBezTo>
                <a:cubicBezTo>
                  <a:pt x="2680333" y="982031"/>
                  <a:pt x="2655874" y="964884"/>
                  <a:pt x="2642348" y="949426"/>
                </a:cubicBezTo>
                <a:cubicBezTo>
                  <a:pt x="2613873" y="916883"/>
                  <a:pt x="2646089" y="940217"/>
                  <a:pt x="2608730" y="909085"/>
                </a:cubicBezTo>
                <a:cubicBezTo>
                  <a:pt x="2585930" y="890085"/>
                  <a:pt x="2593359" y="899616"/>
                  <a:pt x="2568389" y="888914"/>
                </a:cubicBezTo>
                <a:cubicBezTo>
                  <a:pt x="2559177" y="884966"/>
                  <a:pt x="2550619" y="879614"/>
                  <a:pt x="2541495" y="875467"/>
                </a:cubicBezTo>
                <a:cubicBezTo>
                  <a:pt x="2525956" y="868404"/>
                  <a:pt x="2510623" y="860694"/>
                  <a:pt x="2494430" y="855296"/>
                </a:cubicBezTo>
                <a:cubicBezTo>
                  <a:pt x="2476897" y="849452"/>
                  <a:pt x="2458499" y="846611"/>
                  <a:pt x="2440642" y="841849"/>
                </a:cubicBezTo>
                <a:cubicBezTo>
                  <a:pt x="2424877" y="837645"/>
                  <a:pt x="2409406" y="832359"/>
                  <a:pt x="2393577" y="828402"/>
                </a:cubicBezTo>
                <a:cubicBezTo>
                  <a:pt x="2382490" y="825630"/>
                  <a:pt x="2370856" y="825120"/>
                  <a:pt x="2359959" y="821679"/>
                </a:cubicBezTo>
                <a:cubicBezTo>
                  <a:pt x="2328188" y="811646"/>
                  <a:pt x="2296840" y="800244"/>
                  <a:pt x="2265830" y="788061"/>
                </a:cubicBezTo>
                <a:cubicBezTo>
                  <a:pt x="2234057" y="775579"/>
                  <a:pt x="2200103" y="766656"/>
                  <a:pt x="2171700" y="747720"/>
                </a:cubicBezTo>
                <a:cubicBezTo>
                  <a:pt x="2164977" y="743238"/>
                  <a:pt x="2157536" y="739679"/>
                  <a:pt x="2151530" y="734273"/>
                </a:cubicBezTo>
                <a:cubicBezTo>
                  <a:pt x="2103282" y="690849"/>
                  <a:pt x="2098638" y="679716"/>
                  <a:pt x="2057400" y="626696"/>
                </a:cubicBezTo>
                <a:cubicBezTo>
                  <a:pt x="2041712" y="606526"/>
                  <a:pt x="2023483" y="588097"/>
                  <a:pt x="2010336" y="566185"/>
                </a:cubicBezTo>
                <a:cubicBezTo>
                  <a:pt x="1996889" y="543773"/>
                  <a:pt x="1983921" y="521067"/>
                  <a:pt x="1969995" y="498949"/>
                </a:cubicBezTo>
                <a:cubicBezTo>
                  <a:pt x="1895192" y="380143"/>
                  <a:pt x="1900047" y="388233"/>
                  <a:pt x="1815353" y="277073"/>
                </a:cubicBezTo>
                <a:cubicBezTo>
                  <a:pt x="1806656" y="265658"/>
                  <a:pt x="1798606" y="253602"/>
                  <a:pt x="1788459" y="243455"/>
                </a:cubicBezTo>
                <a:cubicBezTo>
                  <a:pt x="1777253" y="232249"/>
                  <a:pt x="1765277" y="221764"/>
                  <a:pt x="1754842" y="209838"/>
                </a:cubicBezTo>
                <a:cubicBezTo>
                  <a:pt x="1749521" y="203757"/>
                  <a:pt x="1747109" y="195381"/>
                  <a:pt x="1741395" y="189667"/>
                </a:cubicBezTo>
                <a:cubicBezTo>
                  <a:pt x="1731248" y="179520"/>
                  <a:pt x="1718503" y="172307"/>
                  <a:pt x="1707777" y="162773"/>
                </a:cubicBezTo>
                <a:cubicBezTo>
                  <a:pt x="1698301" y="154350"/>
                  <a:pt x="1690424" y="144228"/>
                  <a:pt x="1680883" y="135879"/>
                </a:cubicBezTo>
                <a:cubicBezTo>
                  <a:pt x="1663302" y="120495"/>
                  <a:pt x="1640546" y="106746"/>
                  <a:pt x="1620371" y="95538"/>
                </a:cubicBezTo>
                <a:cubicBezTo>
                  <a:pt x="1611609" y="90670"/>
                  <a:pt x="1602072" y="87247"/>
                  <a:pt x="1593477" y="82090"/>
                </a:cubicBezTo>
                <a:cubicBezTo>
                  <a:pt x="1579619" y="73775"/>
                  <a:pt x="1567849" y="61883"/>
                  <a:pt x="1553136" y="55196"/>
                </a:cubicBezTo>
                <a:cubicBezTo>
                  <a:pt x="1542732" y="50467"/>
                  <a:pt x="1530605" y="51245"/>
                  <a:pt x="1519518" y="48473"/>
                </a:cubicBezTo>
                <a:cubicBezTo>
                  <a:pt x="1384595" y="14743"/>
                  <a:pt x="1461680" y="26359"/>
                  <a:pt x="1358153" y="14855"/>
                </a:cubicBezTo>
                <a:cubicBezTo>
                  <a:pt x="1351430" y="12614"/>
                  <a:pt x="1345015" y="9011"/>
                  <a:pt x="1337983" y="8132"/>
                </a:cubicBezTo>
                <a:cubicBezTo>
                  <a:pt x="1199590" y="-9167"/>
                  <a:pt x="991071" y="6214"/>
                  <a:pt x="887506" y="8132"/>
                </a:cubicBezTo>
                <a:cubicBezTo>
                  <a:pt x="847128" y="12618"/>
                  <a:pt x="824387" y="14032"/>
                  <a:pt x="786653" y="21579"/>
                </a:cubicBezTo>
                <a:cubicBezTo>
                  <a:pt x="777592" y="23391"/>
                  <a:pt x="768724" y="26061"/>
                  <a:pt x="759759" y="28302"/>
                </a:cubicBezTo>
                <a:cubicBezTo>
                  <a:pt x="690285" y="25986"/>
                  <a:pt x="590551" y="30544"/>
                  <a:pt x="537883" y="35026"/>
                </a:cubicBezTo>
                <a:close/>
              </a:path>
            </a:pathLst>
          </a:custGeom>
          <a:noFill/>
          <a:ln w="28575">
            <a:solidFill>
              <a:srgbClr val="3333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手繪多邊形: 圖案 10">
            <a:extLst>
              <a:ext uri="{FF2B5EF4-FFF2-40B4-BE49-F238E27FC236}">
                <a16:creationId xmlns:a16="http://schemas.microsoft.com/office/drawing/2014/main" id="{E3CA54DD-2972-488D-B9EC-85F05D24CB1C}"/>
              </a:ext>
            </a:extLst>
          </p:cNvPr>
          <p:cNvSpPr/>
          <p:nvPr/>
        </p:nvSpPr>
        <p:spPr>
          <a:xfrm>
            <a:off x="6367182" y="2884394"/>
            <a:ext cx="2763413" cy="1788459"/>
          </a:xfrm>
          <a:custGeom>
            <a:avLst/>
            <a:gdLst>
              <a:gd name="connsiteX0" fmla="*/ 94130 w 2763413"/>
              <a:gd name="connsiteY0" fmla="*/ 551330 h 1788459"/>
              <a:gd name="connsiteX1" fmla="*/ 127747 w 2763413"/>
              <a:gd name="connsiteY1" fmla="*/ 584947 h 1788459"/>
              <a:gd name="connsiteX2" fmla="*/ 201706 w 2763413"/>
              <a:gd name="connsiteY2" fmla="*/ 605118 h 1788459"/>
              <a:gd name="connsiteX3" fmla="*/ 450477 w 2763413"/>
              <a:gd name="connsiteY3" fmla="*/ 611841 h 1788459"/>
              <a:gd name="connsiteX4" fmla="*/ 490818 w 2763413"/>
              <a:gd name="connsiteY4" fmla="*/ 632012 h 1788459"/>
              <a:gd name="connsiteX5" fmla="*/ 510989 w 2763413"/>
              <a:gd name="connsiteY5" fmla="*/ 638735 h 1788459"/>
              <a:gd name="connsiteX6" fmla="*/ 564777 w 2763413"/>
              <a:gd name="connsiteY6" fmla="*/ 672353 h 1788459"/>
              <a:gd name="connsiteX7" fmla="*/ 591671 w 2763413"/>
              <a:gd name="connsiteY7" fmla="*/ 685800 h 1788459"/>
              <a:gd name="connsiteX8" fmla="*/ 611842 w 2763413"/>
              <a:gd name="connsiteY8" fmla="*/ 712694 h 1788459"/>
              <a:gd name="connsiteX9" fmla="*/ 625289 w 2763413"/>
              <a:gd name="connsiteY9" fmla="*/ 753035 h 1788459"/>
              <a:gd name="connsiteX10" fmla="*/ 625289 w 2763413"/>
              <a:gd name="connsiteY10" fmla="*/ 948018 h 1788459"/>
              <a:gd name="connsiteX11" fmla="*/ 618565 w 2763413"/>
              <a:gd name="connsiteY11" fmla="*/ 1001806 h 1788459"/>
              <a:gd name="connsiteX12" fmla="*/ 598394 w 2763413"/>
              <a:gd name="connsiteY12" fmla="*/ 1069041 h 1788459"/>
              <a:gd name="connsiteX13" fmla="*/ 584947 w 2763413"/>
              <a:gd name="connsiteY13" fmla="*/ 1156447 h 1788459"/>
              <a:gd name="connsiteX14" fmla="*/ 578224 w 2763413"/>
              <a:gd name="connsiteY14" fmla="*/ 1257300 h 1788459"/>
              <a:gd name="connsiteX15" fmla="*/ 571500 w 2763413"/>
              <a:gd name="connsiteY15" fmla="*/ 1297641 h 1788459"/>
              <a:gd name="connsiteX16" fmla="*/ 564777 w 2763413"/>
              <a:gd name="connsiteY16" fmla="*/ 1364877 h 1788459"/>
              <a:gd name="connsiteX17" fmla="*/ 551330 w 2763413"/>
              <a:gd name="connsiteY17" fmla="*/ 1465730 h 1788459"/>
              <a:gd name="connsiteX18" fmla="*/ 544606 w 2763413"/>
              <a:gd name="connsiteY18" fmla="*/ 1506071 h 1788459"/>
              <a:gd name="connsiteX19" fmla="*/ 531159 w 2763413"/>
              <a:gd name="connsiteY19" fmla="*/ 1532965 h 1788459"/>
              <a:gd name="connsiteX20" fmla="*/ 524436 w 2763413"/>
              <a:gd name="connsiteY20" fmla="*/ 1559859 h 1788459"/>
              <a:gd name="connsiteX21" fmla="*/ 504265 w 2763413"/>
              <a:gd name="connsiteY21" fmla="*/ 1674159 h 1788459"/>
              <a:gd name="connsiteX22" fmla="*/ 497542 w 2763413"/>
              <a:gd name="connsiteY22" fmla="*/ 1707777 h 1788459"/>
              <a:gd name="connsiteX23" fmla="*/ 524436 w 2763413"/>
              <a:gd name="connsiteY23" fmla="*/ 1761565 h 1788459"/>
              <a:gd name="connsiteX24" fmla="*/ 551330 w 2763413"/>
              <a:gd name="connsiteY24" fmla="*/ 1768288 h 1788459"/>
              <a:gd name="connsiteX25" fmla="*/ 591671 w 2763413"/>
              <a:gd name="connsiteY25" fmla="*/ 1775012 h 1788459"/>
              <a:gd name="connsiteX26" fmla="*/ 712694 w 2763413"/>
              <a:gd name="connsiteY26" fmla="*/ 1781735 h 1788459"/>
              <a:gd name="connsiteX27" fmla="*/ 1055594 w 2763413"/>
              <a:gd name="connsiteY27" fmla="*/ 1775012 h 1788459"/>
              <a:gd name="connsiteX28" fmla="*/ 1264024 w 2763413"/>
              <a:gd name="connsiteY28" fmla="*/ 1768288 h 1788459"/>
              <a:gd name="connsiteX29" fmla="*/ 1438836 w 2763413"/>
              <a:gd name="connsiteY29" fmla="*/ 1775012 h 1788459"/>
              <a:gd name="connsiteX30" fmla="*/ 1956547 w 2763413"/>
              <a:gd name="connsiteY30" fmla="*/ 1775012 h 1788459"/>
              <a:gd name="connsiteX31" fmla="*/ 2017059 w 2763413"/>
              <a:gd name="connsiteY31" fmla="*/ 1781735 h 1788459"/>
              <a:gd name="connsiteX32" fmla="*/ 2124636 w 2763413"/>
              <a:gd name="connsiteY32" fmla="*/ 1788459 h 1788459"/>
              <a:gd name="connsiteX33" fmla="*/ 2319618 w 2763413"/>
              <a:gd name="connsiteY33" fmla="*/ 1781735 h 1788459"/>
              <a:gd name="connsiteX34" fmla="*/ 2400300 w 2763413"/>
              <a:gd name="connsiteY34" fmla="*/ 1761565 h 1788459"/>
              <a:gd name="connsiteX35" fmla="*/ 2460812 w 2763413"/>
              <a:gd name="connsiteY35" fmla="*/ 1721224 h 1788459"/>
              <a:gd name="connsiteX36" fmla="*/ 2548218 w 2763413"/>
              <a:gd name="connsiteY36" fmla="*/ 1633818 h 1788459"/>
              <a:gd name="connsiteX37" fmla="*/ 2615453 w 2763413"/>
              <a:gd name="connsiteY37" fmla="*/ 1485900 h 1788459"/>
              <a:gd name="connsiteX38" fmla="*/ 2642347 w 2763413"/>
              <a:gd name="connsiteY38" fmla="*/ 1331259 h 1788459"/>
              <a:gd name="connsiteX39" fmla="*/ 2709583 w 2763413"/>
              <a:gd name="connsiteY39" fmla="*/ 1116106 h 1788459"/>
              <a:gd name="connsiteX40" fmla="*/ 2749924 w 2763413"/>
              <a:gd name="connsiteY40" fmla="*/ 907677 h 1788459"/>
              <a:gd name="connsiteX41" fmla="*/ 2756647 w 2763413"/>
              <a:gd name="connsiteY41" fmla="*/ 726141 h 1788459"/>
              <a:gd name="connsiteX42" fmla="*/ 2763371 w 2763413"/>
              <a:gd name="connsiteY42" fmla="*/ 652182 h 1788459"/>
              <a:gd name="connsiteX43" fmla="*/ 2749924 w 2763413"/>
              <a:gd name="connsiteY43" fmla="*/ 450477 h 1788459"/>
              <a:gd name="connsiteX44" fmla="*/ 2736477 w 2763413"/>
              <a:gd name="connsiteY44" fmla="*/ 423582 h 1788459"/>
              <a:gd name="connsiteX45" fmla="*/ 2689412 w 2763413"/>
              <a:gd name="connsiteY45" fmla="*/ 316006 h 1788459"/>
              <a:gd name="connsiteX46" fmla="*/ 2622177 w 2763413"/>
              <a:gd name="connsiteY46" fmla="*/ 208430 h 1788459"/>
              <a:gd name="connsiteX47" fmla="*/ 2534771 w 2763413"/>
              <a:gd name="connsiteY47" fmla="*/ 107577 h 1788459"/>
              <a:gd name="connsiteX48" fmla="*/ 2487706 w 2763413"/>
              <a:gd name="connsiteY48" fmla="*/ 87406 h 1788459"/>
              <a:gd name="connsiteX49" fmla="*/ 2292724 w 2763413"/>
              <a:gd name="connsiteY49" fmla="*/ 13447 h 1788459"/>
              <a:gd name="connsiteX50" fmla="*/ 2124636 w 2763413"/>
              <a:gd name="connsiteY50" fmla="*/ 0 h 1788459"/>
              <a:gd name="connsiteX51" fmla="*/ 2023783 w 2763413"/>
              <a:gd name="connsiteY51" fmla="*/ 6724 h 1788459"/>
              <a:gd name="connsiteX52" fmla="*/ 1943100 w 2763413"/>
              <a:gd name="connsiteY52" fmla="*/ 20171 h 1788459"/>
              <a:gd name="connsiteX53" fmla="*/ 1835524 w 2763413"/>
              <a:gd name="connsiteY53" fmla="*/ 26894 h 1788459"/>
              <a:gd name="connsiteX54" fmla="*/ 1761565 w 2763413"/>
              <a:gd name="connsiteY54" fmla="*/ 40341 h 1788459"/>
              <a:gd name="connsiteX55" fmla="*/ 1566583 w 2763413"/>
              <a:gd name="connsiteY55" fmla="*/ 47065 h 1788459"/>
              <a:gd name="connsiteX56" fmla="*/ 1459006 w 2763413"/>
              <a:gd name="connsiteY56" fmla="*/ 53788 h 1788459"/>
              <a:gd name="connsiteX57" fmla="*/ 1257300 w 2763413"/>
              <a:gd name="connsiteY57" fmla="*/ 94130 h 1788459"/>
              <a:gd name="connsiteX58" fmla="*/ 1116106 w 2763413"/>
              <a:gd name="connsiteY58" fmla="*/ 121024 h 1788459"/>
              <a:gd name="connsiteX59" fmla="*/ 1089212 w 2763413"/>
              <a:gd name="connsiteY59" fmla="*/ 127747 h 1788459"/>
              <a:gd name="connsiteX60" fmla="*/ 1015253 w 2763413"/>
              <a:gd name="connsiteY60" fmla="*/ 154641 h 1788459"/>
              <a:gd name="connsiteX61" fmla="*/ 954742 w 2763413"/>
              <a:gd name="connsiteY61" fmla="*/ 168088 h 1788459"/>
              <a:gd name="connsiteX62" fmla="*/ 934571 w 2763413"/>
              <a:gd name="connsiteY62" fmla="*/ 174812 h 1788459"/>
              <a:gd name="connsiteX63" fmla="*/ 914400 w 2763413"/>
              <a:gd name="connsiteY63" fmla="*/ 188259 h 1788459"/>
              <a:gd name="connsiteX64" fmla="*/ 887506 w 2763413"/>
              <a:gd name="connsiteY64" fmla="*/ 194982 h 1788459"/>
              <a:gd name="connsiteX65" fmla="*/ 847165 w 2763413"/>
              <a:gd name="connsiteY65" fmla="*/ 208430 h 1788459"/>
              <a:gd name="connsiteX66" fmla="*/ 820271 w 2763413"/>
              <a:gd name="connsiteY66" fmla="*/ 221877 h 1788459"/>
              <a:gd name="connsiteX67" fmla="*/ 786653 w 2763413"/>
              <a:gd name="connsiteY67" fmla="*/ 228600 h 1788459"/>
              <a:gd name="connsiteX68" fmla="*/ 759759 w 2763413"/>
              <a:gd name="connsiteY68" fmla="*/ 235324 h 1788459"/>
              <a:gd name="connsiteX69" fmla="*/ 712694 w 2763413"/>
              <a:gd name="connsiteY69" fmla="*/ 248771 h 1788459"/>
              <a:gd name="connsiteX70" fmla="*/ 632012 w 2763413"/>
              <a:gd name="connsiteY70" fmla="*/ 262218 h 1788459"/>
              <a:gd name="connsiteX71" fmla="*/ 423583 w 2763413"/>
              <a:gd name="connsiteY71" fmla="*/ 255494 h 1788459"/>
              <a:gd name="connsiteX72" fmla="*/ 363071 w 2763413"/>
              <a:gd name="connsiteY72" fmla="*/ 248771 h 1788459"/>
              <a:gd name="connsiteX73" fmla="*/ 73959 w 2763413"/>
              <a:gd name="connsiteY73" fmla="*/ 255494 h 1788459"/>
              <a:gd name="connsiteX74" fmla="*/ 20171 w 2763413"/>
              <a:gd name="connsiteY74" fmla="*/ 329453 h 1788459"/>
              <a:gd name="connsiteX75" fmla="*/ 0 w 2763413"/>
              <a:gd name="connsiteY75" fmla="*/ 389965 h 1788459"/>
              <a:gd name="connsiteX76" fmla="*/ 6724 w 2763413"/>
              <a:gd name="connsiteY76" fmla="*/ 416859 h 1788459"/>
              <a:gd name="connsiteX77" fmla="*/ 20171 w 2763413"/>
              <a:gd name="connsiteY77" fmla="*/ 477371 h 1788459"/>
              <a:gd name="connsiteX78" fmla="*/ 26894 w 2763413"/>
              <a:gd name="connsiteY78" fmla="*/ 497541 h 1788459"/>
              <a:gd name="connsiteX79" fmla="*/ 94130 w 2763413"/>
              <a:gd name="connsiteY79" fmla="*/ 551330 h 1788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2763413" h="1788459">
                <a:moveTo>
                  <a:pt x="94130" y="551330"/>
                </a:moveTo>
                <a:cubicBezTo>
                  <a:pt x="110939" y="565898"/>
                  <a:pt x="114764" y="575859"/>
                  <a:pt x="127747" y="584947"/>
                </a:cubicBezTo>
                <a:cubicBezTo>
                  <a:pt x="144273" y="596515"/>
                  <a:pt x="183063" y="604251"/>
                  <a:pt x="201706" y="605118"/>
                </a:cubicBezTo>
                <a:cubicBezTo>
                  <a:pt x="284570" y="608972"/>
                  <a:pt x="367553" y="609600"/>
                  <a:pt x="450477" y="611841"/>
                </a:cubicBezTo>
                <a:cubicBezTo>
                  <a:pt x="501184" y="628745"/>
                  <a:pt x="438672" y="605940"/>
                  <a:pt x="490818" y="632012"/>
                </a:cubicBezTo>
                <a:cubicBezTo>
                  <a:pt x="497157" y="635181"/>
                  <a:pt x="504265" y="636494"/>
                  <a:pt x="510989" y="638735"/>
                </a:cubicBezTo>
                <a:cubicBezTo>
                  <a:pt x="532005" y="652746"/>
                  <a:pt x="540448" y="658837"/>
                  <a:pt x="564777" y="672353"/>
                </a:cubicBezTo>
                <a:cubicBezTo>
                  <a:pt x="573538" y="677221"/>
                  <a:pt x="582706" y="681318"/>
                  <a:pt x="591671" y="685800"/>
                </a:cubicBezTo>
                <a:cubicBezTo>
                  <a:pt x="598395" y="694765"/>
                  <a:pt x="606830" y="702671"/>
                  <a:pt x="611842" y="712694"/>
                </a:cubicBezTo>
                <a:cubicBezTo>
                  <a:pt x="618181" y="725372"/>
                  <a:pt x="625289" y="753035"/>
                  <a:pt x="625289" y="753035"/>
                </a:cubicBezTo>
                <a:cubicBezTo>
                  <a:pt x="639819" y="840224"/>
                  <a:pt x="635156" y="795072"/>
                  <a:pt x="625289" y="948018"/>
                </a:cubicBezTo>
                <a:cubicBezTo>
                  <a:pt x="624126" y="966049"/>
                  <a:pt x="621536" y="983983"/>
                  <a:pt x="618565" y="1001806"/>
                </a:cubicBezTo>
                <a:cubicBezTo>
                  <a:pt x="615177" y="1022136"/>
                  <a:pt x="604376" y="1051096"/>
                  <a:pt x="598394" y="1069041"/>
                </a:cubicBezTo>
                <a:cubicBezTo>
                  <a:pt x="595021" y="1089279"/>
                  <a:pt x="586676" y="1137428"/>
                  <a:pt x="584947" y="1156447"/>
                </a:cubicBezTo>
                <a:cubicBezTo>
                  <a:pt x="581897" y="1190001"/>
                  <a:pt x="581418" y="1223759"/>
                  <a:pt x="578224" y="1257300"/>
                </a:cubicBezTo>
                <a:cubicBezTo>
                  <a:pt x="576932" y="1270871"/>
                  <a:pt x="573191" y="1284114"/>
                  <a:pt x="571500" y="1297641"/>
                </a:cubicBezTo>
                <a:cubicBezTo>
                  <a:pt x="568706" y="1319991"/>
                  <a:pt x="567264" y="1342491"/>
                  <a:pt x="564777" y="1364877"/>
                </a:cubicBezTo>
                <a:cubicBezTo>
                  <a:pt x="561683" y="1392719"/>
                  <a:pt x="555700" y="1437326"/>
                  <a:pt x="551330" y="1465730"/>
                </a:cubicBezTo>
                <a:cubicBezTo>
                  <a:pt x="549257" y="1479204"/>
                  <a:pt x="548523" y="1493013"/>
                  <a:pt x="544606" y="1506071"/>
                </a:cubicBezTo>
                <a:cubicBezTo>
                  <a:pt x="541726" y="1515671"/>
                  <a:pt x="535641" y="1524000"/>
                  <a:pt x="531159" y="1532965"/>
                </a:cubicBezTo>
                <a:cubicBezTo>
                  <a:pt x="528918" y="1541930"/>
                  <a:pt x="526441" y="1550839"/>
                  <a:pt x="524436" y="1559859"/>
                </a:cubicBezTo>
                <a:cubicBezTo>
                  <a:pt x="511587" y="1617680"/>
                  <a:pt x="521446" y="1588245"/>
                  <a:pt x="504265" y="1674159"/>
                </a:cubicBezTo>
                <a:lnTo>
                  <a:pt x="497542" y="1707777"/>
                </a:lnTo>
                <a:cubicBezTo>
                  <a:pt x="506507" y="1725706"/>
                  <a:pt x="511118" y="1746583"/>
                  <a:pt x="524436" y="1761565"/>
                </a:cubicBezTo>
                <a:cubicBezTo>
                  <a:pt x="530575" y="1768471"/>
                  <a:pt x="542269" y="1766476"/>
                  <a:pt x="551330" y="1768288"/>
                </a:cubicBezTo>
                <a:cubicBezTo>
                  <a:pt x="564698" y="1770962"/>
                  <a:pt x="578086" y="1773880"/>
                  <a:pt x="591671" y="1775012"/>
                </a:cubicBezTo>
                <a:cubicBezTo>
                  <a:pt x="631935" y="1778367"/>
                  <a:pt x="672353" y="1779494"/>
                  <a:pt x="712694" y="1781735"/>
                </a:cubicBezTo>
                <a:lnTo>
                  <a:pt x="1055594" y="1775012"/>
                </a:lnTo>
                <a:cubicBezTo>
                  <a:pt x="1125086" y="1773317"/>
                  <a:pt x="1194511" y="1768288"/>
                  <a:pt x="1264024" y="1768288"/>
                </a:cubicBezTo>
                <a:cubicBezTo>
                  <a:pt x="1322338" y="1768288"/>
                  <a:pt x="1380565" y="1772771"/>
                  <a:pt x="1438836" y="1775012"/>
                </a:cubicBezTo>
                <a:cubicBezTo>
                  <a:pt x="1659246" y="1799500"/>
                  <a:pt x="1415858" y="1775012"/>
                  <a:pt x="1956547" y="1775012"/>
                </a:cubicBezTo>
                <a:cubicBezTo>
                  <a:pt x="1976842" y="1775012"/>
                  <a:pt x="1996829" y="1780117"/>
                  <a:pt x="2017059" y="1781735"/>
                </a:cubicBezTo>
                <a:cubicBezTo>
                  <a:pt x="2052874" y="1784600"/>
                  <a:pt x="2088777" y="1786218"/>
                  <a:pt x="2124636" y="1788459"/>
                </a:cubicBezTo>
                <a:cubicBezTo>
                  <a:pt x="2189630" y="1786218"/>
                  <a:pt x="2254893" y="1788050"/>
                  <a:pt x="2319618" y="1781735"/>
                </a:cubicBezTo>
                <a:cubicBezTo>
                  <a:pt x="2347209" y="1779043"/>
                  <a:pt x="2400300" y="1761565"/>
                  <a:pt x="2400300" y="1761565"/>
                </a:cubicBezTo>
                <a:cubicBezTo>
                  <a:pt x="2420471" y="1748118"/>
                  <a:pt x="2441418" y="1735769"/>
                  <a:pt x="2460812" y="1721224"/>
                </a:cubicBezTo>
                <a:cubicBezTo>
                  <a:pt x="2492042" y="1697802"/>
                  <a:pt x="2525952" y="1666204"/>
                  <a:pt x="2548218" y="1633818"/>
                </a:cubicBezTo>
                <a:cubicBezTo>
                  <a:pt x="2582286" y="1584265"/>
                  <a:pt x="2593453" y="1543101"/>
                  <a:pt x="2615453" y="1485900"/>
                </a:cubicBezTo>
                <a:cubicBezTo>
                  <a:pt x="2624418" y="1434353"/>
                  <a:pt x="2625063" y="1380642"/>
                  <a:pt x="2642347" y="1331259"/>
                </a:cubicBezTo>
                <a:cubicBezTo>
                  <a:pt x="2676584" y="1233439"/>
                  <a:pt x="2690728" y="1206191"/>
                  <a:pt x="2709583" y="1116106"/>
                </a:cubicBezTo>
                <a:cubicBezTo>
                  <a:pt x="2724080" y="1046841"/>
                  <a:pt x="2749924" y="907677"/>
                  <a:pt x="2749924" y="907677"/>
                </a:cubicBezTo>
                <a:cubicBezTo>
                  <a:pt x="2752165" y="847165"/>
                  <a:pt x="2753464" y="786611"/>
                  <a:pt x="2756647" y="726141"/>
                </a:cubicBezTo>
                <a:cubicBezTo>
                  <a:pt x="2757948" y="701421"/>
                  <a:pt x="2763975" y="676929"/>
                  <a:pt x="2763371" y="652182"/>
                </a:cubicBezTo>
                <a:cubicBezTo>
                  <a:pt x="2761728" y="584818"/>
                  <a:pt x="2757797" y="517400"/>
                  <a:pt x="2749924" y="450477"/>
                </a:cubicBezTo>
                <a:cubicBezTo>
                  <a:pt x="2748753" y="440523"/>
                  <a:pt x="2740548" y="432741"/>
                  <a:pt x="2736477" y="423582"/>
                </a:cubicBezTo>
                <a:cubicBezTo>
                  <a:pt x="2715213" y="375737"/>
                  <a:pt x="2722997" y="376459"/>
                  <a:pt x="2689412" y="316006"/>
                </a:cubicBezTo>
                <a:cubicBezTo>
                  <a:pt x="2668876" y="279041"/>
                  <a:pt x="2644879" y="244105"/>
                  <a:pt x="2622177" y="208430"/>
                </a:cubicBezTo>
                <a:cubicBezTo>
                  <a:pt x="2602508" y="177521"/>
                  <a:pt x="2566032" y="120975"/>
                  <a:pt x="2534771" y="107577"/>
                </a:cubicBezTo>
                <a:cubicBezTo>
                  <a:pt x="2519083" y="100853"/>
                  <a:pt x="2503150" y="94674"/>
                  <a:pt x="2487706" y="87406"/>
                </a:cubicBezTo>
                <a:cubicBezTo>
                  <a:pt x="2411910" y="51737"/>
                  <a:pt x="2388443" y="29399"/>
                  <a:pt x="2292724" y="13447"/>
                </a:cubicBezTo>
                <a:cubicBezTo>
                  <a:pt x="2210322" y="-286"/>
                  <a:pt x="2265997" y="7441"/>
                  <a:pt x="2124636" y="0"/>
                </a:cubicBezTo>
                <a:cubicBezTo>
                  <a:pt x="2091018" y="2241"/>
                  <a:pt x="2057269" y="3003"/>
                  <a:pt x="2023783" y="6724"/>
                </a:cubicBezTo>
                <a:cubicBezTo>
                  <a:pt x="1996684" y="9735"/>
                  <a:pt x="1970210" y="17266"/>
                  <a:pt x="1943100" y="20171"/>
                </a:cubicBezTo>
                <a:cubicBezTo>
                  <a:pt x="1907376" y="23998"/>
                  <a:pt x="1871383" y="24653"/>
                  <a:pt x="1835524" y="26894"/>
                </a:cubicBezTo>
                <a:cubicBezTo>
                  <a:pt x="1810871" y="31376"/>
                  <a:pt x="1786552" y="38467"/>
                  <a:pt x="1761565" y="40341"/>
                </a:cubicBezTo>
                <a:cubicBezTo>
                  <a:pt x="1696715" y="45205"/>
                  <a:pt x="1631552" y="44178"/>
                  <a:pt x="1566583" y="47065"/>
                </a:cubicBezTo>
                <a:cubicBezTo>
                  <a:pt x="1530689" y="48660"/>
                  <a:pt x="1494865" y="51547"/>
                  <a:pt x="1459006" y="53788"/>
                </a:cubicBezTo>
                <a:cubicBezTo>
                  <a:pt x="1291480" y="84247"/>
                  <a:pt x="1497708" y="46047"/>
                  <a:pt x="1257300" y="94130"/>
                </a:cubicBezTo>
                <a:cubicBezTo>
                  <a:pt x="1226423" y="100305"/>
                  <a:pt x="1148103" y="113025"/>
                  <a:pt x="1116106" y="121024"/>
                </a:cubicBezTo>
                <a:cubicBezTo>
                  <a:pt x="1107141" y="123265"/>
                  <a:pt x="1097978" y="124825"/>
                  <a:pt x="1089212" y="127747"/>
                </a:cubicBezTo>
                <a:cubicBezTo>
                  <a:pt x="1039749" y="144234"/>
                  <a:pt x="1070197" y="139989"/>
                  <a:pt x="1015253" y="154641"/>
                </a:cubicBezTo>
                <a:cubicBezTo>
                  <a:pt x="995288" y="159965"/>
                  <a:pt x="974787" y="163077"/>
                  <a:pt x="954742" y="168088"/>
                </a:cubicBezTo>
                <a:cubicBezTo>
                  <a:pt x="947866" y="169807"/>
                  <a:pt x="940910" y="171642"/>
                  <a:pt x="934571" y="174812"/>
                </a:cubicBezTo>
                <a:cubicBezTo>
                  <a:pt x="927343" y="178426"/>
                  <a:pt x="921827" y="185076"/>
                  <a:pt x="914400" y="188259"/>
                </a:cubicBezTo>
                <a:cubicBezTo>
                  <a:pt x="905907" y="191899"/>
                  <a:pt x="896357" y="192327"/>
                  <a:pt x="887506" y="194982"/>
                </a:cubicBezTo>
                <a:cubicBezTo>
                  <a:pt x="873929" y="199055"/>
                  <a:pt x="860326" y="203166"/>
                  <a:pt x="847165" y="208430"/>
                </a:cubicBezTo>
                <a:cubicBezTo>
                  <a:pt x="837859" y="212152"/>
                  <a:pt x="829779" y="218708"/>
                  <a:pt x="820271" y="221877"/>
                </a:cubicBezTo>
                <a:cubicBezTo>
                  <a:pt x="809430" y="225491"/>
                  <a:pt x="797809" y="226121"/>
                  <a:pt x="786653" y="228600"/>
                </a:cubicBezTo>
                <a:cubicBezTo>
                  <a:pt x="777632" y="230605"/>
                  <a:pt x="768674" y="232893"/>
                  <a:pt x="759759" y="235324"/>
                </a:cubicBezTo>
                <a:cubicBezTo>
                  <a:pt x="744018" y="239617"/>
                  <a:pt x="728523" y="244814"/>
                  <a:pt x="712694" y="248771"/>
                </a:cubicBezTo>
                <a:cubicBezTo>
                  <a:pt x="686483" y="255324"/>
                  <a:pt x="658569" y="258424"/>
                  <a:pt x="632012" y="262218"/>
                </a:cubicBezTo>
                <a:lnTo>
                  <a:pt x="423583" y="255494"/>
                </a:lnTo>
                <a:cubicBezTo>
                  <a:pt x="403314" y="254481"/>
                  <a:pt x="383366" y="248771"/>
                  <a:pt x="363071" y="248771"/>
                </a:cubicBezTo>
                <a:cubicBezTo>
                  <a:pt x="266674" y="248771"/>
                  <a:pt x="170330" y="253253"/>
                  <a:pt x="73959" y="255494"/>
                </a:cubicBezTo>
                <a:cubicBezTo>
                  <a:pt x="33920" y="268842"/>
                  <a:pt x="43163" y="260478"/>
                  <a:pt x="20171" y="329453"/>
                </a:cubicBezTo>
                <a:lnTo>
                  <a:pt x="0" y="389965"/>
                </a:lnTo>
                <a:cubicBezTo>
                  <a:pt x="2241" y="398930"/>
                  <a:pt x="4719" y="407838"/>
                  <a:pt x="6724" y="416859"/>
                </a:cubicBezTo>
                <a:cubicBezTo>
                  <a:pt x="13662" y="448078"/>
                  <a:pt x="11967" y="448657"/>
                  <a:pt x="20171" y="477371"/>
                </a:cubicBezTo>
                <a:cubicBezTo>
                  <a:pt x="22118" y="484185"/>
                  <a:pt x="22642" y="491871"/>
                  <a:pt x="26894" y="497541"/>
                </a:cubicBezTo>
                <a:cubicBezTo>
                  <a:pt x="62097" y="544478"/>
                  <a:pt x="77321" y="536762"/>
                  <a:pt x="94130" y="551330"/>
                </a:cubicBezTo>
                <a:close/>
              </a:path>
            </a:pathLst>
          </a:custGeom>
          <a:noFill/>
          <a:ln w="28575">
            <a:solidFill>
              <a:srgbClr val="3333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A8E62B20-AC74-40EA-BEB6-F33A87086FA1}"/>
              </a:ext>
            </a:extLst>
          </p:cNvPr>
          <p:cNvCxnSpPr/>
          <p:nvPr/>
        </p:nvCxnSpPr>
        <p:spPr>
          <a:xfrm>
            <a:off x="2965076" y="6078071"/>
            <a:ext cx="551330" cy="14791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CD52C97E-188A-48FA-A6F2-D36A7C5E69E3}"/>
              </a:ext>
            </a:extLst>
          </p:cNvPr>
          <p:cNvCxnSpPr/>
          <p:nvPr/>
        </p:nvCxnSpPr>
        <p:spPr>
          <a:xfrm>
            <a:off x="3449171" y="4255994"/>
            <a:ext cx="497541" cy="31600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3820E8A6-C825-46AA-ADD7-95E857EACD45}"/>
              </a:ext>
            </a:extLst>
          </p:cNvPr>
          <p:cNvCxnSpPr/>
          <p:nvPr/>
        </p:nvCxnSpPr>
        <p:spPr>
          <a:xfrm flipH="1">
            <a:off x="8485094" y="2669241"/>
            <a:ext cx="504265" cy="38324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098B09F4-46D5-45C9-9595-D867F22098A2}"/>
              </a:ext>
            </a:extLst>
          </p:cNvPr>
          <p:cNvCxnSpPr>
            <a:cxnSpLocks/>
          </p:cNvCxnSpPr>
          <p:nvPr/>
        </p:nvCxnSpPr>
        <p:spPr>
          <a:xfrm>
            <a:off x="6420971" y="4255994"/>
            <a:ext cx="571500" cy="11289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84B092F-84FB-4830-9CA3-2665F971F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35D8A-7637-45D2-A8F8-6D8D3D04E052}" type="datetime1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7932EB1-3892-4EB2-A93C-7A0B69D7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00FC-685B-4B17-90E8-D67F5DCF7935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697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0EEFCEBC-16C9-47DE-B6B2-CBBD647E30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Linear Regression</a:t>
            </a:r>
            <a:endParaRPr lang="zh-TW" altLang="en-US"/>
          </a:p>
        </p:txBody>
      </p:sp>
      <p:sp>
        <p:nvSpPr>
          <p:cNvPr id="7" name="副標題 6">
            <a:extLst>
              <a:ext uri="{FF2B5EF4-FFF2-40B4-BE49-F238E27FC236}">
                <a16:creationId xmlns:a16="http://schemas.microsoft.com/office/drawing/2014/main" id="{1DA2B803-C9C9-45B4-9D71-F66E668C10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/>
              <a:t>線性規劃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88DFDB6-D2C3-4A4C-9467-D5DA2CDC9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B3AD3-9ECB-487B-A999-39184535F882}" type="datetime1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C28B13E-F561-4D36-A6E8-97C5BB4EE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00FC-685B-4B17-90E8-D67F5DCF7935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5697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F53997B9-54B3-4596-AC3D-598575B23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線性回歸分析 </a:t>
            </a:r>
            <a:r>
              <a:rPr lang="en-US" altLang="zh-TW"/>
              <a:t>(Regression Analysis)</a:t>
            </a:r>
            <a:endParaRPr lang="zh-TW" altLang="en-US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A199EFE-9355-4E34-B14A-22305A27A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0" lang="zh-TW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fkGroteskNeue"/>
              </a:rPr>
              <a:t>一種用於了解不同變數之間關係的統計方法。目的是建立一個數學模型，以便預測</a:t>
            </a:r>
            <a:r>
              <a:rPr lang="zh-TW" altLang="en-US" sz="2400">
                <a:latin typeface="Arial" panose="020B0604020202020204" pitchFamily="34" charset="0"/>
                <a:ea typeface="fkGroteskNeue"/>
              </a:rPr>
              <a:t>應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fkGroteskNeue"/>
              </a:rPr>
              <a:t>變數</a:t>
            </a:r>
            <a:r>
              <a:rPr kumimoji="0" lang="zh-TW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fkGroteskNeue"/>
              </a:rPr>
              <a:t>（</a:t>
            </a:r>
            <a:r>
              <a:rPr kumimoji="0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fkGroteskNeue"/>
              </a:rPr>
              <a:t>dependent variable</a:t>
            </a:r>
            <a:r>
              <a:rPr kumimoji="0" lang="zh-TW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fkGroteskNeue"/>
              </a:rPr>
              <a:t>）的變化，基於一些</a:t>
            </a:r>
            <a:r>
              <a:rPr kumimoji="0" lang="zh-TW" altLang="zh-TW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fkGroteskNeue"/>
              </a:rPr>
              <a:t>獨立變數</a:t>
            </a:r>
            <a:r>
              <a:rPr kumimoji="0" lang="zh-TW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fkGroteskNeue"/>
              </a:rPr>
              <a:t>（</a:t>
            </a:r>
            <a:r>
              <a:rPr kumimoji="0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fkGroteskNeue"/>
              </a:rPr>
              <a:t>independent</a:t>
            </a:r>
            <a:r>
              <a:rPr kumimoji="0" lang="zh-TW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fkGroteskNeue"/>
              </a:rPr>
              <a:t> </a:t>
            </a:r>
            <a:r>
              <a:rPr kumimoji="0" lang="en-US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fkGroteskNeue"/>
              </a:rPr>
              <a:t>variable</a:t>
            </a:r>
            <a:r>
              <a:rPr kumimoji="0" lang="zh-TW" altLang="zh-TW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fkGroteskNeue"/>
              </a:rPr>
              <a:t>）的變化</a:t>
            </a:r>
            <a:endParaRPr kumimoji="0" lang="en-US" altLang="zh-TW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fkGroteskNeue"/>
            </a:endParaRPr>
          </a:p>
          <a:p>
            <a:r>
              <a:rPr kumimoji="0" lang="zh-TW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類型</a:t>
            </a:r>
            <a:endParaRPr kumimoji="0" lang="en-US" altLang="zh-TW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/>
            <a:r>
              <a:rPr kumimoji="0" lang="zh-TW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簡單</a:t>
            </a:r>
            <a:r>
              <a:rPr lang="zh-TW" altLang="en-US" sz="2400"/>
              <a:t>線性回歸：使用一個「獨立變數」來預測「應變數」</a:t>
            </a:r>
            <a:endParaRPr lang="en-US" altLang="zh-TW" sz="2400"/>
          </a:p>
          <a:p>
            <a:pPr lvl="1"/>
            <a:r>
              <a:rPr kumimoji="0" lang="zh-TW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多變數</a:t>
            </a:r>
            <a:r>
              <a:rPr lang="zh-TW" altLang="en-US" sz="2400"/>
              <a:t>線性回歸：使用多個「獨立變數」來預測「應變數」</a:t>
            </a:r>
            <a:endParaRPr lang="en-US" altLang="zh-TW" sz="2400"/>
          </a:p>
          <a:p>
            <a:pPr lvl="1"/>
            <a:r>
              <a:rPr kumimoji="0" lang="zh-TW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非線性回歸：獨立變數間的關係為「非線性」</a:t>
            </a:r>
            <a:endParaRPr kumimoji="0" lang="en-US" altLang="zh-TW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zh-TW" altLang="en-US">
                <a:latin typeface="Arial" panose="020B0604020202020204" pitchFamily="34" charset="0"/>
              </a:rPr>
              <a:t>應用</a:t>
            </a:r>
            <a:endParaRPr lang="en-US" altLang="zh-TW">
              <a:latin typeface="Arial" panose="020B0604020202020204" pitchFamily="34" charset="0"/>
            </a:endParaRPr>
          </a:p>
          <a:p>
            <a:pPr lvl="1"/>
            <a:r>
              <a:rPr lang="zh-TW" altLang="en-US" sz="2400" b="0" i="0">
                <a:effectLst/>
                <a:latin typeface="fkGroteskNeue"/>
              </a:rPr>
              <a:t>預測股票價格、</a:t>
            </a:r>
            <a:r>
              <a:rPr lang="zh-TW" altLang="en-US" sz="2400" b="0" i="0">
                <a:effectLst/>
                <a:latin typeface="Arial" panose="020B0604020202020204" pitchFamily="34" charset="0"/>
              </a:rPr>
              <a:t>房價 </a:t>
            </a:r>
            <a:r>
              <a:rPr lang="en-US" altLang="zh-TW" sz="2400">
                <a:latin typeface="Arial" panose="020B0604020202020204" pitchFamily="34" charset="0"/>
              </a:rPr>
              <a:t>…</a:t>
            </a:r>
          </a:p>
          <a:p>
            <a:pPr lvl="1"/>
            <a:r>
              <a:rPr kumimoji="0" lang="zh-TW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研究疾病和風險因素之間關係</a:t>
            </a:r>
            <a:endParaRPr kumimoji="0" lang="en-US" altLang="zh-TW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/>
            <a:r>
              <a:rPr lang="zh-TW" altLang="en-US" sz="2400">
                <a:latin typeface="Arial" panose="020B0604020202020204" pitchFamily="34" charset="0"/>
              </a:rPr>
              <a:t>在機器學習應用中用於預測及分類問題</a:t>
            </a:r>
            <a:endParaRPr kumimoji="0" lang="zh-TW" altLang="zh-TW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zh-TW" altLang="en-US" sz="2400"/>
          </a:p>
        </p:txBody>
      </p:sp>
    </p:spTree>
    <p:extLst>
      <p:ext uri="{BB962C8B-B14F-4D97-AF65-F5344CB8AC3E}">
        <p14:creationId xmlns:p14="http://schemas.microsoft.com/office/powerpoint/2010/main" val="2493011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8E25E4-5B12-4A00-868F-EED7419A7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線性規劃 </a:t>
            </a:r>
            <a:r>
              <a:rPr lang="en-US" altLang="zh-TW"/>
              <a:t>(Linear regression)</a:t>
            </a:r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9520AA56-8150-411F-B9B1-A1BA35D943F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4530725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altLang="zh-TW" sz="2800" b="1"/>
                  <a:t>Simple linear regression (</a:t>
                </a:r>
                <a:r>
                  <a:rPr lang="zh-TW" altLang="en-US" sz="2800" b="1"/>
                  <a:t>單變數</a:t>
                </a:r>
                <a:r>
                  <a:rPr lang="en-US" altLang="zh-TW" sz="2800" b="1"/>
                  <a:t>)</a:t>
                </a:r>
              </a:p>
              <a:p>
                <a:pPr marL="0" indent="0" algn="ctr">
                  <a:lnSpc>
                    <a:spcPct val="100000"/>
                  </a:lnSpc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altLang="zh-TW" sz="2800"/>
                  <a:t>y = ax+b</a:t>
                </a:r>
              </a:p>
              <a:p>
                <a:pPr lvl="1"/>
                <a:r>
                  <a:rPr lang="en-US" altLang="zh-TW" sz="2400"/>
                  <a:t>y : </a:t>
                </a:r>
                <a:r>
                  <a:rPr lang="zh-TW" altLang="en-US" sz="2400"/>
                  <a:t>目標值</a:t>
                </a:r>
                <a:r>
                  <a:rPr lang="en-US" altLang="zh-TW" sz="2400"/>
                  <a:t>, x : </a:t>
                </a:r>
                <a:r>
                  <a:rPr lang="zh-TW" altLang="en-US" sz="2400"/>
                  <a:t>單一特徵值</a:t>
                </a:r>
                <a:endParaRPr lang="en-US" altLang="zh-TW" sz="2400"/>
              </a:p>
              <a:p>
                <a:pPr lvl="1"/>
                <a:r>
                  <a:rPr lang="en-US" altLang="zh-TW" sz="2400"/>
                  <a:t>a</a:t>
                </a:r>
                <a:r>
                  <a:rPr lang="zh-TW" altLang="en-US" sz="2400"/>
                  <a:t> 斜率</a:t>
                </a:r>
                <a:r>
                  <a:rPr lang="en-US" altLang="zh-TW" sz="2400"/>
                  <a:t>, b </a:t>
                </a:r>
                <a:r>
                  <a:rPr lang="zh-TW" altLang="en-US" sz="2400"/>
                  <a:t>截距</a:t>
                </a:r>
                <a:r>
                  <a:rPr lang="en-US" altLang="zh-TW" sz="2400"/>
                  <a:t> :</a:t>
                </a:r>
                <a:r>
                  <a:rPr lang="zh-TW" altLang="en-US" sz="2400"/>
                  <a:t> 模型參數</a:t>
                </a:r>
                <a:endParaRPr lang="en-US" altLang="zh-TW" sz="2400"/>
              </a:p>
              <a:p>
                <a:r>
                  <a:rPr lang="zh-TW" altLang="en-US" b="1" i="0">
                    <a:solidFill>
                      <a:srgbClr val="202122"/>
                    </a:solidFill>
                    <a:effectLst/>
                    <a:latin typeface="Arial" panose="020B0604020202020204" pitchFamily="34" charset="0"/>
                  </a:rPr>
                  <a:t>普通最小平方法</a:t>
                </a:r>
                <a:r>
                  <a:rPr lang="en-US" altLang="zh-TW" b="1" i="0">
                    <a:solidFill>
                      <a:srgbClr val="202122"/>
                    </a:solidFill>
                    <a:effectLst/>
                    <a:latin typeface="Arial" panose="020B0604020202020204" pitchFamily="34" charset="0"/>
                  </a:rPr>
                  <a:t>(</a:t>
                </a:r>
                <a:r>
                  <a:rPr lang="en-US" altLang="zh-TW">
                    <a:solidFill>
                      <a:schemeClr val="tx1"/>
                    </a:solidFill>
                  </a:rPr>
                  <a:t>Ordinary least squares, OLS) </a:t>
                </a:r>
              </a:p>
              <a:p>
                <a:pPr lvl="1"/>
                <a:r>
                  <a:rPr lang="zh-TW" altLang="en-US">
                    <a:solidFill>
                      <a:schemeClr val="tx1"/>
                    </a:solidFill>
                  </a:rPr>
                  <a:t>依據殘差平方和計算</a:t>
                </a:r>
                <a:r>
                  <a:rPr lang="en-US" altLang="zh-TW">
                    <a:solidFill>
                      <a:schemeClr val="tx1"/>
                    </a:solidFill>
                  </a:rPr>
                  <a:t>(</a:t>
                </a:r>
                <a:r>
                  <a:rPr lang="en-US" altLang="zh-TW"/>
                  <a:t>Residuals</a:t>
                </a:r>
                <a:r>
                  <a:rPr lang="zh-TW" altLang="en-US"/>
                  <a:t> </a:t>
                </a:r>
                <a:r>
                  <a:rPr lang="en-US" altLang="zh-TW"/>
                  <a:t>sum of squares, RSS</a:t>
                </a:r>
                <a:r>
                  <a:rPr lang="en-US" altLang="zh-TW">
                    <a:solidFill>
                      <a:schemeClr val="tx1"/>
                    </a:solidFill>
                  </a:rPr>
                  <a:t>)</a:t>
                </a:r>
                <a:r>
                  <a:rPr lang="zh-TW" altLang="en-US">
                    <a:solidFill>
                      <a:schemeClr val="tx1"/>
                    </a:solidFill>
                  </a:rPr>
                  <a:t>估計模型參數 </a:t>
                </a:r>
                <a:r>
                  <a:rPr lang="en-US" altLang="zh-TW">
                    <a:solidFill>
                      <a:schemeClr val="tx1"/>
                    </a:solidFill>
                  </a:rPr>
                  <a:t>b</a:t>
                </a:r>
                <a:endParaRPr lang="en-US" altLang="zh-TW"/>
              </a:p>
              <a:p>
                <a:pPr lvl="1"/>
                <a:r>
                  <a:rPr lang="en-US" altLang="zh-TW" sz="2400">
                    <a:solidFill>
                      <a:srgbClr val="C00000"/>
                    </a:solidFill>
                  </a:rPr>
                  <a:t>Residuals = |</a:t>
                </a:r>
                <a14:m>
                  <m:oMath xmlns:m="http://schemas.openxmlformats.org/officeDocument/2006/math">
                    <m:r>
                      <a:rPr lang="en-US" altLang="zh-TW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TW" sz="2400" b="1" i="1" baseline="-2500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TW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US" altLang="zh-TW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  <m:r>
                      <a:rPr lang="en-US" altLang="zh-TW" sz="2400" b="1" i="1" baseline="-2500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altLang="zh-TW" sz="2400">
                    <a:solidFill>
                      <a:srgbClr val="C00000"/>
                    </a:solidFill>
                  </a:rPr>
                  <a:t>|</a:t>
                </a:r>
                <a:r>
                  <a:rPr lang="zh-TW" altLang="en-US" sz="2400">
                    <a:solidFill>
                      <a:srgbClr val="C00000"/>
                    </a:solidFill>
                  </a:rPr>
                  <a:t> </a:t>
                </a:r>
                <a:r>
                  <a:rPr lang="en-US" altLang="zh-TW" sz="2400">
                    <a:solidFill>
                      <a:srgbClr val="C00000"/>
                    </a:solidFill>
                  </a:rPr>
                  <a:t>= e</a:t>
                </a:r>
                <a:r>
                  <a:rPr lang="en-US" altLang="zh-TW" sz="2400" baseline="-25000">
                    <a:solidFill>
                      <a:srgbClr val="C00000"/>
                    </a:solidFill>
                  </a:rPr>
                  <a:t>i</a:t>
                </a:r>
              </a:p>
              <a:p>
                <a:pPr lvl="1"/>
                <a:r>
                  <a:rPr lang="en-US" altLang="zh-TW" sz="2400">
                    <a:solidFill>
                      <a:srgbClr val="C00000"/>
                    </a:solidFill>
                  </a:rPr>
                  <a:t>RSS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TW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TW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TW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sSup>
                          <m:sSupPr>
                            <m:ctrlPr>
                              <a:rPr lang="en-US" altLang="zh-TW" sz="24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𝒆</m:t>
                            </m:r>
                            <m:r>
                              <a:rPr lang="en-US" altLang="zh-TW" sz="2400" b="1" i="1" baseline="-2500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p>
                            <m:r>
                              <a:rPr lang="en-US" altLang="zh-TW" sz="2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nary>
                  </m:oMath>
                </a14:m>
                <a:endParaRPr lang="en-US" altLang="zh-TW" sz="2400">
                  <a:solidFill>
                    <a:srgbClr val="C00000"/>
                  </a:solidFill>
                </a:endParaRPr>
              </a:p>
              <a:p>
                <a:pPr lvl="1"/>
                <a:r>
                  <a:rPr lang="zh-TW" altLang="en-US" sz="2400">
                    <a:solidFill>
                      <a:srgbClr val="C00000"/>
                    </a:solidFill>
                  </a:rPr>
                  <a:t>找出一條回歸線使</a:t>
                </a:r>
                <a:r>
                  <a:rPr lang="en-US" altLang="zh-TW" sz="2400">
                    <a:solidFill>
                      <a:srgbClr val="C00000"/>
                    </a:solidFill>
                  </a:rPr>
                  <a:t>RSS</a:t>
                </a:r>
                <a:r>
                  <a:rPr lang="zh-TW" altLang="en-US" sz="2400">
                    <a:solidFill>
                      <a:srgbClr val="C00000"/>
                    </a:solidFill>
                  </a:rPr>
                  <a:t>最小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9520AA56-8150-411F-B9B1-A1BA35D94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4530725"/>
              </a:xfrm>
              <a:blipFill>
                <a:blip r:embed="rId2"/>
                <a:stretch>
                  <a:fillRect l="-1882" t="-2151" r="-471" b="-92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7141527-F549-4DD3-A081-DBD06B0DB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81F14-331A-46F2-BCDB-2B35B3F27F9B}" type="datetime1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27B039B-2A89-4B65-80C2-6AD1D75B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00FC-685B-4B17-90E8-D67F5DCF7935}" type="slidenum">
              <a:rPr lang="zh-TW" altLang="en-US" smtClean="0"/>
              <a:t>5</a:t>
            </a:fld>
            <a:endParaRPr lang="zh-TW" altLang="en-US"/>
          </a:p>
        </p:txBody>
      </p:sp>
      <p:pic>
        <p:nvPicPr>
          <p:cNvPr id="41" name="內容版面配置區 40">
            <a:extLst>
              <a:ext uri="{FF2B5EF4-FFF2-40B4-BE49-F238E27FC236}">
                <a16:creationId xmlns:a16="http://schemas.microsoft.com/office/drawing/2014/main" id="{DA19F490-F5B2-4F9B-9235-8784B12F1F7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69530" y="2446986"/>
            <a:ext cx="5423244" cy="3129565"/>
          </a:xfrm>
        </p:spPr>
      </p:pic>
    </p:spTree>
    <p:extLst>
      <p:ext uri="{BB962C8B-B14F-4D97-AF65-F5344CB8AC3E}">
        <p14:creationId xmlns:p14="http://schemas.microsoft.com/office/powerpoint/2010/main" val="1026831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內容版面配置區 3">
                <a:extLst>
                  <a:ext uri="{FF2B5EF4-FFF2-40B4-BE49-F238E27FC236}">
                    <a16:creationId xmlns:a16="http://schemas.microsoft.com/office/drawing/2014/main" id="{4EE41620-73BE-423A-A2FC-CFE037CB9C76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979868" y="307729"/>
                <a:ext cx="10515600" cy="6453679"/>
              </a:xfrm>
            </p:spPr>
            <p:txBody>
              <a:bodyPr anchor="ctr">
                <a:normAutofit fontScale="47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TW" altLang="en-US" sz="4200"/>
                  <a:t>預測模型 </a:t>
                </a:r>
                <a:r>
                  <a:rPr lang="en-US" altLang="zh-TW" sz="4200"/>
                  <a:t>y = b x + m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zh-TW" sz="4200"/>
                  <a:t>y=</a:t>
                </a:r>
                <a:r>
                  <a:rPr lang="zh-TW" altLang="en-US" sz="4200"/>
                  <a:t>房價，</a:t>
                </a:r>
                <a:r>
                  <a:rPr lang="en-US" altLang="zh-TW" sz="4200"/>
                  <a:t>x=</a:t>
                </a:r>
                <a:r>
                  <a:rPr lang="zh-TW" altLang="en-US" sz="4200"/>
                  <a:t>坪數</a:t>
                </a:r>
                <a:r>
                  <a:rPr lang="en-US" altLang="zh-TW" sz="4200"/>
                  <a:t>, b </a:t>
                </a:r>
                <a:r>
                  <a:rPr lang="zh-TW" altLang="en-US" sz="4200"/>
                  <a:t>為直線的斜率，</a:t>
                </a:r>
                <a:r>
                  <a:rPr lang="en-US" altLang="zh-TW" sz="4200"/>
                  <a:t>m </a:t>
                </a:r>
                <a:r>
                  <a:rPr lang="zh-TW" altLang="en-US" sz="4200"/>
                  <a:t>為斜距</a:t>
                </a:r>
                <a:endParaRPr lang="en-US" altLang="zh-TW" sz="4200"/>
              </a:p>
              <a:p>
                <a:pPr>
                  <a:lnSpc>
                    <a:spcPct val="150000"/>
                  </a:lnSpc>
                </a:pPr>
                <a:r>
                  <a:rPr lang="zh-TW" altLang="en-US" sz="4200"/>
                  <a:t>假設找到一條直線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TW" altLang="en-US" sz="4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TW" altLang="en-US" sz="4200" i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zh-TW" altLang="en-US" sz="420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TW" altLang="en-US" sz="4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4200" i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zh-TW" altLang="en-US" sz="420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TW" altLang="en-US" sz="420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TW" altLang="en-US" sz="4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4200" i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zh-TW" altLang="en-US" sz="420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TW" altLang="en-US" sz="4200" i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TW" altLang="en-US" sz="4200"/>
                  <a:t>，根據資料 </a:t>
                </a:r>
                <a:r>
                  <a:rPr lang="en-US" altLang="zh-TW" sz="4200"/>
                  <a:t>(x</a:t>
                </a:r>
                <a:r>
                  <a:rPr lang="en-US" altLang="zh-TW" sz="4200" baseline="-25000"/>
                  <a:t>i </a:t>
                </a:r>
                <a:r>
                  <a:rPr lang="en-US" altLang="zh-TW" sz="4200"/>
                  <a:t>,y</a:t>
                </a:r>
                <a:r>
                  <a:rPr lang="en-US" altLang="zh-TW" sz="4200" baseline="-25000"/>
                  <a:t>i</a:t>
                </a:r>
                <a:r>
                  <a:rPr lang="en-US" altLang="zh-TW" sz="4200"/>
                  <a:t>) </a:t>
                </a:r>
                <a:r>
                  <a:rPr lang="zh-TW" altLang="en-US" sz="4200"/>
                  <a:t>代入可以得到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4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TW" sz="42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4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altLang="zh-TW" sz="4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4200"/>
                  <a:t>, </a:t>
                </a:r>
                <a:r>
                  <a:rPr lang="zh-TW" altLang="en-US" sz="4200"/>
                  <a:t>建立 </a:t>
                </a:r>
                <a:r>
                  <a:rPr lang="en-US" altLang="zh-TW" sz="4200"/>
                  <a:t>Sum of Squared Error (</a:t>
                </a:r>
                <a:r>
                  <a:rPr lang="zh-TW" altLang="en-US" sz="4200"/>
                  <a:t>也稱為 </a:t>
                </a:r>
                <a:r>
                  <a:rPr lang="en-US" altLang="zh-TW" sz="4200"/>
                  <a:t>Residual Sum of Square)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3400" b="1" i="1" smtClean="0">
                          <a:latin typeface="Cambria Math" panose="02040503050406030204" pitchFamily="18" charset="0"/>
                        </a:rPr>
                        <m:t>𝑺𝑺𝑬</m:t>
                      </m:r>
                      <m:r>
                        <a:rPr lang="en-US" altLang="zh-TW" sz="3400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TW" sz="3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3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TW" sz="34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3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TW" sz="3400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3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34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altLang="zh-TW" sz="3400" b="1" i="1" baseline="-25000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TW" sz="3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altLang="zh-TW" sz="3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3400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  <m:r>
                                <a:rPr lang="en-US" altLang="zh-TW" sz="3400" b="1" i="1" baseline="-25000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</m:d>
                          <m:r>
                            <a:rPr lang="en-US" altLang="zh-TW" sz="3400" b="1" i="1" baseline="3000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nary>
                      <m:r>
                        <a:rPr lang="en-US" altLang="zh-TW" sz="3400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TW" sz="3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3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TW" sz="34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3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TW" sz="3400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3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34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altLang="zh-TW" sz="3400" b="1" i="1" baseline="-25000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TW" sz="3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34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US" altLang="zh-TW" sz="3400" b="1" i="1" baseline="-2500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TW" sz="3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TW" sz="3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34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US" altLang="zh-TW" sz="3400" b="1" i="1" baseline="-25000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d>
                          <m:r>
                            <a:rPr lang="en-US" altLang="zh-TW" sz="3400" b="1" i="1" baseline="3000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nary>
                    </m:oMath>
                  </m:oMathPara>
                </a14:m>
                <a:endParaRPr lang="en-US" altLang="zh-TW" sz="2900"/>
              </a:p>
              <a:p>
                <a:pPr>
                  <a:lnSpc>
                    <a:spcPct val="150000"/>
                  </a:lnSpc>
                </a:pPr>
                <a:r>
                  <a:rPr lang="zh-TW" altLang="en-US" sz="4200"/>
                  <a:t>運用「最小平均法」</a:t>
                </a:r>
                <a:r>
                  <a:rPr lang="en-US" altLang="zh-TW" sz="4200"/>
                  <a:t>(Least Square Method)</a:t>
                </a:r>
                <a:r>
                  <a:rPr lang="zh-TW" altLang="en-US" sz="4200"/>
                  <a:t>方法找出 </a:t>
                </a:r>
                <a:r>
                  <a:rPr lang="en-US" altLang="zh-TW" sz="4200"/>
                  <a:t>b</a:t>
                </a:r>
                <a:r>
                  <a:rPr lang="en-US" altLang="zh-TW" sz="4200" baseline="-25000"/>
                  <a:t>0 </a:t>
                </a:r>
                <a:r>
                  <a:rPr lang="en-US" altLang="zh-TW" sz="4200"/>
                  <a:t>, b</a:t>
                </a:r>
                <a:r>
                  <a:rPr lang="en-US" altLang="zh-TW" sz="4200" baseline="-25000"/>
                  <a:t>1 </a:t>
                </a:r>
                <a:r>
                  <a:rPr lang="zh-TW" altLang="en-US" sz="4200"/>
                  <a:t>使上式最小化</a:t>
                </a:r>
                <a:endParaRPr lang="en-US" altLang="zh-TW" sz="4200"/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33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33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sz="3300" b="1" i="1" smtClean="0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zh-TW" sz="33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TW" sz="33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  <m:sup/>
                                <m:e>
                                  <m:r>
                                    <a:rPr lang="en-US" altLang="zh-TW" sz="33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altLang="zh-TW" sz="3300" b="1" i="1" baseline="-25000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e>
                              </m:nary>
                            </m:e>
                          </m:mr>
                          <m:m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zh-TW" sz="33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TW" sz="33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  <m:sup/>
                                <m:e>
                                  <m:r>
                                    <a:rPr lang="en-US" altLang="zh-TW" sz="33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altLang="zh-TW" sz="3300" b="1" i="1" baseline="-25000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e>
                              </m:nary>
                            </m:e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zh-TW" sz="33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TW" sz="33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altLang="zh-TW" sz="33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3300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zh-TW" sz="3300" b="1" i="1" smtClean="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  <m:sup>
                                      <m:r>
                                        <a:rPr lang="en-US" altLang="zh-TW" sz="33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US" altLang="zh-TW" sz="33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33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sz="33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US" altLang="zh-TW" sz="3300" b="1" i="1" baseline="-25000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33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US" altLang="zh-TW" sz="3300" b="1" i="1" baseline="-2500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TW" sz="3300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sz="33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33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zh-TW" sz="33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TW" sz="33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  <m:sup/>
                                <m:e>
                                  <m:r>
                                    <a:rPr lang="en-US" altLang="zh-TW" sz="3300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  <m:r>
                                    <a:rPr lang="en-US" altLang="zh-TW" sz="3300" b="1" i="1" baseline="-25000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e>
                              </m:nary>
                            </m:e>
                          </m:mr>
                          <m:m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zh-TW" sz="33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TW" sz="33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  <m:sup/>
                                <m:e>
                                  <m:r>
                                    <a:rPr lang="en-US" altLang="zh-TW" sz="33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altLang="zh-TW" sz="3300" b="1" i="1" baseline="-25000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en-US" altLang="zh-TW" sz="3300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  <m:r>
                                    <a:rPr lang="en-US" altLang="zh-TW" sz="3300" b="1" i="1" baseline="-25000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e>
                              </m:nary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TW" sz="2900"/>
                  <a:t>  </a:t>
                </a:r>
                <a:r>
                  <a:rPr lang="en-US" altLang="zh-TW" sz="2900">
                    <a:sym typeface="Wingdings" panose="05000000000000000000" pitchFamily="2" charset="2"/>
                  </a:rPr>
                  <a:t>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9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2900" b="1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sz="29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US" altLang="zh-TW" sz="2900" b="1" i="1" baseline="-25000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29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US" altLang="zh-TW" sz="2900" b="1" i="1" baseline="-2500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TW" sz="2900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29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sz="29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TW" sz="29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TW" sz="2900" i="1">
                                      <a:latin typeface="Cambria Math" panose="02040503050406030204" pitchFamily="18" charset="0"/>
                                    </a:rPr>
                                    <m:t>𝑵</m:t>
                                  </m:r>
                                </m:e>
                                <m:e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altLang="zh-TW" sz="29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US" altLang="zh-TW" sz="2900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  <m:sup/>
                                    <m:e>
                                      <m:r>
                                        <a:rPr lang="en-US" altLang="zh-TW" sz="2900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  <m:r>
                                        <a:rPr lang="en-US" altLang="zh-TW" sz="2900" i="1" baseline="-2500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e>
                                  </m:nary>
                                </m:e>
                              </m:mr>
                              <m:mr>
                                <m:e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altLang="zh-TW" sz="29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US" altLang="zh-TW" sz="2900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  <m:sup/>
                                    <m:e>
                                      <m:r>
                                        <a:rPr lang="en-US" altLang="zh-TW" sz="2900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  <m:r>
                                        <a:rPr lang="en-US" altLang="zh-TW" sz="2900" i="1" baseline="-2500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e>
                                  </m:nary>
                                </m:e>
                                <m:e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altLang="zh-TW" sz="29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US" altLang="zh-TW" sz="2900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  <m:sup/>
                                    <m:e>
                                      <m:sSubSup>
                                        <m:sSubSupPr>
                                          <m:ctrlPr>
                                            <a:rPr lang="en-US" altLang="zh-TW" sz="29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TW" sz="2900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900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  <m:sup>
                                          <m:r>
                                            <a:rPr lang="en-US" altLang="zh-TW" sz="2900" i="1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p>
                                      </m:sSubSup>
                                    </m:e>
                                  </m:nary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altLang="zh-TW" sz="29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9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d>
                      <m:d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25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zh-TW" sz="25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TW" sz="2500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  <m:sup/>
                                <m:e>
                                  <m:r>
                                    <a:rPr lang="en-US" altLang="zh-TW" sz="2500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  <m:r>
                                    <a:rPr lang="en-US" altLang="zh-TW" sz="2500" i="1" baseline="-2500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e>
                              </m:nary>
                            </m:e>
                          </m:mr>
                          <m:m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zh-TW" sz="25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TW" sz="2500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  <m:sup/>
                                <m:e>
                                  <m:r>
                                    <a:rPr lang="en-US" altLang="zh-TW" sz="2500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altLang="zh-TW" sz="2500" i="1" baseline="-2500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en-US" altLang="zh-TW" sz="2500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  <m:r>
                                    <a:rPr lang="en-US" altLang="zh-TW" sz="2500" i="1" baseline="-2500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e>
                              </m:nary>
                            </m:e>
                          </m:mr>
                        </m:m>
                      </m:e>
                    </m:d>
                  </m:oMath>
                </a14:m>
                <a:endParaRPr lang="en-US" altLang="zh-TW" sz="2900"/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altLang="zh-TW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TW" sz="4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4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TW" sz="4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TW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4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4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4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TW" sz="4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sz="4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4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zh-TW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40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  <m:acc>
                                <m:accPr>
                                  <m:chr m:val="̅"/>
                                  <m:ctrlPr>
                                    <a:rPr lang="en-US" altLang="zh-TW" sz="4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4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zh-TW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TW" sz="4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4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TW" sz="4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altLang="zh-TW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4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4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TW" sz="4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TW" sz="4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4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sSup>
                                <m:sSupPr>
                                  <m:ctrlPr>
                                    <a:rPr lang="en-US" altLang="zh-TW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zh-TW" sz="4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40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altLang="zh-TW" sz="4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TW" sz="4000" b="0" i="1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4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TW" sz="4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4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TW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altLang="zh-TW" sz="4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4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</m:oMath>
                  </m:oMathPara>
                </a14:m>
                <a:endParaRPr lang="zh-TW" altLang="en-US" sz="4000"/>
              </a:p>
            </p:txBody>
          </p:sp>
        </mc:Choice>
        <mc:Fallback xmlns="">
          <p:sp>
            <p:nvSpPr>
              <p:cNvPr id="4" name="內容版面配置區 3">
                <a:extLst>
                  <a:ext uri="{FF2B5EF4-FFF2-40B4-BE49-F238E27FC236}">
                    <a16:creationId xmlns:a16="http://schemas.microsoft.com/office/drawing/2014/main" id="{4EE41620-73BE-423A-A2FC-CFE037CB9C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979868" y="307729"/>
                <a:ext cx="10515600" cy="6453679"/>
              </a:xfrm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字方塊 1">
            <a:extLst>
              <a:ext uri="{FF2B5EF4-FFF2-40B4-BE49-F238E27FC236}">
                <a16:creationId xmlns:a16="http://schemas.microsoft.com/office/drawing/2014/main" id="{87107DB4-462F-4494-80B0-43F617E8AB2F}"/>
              </a:ext>
            </a:extLst>
          </p:cNvPr>
          <p:cNvSpPr txBox="1"/>
          <p:nvPr/>
        </p:nvSpPr>
        <p:spPr>
          <a:xfrm>
            <a:off x="9453988" y="4443211"/>
            <a:ext cx="15392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>
                <a:solidFill>
                  <a:srgbClr val="0000FF"/>
                </a:solidFill>
              </a:rPr>
              <a:t>A</a:t>
            </a:r>
            <a:r>
              <a:rPr lang="en-US" altLang="zh-TW" sz="2000" b="1">
                <a:solidFill>
                  <a:srgbClr val="0000FF"/>
                </a:solidFill>
                <a:sym typeface="Symbol" panose="05050102010706020507" pitchFamily="18" charset="2"/>
              </a:rPr>
              <a:t></a:t>
            </a:r>
            <a:r>
              <a:rPr lang="en-US" altLang="zh-TW" sz="2000" b="1">
                <a:solidFill>
                  <a:srgbClr val="0000FF"/>
                </a:solidFill>
              </a:rPr>
              <a:t>A</a:t>
            </a:r>
            <a:r>
              <a:rPr lang="en-US" altLang="zh-TW" sz="2000" b="1" baseline="30000">
                <a:solidFill>
                  <a:srgbClr val="0000FF"/>
                </a:solidFill>
              </a:rPr>
              <a:t>-1</a:t>
            </a:r>
            <a:r>
              <a:rPr lang="en-US" altLang="zh-TW" sz="2000" b="1">
                <a:solidFill>
                  <a:srgbClr val="0000FF"/>
                </a:solidFill>
              </a:rPr>
              <a:t>=A</a:t>
            </a:r>
            <a:r>
              <a:rPr lang="en-US" altLang="zh-TW" sz="2000" b="1" baseline="30000">
                <a:solidFill>
                  <a:srgbClr val="0000FF"/>
                </a:solidFill>
              </a:rPr>
              <a:t>-1</a:t>
            </a:r>
            <a:r>
              <a:rPr lang="en-US" altLang="zh-TW" sz="2000" b="1">
                <a:solidFill>
                  <a:srgbClr val="0000FF"/>
                </a:solidFill>
                <a:sym typeface="Symbol" panose="05050102010706020507" pitchFamily="18" charset="2"/>
              </a:rPr>
              <a:t></a:t>
            </a:r>
            <a:r>
              <a:rPr lang="en-US" altLang="zh-TW" sz="2000" b="1">
                <a:solidFill>
                  <a:srgbClr val="0000FF"/>
                </a:solidFill>
              </a:rPr>
              <a:t>A=I</a:t>
            </a:r>
            <a:endParaRPr lang="zh-TW" altLang="en-US" sz="2000" b="1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1159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015A01-7B96-42F0-AB60-5A732E77F0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/>
              <a:t>簡單迴歸分析</a:t>
            </a:r>
            <a:r>
              <a:rPr lang="en-US" altLang="zh-TW"/>
              <a:t>Numpy</a:t>
            </a:r>
            <a:r>
              <a:rPr lang="zh-TW" altLang="en-US"/>
              <a:t>實作</a:t>
            </a:r>
          </a:p>
        </p:txBody>
      </p:sp>
      <p:sp>
        <p:nvSpPr>
          <p:cNvPr id="4" name="副標題 3">
            <a:extLst>
              <a:ext uri="{FF2B5EF4-FFF2-40B4-BE49-F238E27FC236}">
                <a16:creationId xmlns:a16="http://schemas.microsoft.com/office/drawing/2014/main" id="{F97A77D9-72DB-4B90-BC3A-8E6E727B51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0270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D2F7DD87-9E62-4163-B2A8-89B003175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Boston Housing </a:t>
            </a:r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C2E2307-93C0-4A3A-90DF-B622E5029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57" y="1970400"/>
            <a:ext cx="5610225" cy="433387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5ADFC400-0326-4F43-AC93-D7103027E1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70399"/>
            <a:ext cx="5610225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906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47A815-F730-4801-AB88-A32E69439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Polynomial functions </a:t>
            </a:r>
            <a:r>
              <a:rPr lang="zh-TW" altLang="en-US"/>
              <a:t>及 </a:t>
            </a:r>
            <a:r>
              <a:rPr lang="en-US" altLang="zh-TW"/>
              <a:t>R square</a:t>
            </a:r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79CAF5B-B441-4211-9DBA-FC0F032C3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288" y="2209061"/>
            <a:ext cx="5334000" cy="393382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5BDDCA58-F707-4117-9E5F-C10C31E86991}"/>
              </a:ext>
            </a:extLst>
          </p:cNvPr>
          <p:cNvSpPr txBox="1"/>
          <p:nvPr/>
        </p:nvSpPr>
        <p:spPr>
          <a:xfrm>
            <a:off x="6529589" y="3575808"/>
            <a:ext cx="416248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/>
              <a:t>R square of lm = -0.9156</a:t>
            </a:r>
          </a:p>
          <a:p>
            <a:r>
              <a:rPr lang="en-US" altLang="zh-TW" sz="2400"/>
              <a:t>R square of lm_quad2 = -0.8378</a:t>
            </a:r>
          </a:p>
          <a:p>
            <a:r>
              <a:rPr lang="en-US" altLang="zh-TW" sz="2400"/>
              <a:t>R square of lm_quad3 = -0.1821</a:t>
            </a:r>
            <a:endParaRPr lang="zh-TW" altLang="en-US" sz="2400"/>
          </a:p>
        </p:txBody>
      </p:sp>
    </p:spTree>
    <p:extLst>
      <p:ext uri="{BB962C8B-B14F-4D97-AF65-F5344CB8AC3E}">
        <p14:creationId xmlns:p14="http://schemas.microsoft.com/office/powerpoint/2010/main" val="504612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B77D94-EC87-4E55-B1BF-F4AC856B9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/>
              <a:t>Multiple Linear Regression</a:t>
            </a:r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CB67121F-5C7C-4519-8F93-0F5DAB8101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TW" altLang="en-US" b="1"/>
                  <a:t>根據 </a:t>
                </a:r>
                <a:r>
                  <a:rPr lang="en-US" altLang="zh-TW" b="1"/>
                  <a:t>supervised learning </a:t>
                </a:r>
                <a:r>
                  <a:rPr lang="zh-TW" altLang="en-US" b="1"/>
                  <a:t>，定義一個 </a:t>
                </a:r>
                <a:r>
                  <a:rPr lang="en-US" altLang="zh-TW" b="1"/>
                  <a:t>mapping function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  <m:r>
                        <a:rPr lang="en-US" altLang="zh-TW" b="1" i="1" baseline="-25000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⋯+</m:t>
                      </m:r>
                      <m:sSub>
                        <m:sSub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sSub>
                        <m:sSub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</m:oMath>
                  </m:oMathPara>
                </a14:m>
                <a:endParaRPr lang="en-US" altLang="zh-TW" i="1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  <m:r>
                        <a:rPr lang="en-US" altLang="zh-TW" b="1" i="1" baseline="-25000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  <m:sup/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altLang="zh-TW" b="1" i="1" baseline="-25000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TW" b="1" i="1" baseline="-25000" smtClean="0">
                              <a:latin typeface="Cambria Math" panose="02040503050406030204" pitchFamily="18" charset="0"/>
                            </a:rPr>
                            <m:t>𝒊𝒋</m:t>
                          </m:r>
                        </m:e>
                      </m:nary>
                    </m:oMath>
                  </m:oMathPara>
                </a14:m>
                <a:endParaRPr lang="en-US" altLang="zh-TW" i="1"/>
              </a:p>
              <a:p>
                <a:pPr marL="457200" lvl="1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  <m:r>
                      <a:rPr lang="en-US" altLang="zh-TW" b="1" i="1" baseline="-25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altLang="zh-TW" b="1">
                    <a:solidFill>
                      <a:schemeClr val="tx1"/>
                    </a:solidFill>
                  </a:rPr>
                  <a:t>= predicted label for the i</a:t>
                </a:r>
                <a:r>
                  <a:rPr lang="en-US" altLang="zh-TW" b="1" baseline="30000">
                    <a:solidFill>
                      <a:schemeClr val="tx1"/>
                    </a:solidFill>
                  </a:rPr>
                  <a:t>th</a:t>
                </a:r>
                <a:r>
                  <a:rPr lang="en-US" altLang="zh-TW" b="1">
                    <a:solidFill>
                      <a:schemeClr val="tx1"/>
                    </a:solidFill>
                  </a:rPr>
                  <a:t> sample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en-US" altLang="zh-TW" b="1">
                    <a:solidFill>
                      <a:schemeClr val="tx1"/>
                    </a:solidFill>
                  </a:rPr>
                  <a:t>x</a:t>
                </a:r>
                <a:r>
                  <a:rPr lang="en-US" altLang="zh-TW" b="1" baseline="-25000">
                    <a:solidFill>
                      <a:schemeClr val="tx1"/>
                    </a:solidFill>
                  </a:rPr>
                  <a:t>ij</a:t>
                </a:r>
                <a:r>
                  <a:rPr lang="en-US" altLang="zh-TW" b="1">
                    <a:solidFill>
                      <a:schemeClr val="tx1"/>
                    </a:solidFill>
                  </a:rPr>
                  <a:t> = the j</a:t>
                </a:r>
                <a:r>
                  <a:rPr lang="en-US" altLang="zh-TW" b="1" baseline="30000">
                    <a:solidFill>
                      <a:schemeClr val="tx1"/>
                    </a:solidFill>
                  </a:rPr>
                  <a:t>th</a:t>
                </a:r>
                <a:r>
                  <a:rPr lang="en-US" altLang="zh-TW" b="1">
                    <a:solidFill>
                      <a:schemeClr val="tx1"/>
                    </a:solidFill>
                  </a:rPr>
                  <a:t> feature for the i</a:t>
                </a:r>
                <a:r>
                  <a:rPr lang="en-US" altLang="zh-TW" b="1" baseline="30000">
                    <a:solidFill>
                      <a:schemeClr val="tx1"/>
                    </a:solidFill>
                  </a:rPr>
                  <a:t>th</a:t>
                </a:r>
                <a:r>
                  <a:rPr lang="en-US" altLang="zh-TW" b="1">
                    <a:solidFill>
                      <a:schemeClr val="tx1"/>
                    </a:solidFill>
                  </a:rPr>
                  <a:t> </a:t>
                </a:r>
                <a:r>
                  <a:rPr lang="en-US" altLang="zh-TW" b="1"/>
                  <a:t>sample</a:t>
                </a:r>
                <a:endParaRPr lang="en-US" altLang="zh-TW" b="1">
                  <a:solidFill>
                    <a:schemeClr val="tx1"/>
                  </a:solidFill>
                </a:endParaRPr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en-US" altLang="zh-TW" b="1">
                    <a:solidFill>
                      <a:schemeClr val="tx1"/>
                    </a:solidFill>
                  </a:rPr>
                  <a:t>w</a:t>
                </a:r>
                <a:r>
                  <a:rPr lang="en-US" altLang="zh-TW" b="1" baseline="-25000">
                    <a:solidFill>
                      <a:schemeClr val="tx1"/>
                    </a:solidFill>
                  </a:rPr>
                  <a:t>0</a:t>
                </a:r>
                <a:r>
                  <a:rPr lang="en-US" altLang="zh-TW" b="1">
                    <a:solidFill>
                      <a:schemeClr val="tx1"/>
                    </a:solidFill>
                  </a:rPr>
                  <a:t> = the regression intercept 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en-US" altLang="zh-TW">
                    <a:solidFill>
                      <a:schemeClr val="tx1"/>
                    </a:solidFill>
                  </a:rPr>
                  <a:t>w</a:t>
                </a:r>
                <a:r>
                  <a:rPr lang="en-US" altLang="zh-TW" b="1" baseline="-25000">
                    <a:solidFill>
                      <a:schemeClr val="tx1"/>
                    </a:solidFill>
                  </a:rPr>
                  <a:t>j</a:t>
                </a:r>
                <a:r>
                  <a:rPr lang="en-US" altLang="zh-TW" b="1">
                    <a:solidFill>
                      <a:schemeClr val="tx1"/>
                    </a:solidFill>
                  </a:rPr>
                  <a:t> = the jth feature regression weight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:endParaRPr lang="en-US" altLang="zh-TW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CB67121F-5C7C-4519-8F93-0F5DAB8101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89418625-A46B-4327-AFC8-D08A851754B8}"/>
                  </a:ext>
                </a:extLst>
              </p:cNvPr>
              <p:cNvSpPr txBox="1"/>
              <p:nvPr/>
            </p:nvSpPr>
            <p:spPr>
              <a:xfrm>
                <a:off x="8133346" y="4571999"/>
                <a:ext cx="3821231" cy="14188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TW" sz="2000" b="0" i="1" baseline="-2500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TW" sz="2000" b="0" i="1" baseline="-2500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US" altLang="zh-TW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altLang="zh-TW" sz="2000" b="0" i="1" baseline="-2500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zh-TW" altLang="en-US" sz="2000" i="1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altLang="zh-TW" sz="2000" b="0" i="1" baseline="-2500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eqAr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TW" sz="2000"/>
                  <a:t>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000" b="0" i="1" baseline="-25000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zh-TW" sz="2000" b="0" i="1" baseline="-25000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e>
                                  <m:e>
                                    <m: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  <m:e>
                                    <m:r>
                                      <a:rPr lang="en-US" altLang="zh-TW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zh-TW" sz="2000" b="0" i="1" baseline="-2500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TW" sz="2000" b="0" i="1" baseline="-25000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000" b="0" i="1" baseline="-25000" smtClean="0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zh-TW" sz="2000" b="0" i="1" baseline="-25000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e>
                                  <m:e>
                                    <m: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  <m:e>
                                    <m:r>
                                      <a:rPr lang="en-US" altLang="zh-TW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zh-TW" sz="2000" b="0" i="1" baseline="-250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TW" sz="2000" b="0" i="1" baseline="-25000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US" altLang="zh-TW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TW" altLang="en-US" sz="2000" i="1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US" altLang="zh-TW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TW" sz="2000" b="0" i="1" baseline="-25000" smtClean="0">
                                      <a:latin typeface="Cambria Math" panose="02040503050406030204" pitchFamily="18" charset="0"/>
                                    </a:rPr>
                                    <m:t>31</m:t>
                                  </m:r>
                                </m:e>
                                <m:e>
                                  <m:r>
                                    <a:rPr lang="zh-TW" altLang="en-US" sz="2000" i="1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TW" sz="2000" b="0" i="1" baseline="-2500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000" b="0" i="1" baseline="-2500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US" altLang="zh-TW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3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TW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TW" sz="2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altLang="zh-TW" sz="2000" b="0" i="1" baseline="-25000" smtClean="0">
                                            <a:latin typeface="Cambria Math" panose="02040503050406030204" pitchFamily="18" charset="0"/>
                                          </a:rPr>
                                          <m:t>32</m:t>
                                        </m:r>
                                      </m:e>
                                      <m:e>
                                        <m:r>
                                          <a:rPr lang="en-US" altLang="zh-TW" sz="2000" i="1" smtClean="0">
                                            <a:latin typeface="Cambria Math" panose="02040503050406030204" pitchFamily="18" charset="0"/>
                                          </a:rPr>
                                          <m:t>…</m:t>
                                        </m:r>
                                      </m:e>
                                      <m:e>
                                        <m:r>
                                          <a:rPr lang="en-US" altLang="zh-TW" sz="2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altLang="zh-TW" sz="2000" b="0" i="1" baseline="-25000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  <m:r>
                                          <a:rPr lang="en-US" altLang="zh-TW" sz="2000" b="0" i="1" baseline="-25000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3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TW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eqArr>
                                          <m:eqArrPr>
                                            <m:ctrlPr>
                                              <a:rPr lang="en-US" altLang="zh-TW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eqArrPr>
                                          <m:e>
                                            <m:r>
                                              <a:rPr lang="en-US" altLang="zh-TW" sz="2000" i="1" smtClean="0">
                                                <a:latin typeface="Cambria Math" panose="02040503050406030204" pitchFamily="18" charset="0"/>
                                              </a:rPr>
                                              <m:t>⋮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zh-TW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  <m:r>
                                              <a:rPr lang="en-US" altLang="zh-TW" sz="2000" b="0" i="1" baseline="-25000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n-US" altLang="zh-TW" sz="2000" b="0" i="1" baseline="-25000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e>
                                        </m:eqArr>
                                      </m:e>
                                      <m:e>
                                        <m:eqArr>
                                          <m:eqArrPr>
                                            <m:ctrlPr>
                                              <a:rPr lang="en-US" altLang="zh-TW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eqArrPr>
                                          <m:e>
                                            <m:r>
                                              <a:rPr lang="en-US" altLang="zh-TW" sz="2000" i="1" smtClean="0">
                                                <a:latin typeface="Cambria Math" panose="02040503050406030204" pitchFamily="18" charset="0"/>
                                              </a:rPr>
                                              <m:t>⋱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zh-TW" sz="2000" i="1" smtClean="0">
                                                <a:latin typeface="Cambria Math" panose="02040503050406030204" pitchFamily="18" charset="0"/>
                                              </a:rPr>
                                              <m:t>…</m:t>
                                            </m:r>
                                          </m:e>
                                        </m:eqArr>
                                      </m:e>
                                      <m:e>
                                        <m:eqArr>
                                          <m:eqArrPr>
                                            <m:ctrlPr>
                                              <a:rPr lang="en-US" altLang="zh-TW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eqArrPr>
                                          <m:e>
                                            <m:r>
                                              <a:rPr lang="en-US" altLang="zh-TW" sz="2000" i="1" smtClean="0">
                                                <a:latin typeface="Cambria Math" panose="02040503050406030204" pitchFamily="18" charset="0"/>
                                              </a:rPr>
                                              <m:t>⋮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zh-TW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  <m:r>
                                              <a:rPr lang="en-US" altLang="zh-TW" sz="2000" b="0" i="1" baseline="-25000" smtClean="0">
                                                <a:latin typeface="Cambria Math" panose="02040503050406030204" pitchFamily="18" charset="0"/>
                                              </a:rPr>
                                              <m:t>𝑖𝑗</m:t>
                                            </m:r>
                                          </m:e>
                                        </m:eqArr>
                                      </m:e>
                                    </m:mr>
                                  </m:m>
                                </m:e>
                              </m:eqAr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altLang="zh-TW" sz="2000" b="0" i="1" baseline="-2500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altLang="zh-TW" sz="2000" b="0" i="1" baseline="-2500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US" altLang="zh-TW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altLang="zh-TW" sz="2000" b="0" i="1" baseline="-2500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TW" altLang="en-US" sz="2000" i="1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altLang="zh-TW" sz="2000" b="0" i="1" baseline="-2500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eqArr>
                            </m:e>
                          </m:mr>
                        </m:m>
                      </m:e>
                    </m:d>
                  </m:oMath>
                </a14:m>
                <a:endParaRPr lang="zh-TW" altLang="en-US" sz="2000"/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89418625-A46B-4327-AFC8-D08A851754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3346" y="4571999"/>
                <a:ext cx="3821231" cy="14188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箭號: 向右 4">
            <a:extLst>
              <a:ext uri="{FF2B5EF4-FFF2-40B4-BE49-F238E27FC236}">
                <a16:creationId xmlns:a16="http://schemas.microsoft.com/office/drawing/2014/main" id="{77EC6059-0BAF-4F43-AB2E-C0CC49E757B7}"/>
              </a:ext>
            </a:extLst>
          </p:cNvPr>
          <p:cNvSpPr/>
          <p:nvPr/>
        </p:nvSpPr>
        <p:spPr>
          <a:xfrm rot="2219683">
            <a:off x="7274820" y="4174183"/>
            <a:ext cx="587141" cy="33688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D2664D5-3900-4130-873F-85B5743F2CBF}"/>
              </a:ext>
            </a:extLst>
          </p:cNvPr>
          <p:cNvSpPr txBox="1"/>
          <p:nvPr/>
        </p:nvSpPr>
        <p:spPr>
          <a:xfrm>
            <a:off x="9413507" y="4135199"/>
            <a:ext cx="862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/>
              <a:t>Y = XW</a:t>
            </a:r>
            <a:endParaRPr lang="zh-TW" altLang="en-US" b="1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C81F521-DB16-4D23-BE26-556931964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B951E-7BD1-4540-84C5-8C20FEDE9532}" type="datetime1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4596E440-60AB-494F-9CD8-B141DBEAD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00FC-685B-4B17-90E8-D67F5DCF7935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6183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654D00-3E73-4D5F-9A8B-20DE9A06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7851"/>
            <a:ext cx="10515600" cy="1325563"/>
          </a:xfrm>
        </p:spPr>
        <p:txBody>
          <a:bodyPr/>
          <a:lstStyle/>
          <a:p>
            <a:r>
              <a:rPr lang="zh-TW" altLang="en-US" b="1"/>
              <a:t>利用 </a:t>
            </a:r>
            <a:r>
              <a:rPr lang="en-US" altLang="zh-TW" b="1"/>
              <a:t>gradient descent </a:t>
            </a:r>
            <a:r>
              <a:rPr lang="zh-TW" altLang="en-US" b="1"/>
              <a:t>方法針對 </a:t>
            </a:r>
            <a:r>
              <a:rPr lang="en-US" altLang="zh-TW" b="1"/>
              <a:t>residual square of sum </a:t>
            </a:r>
            <a:r>
              <a:rPr lang="zh-TW" altLang="en-US" b="1"/>
              <a:t>找 </a:t>
            </a:r>
            <a:r>
              <a:rPr lang="en-US" altLang="zh-TW" b="1"/>
              <a:t>W</a:t>
            </a:r>
            <a:endParaRPr lang="zh-TW" altLang="en-US" b="1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DDB0BA5-BC3C-4D39-8CC7-7DEE06306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B2792-C331-4547-9D55-E3C69DEB6D17}" type="datetime1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DA5DAC6-D59C-4007-9435-395628E02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00FC-685B-4B17-90E8-D67F5DCF7935}" type="slidenum">
              <a:rPr lang="zh-TW" altLang="en-US" smtClean="0"/>
              <a:t>11</a:t>
            </a:fld>
            <a:endParaRPr lang="zh-TW" altLang="en-US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D36909C2-CA14-4687-9ADC-BFDD34038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972" y="1674254"/>
            <a:ext cx="9141754" cy="5047221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1855F5FB-3448-4787-BE73-D00ED9E40D96}"/>
              </a:ext>
            </a:extLst>
          </p:cNvPr>
          <p:cNvSpPr txBox="1"/>
          <p:nvPr/>
        </p:nvSpPr>
        <p:spPr>
          <a:xfrm>
            <a:off x="7173029" y="3244334"/>
            <a:ext cx="693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>
                <a:solidFill>
                  <a:srgbClr val="FF0000"/>
                </a:solidFill>
              </a:rPr>
              <a:t>error</a:t>
            </a:r>
            <a:endParaRPr lang="zh-TW" altLang="en-US">
              <a:solidFill>
                <a:srgbClr val="FF0000"/>
              </a:solidFill>
            </a:endParaRPr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90543CFB-5EBB-4221-B014-1E036902470E}"/>
              </a:ext>
            </a:extLst>
          </p:cNvPr>
          <p:cNvCxnSpPr>
            <a:cxnSpLocks/>
            <a:stCxn id="3" idx="0"/>
          </p:cNvCxnSpPr>
          <p:nvPr/>
        </p:nvCxnSpPr>
        <p:spPr>
          <a:xfrm flipH="1" flipV="1">
            <a:off x="7509353" y="3025038"/>
            <a:ext cx="10334" cy="2192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8571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8C8146B-26B3-4308-92ED-7D11255C6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DAC5-CDA0-455D-A82D-D12FD1394041}" type="datetime1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4399530-7B5F-4B13-805F-AFEFF630F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00FC-685B-4B17-90E8-D67F5DCF7935}" type="slidenum">
              <a:rPr lang="zh-TW" altLang="en-US" smtClean="0"/>
              <a:t>12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3DCA0B5-47F1-4B3C-8A7E-B3E063A6F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9613" y="3799270"/>
            <a:ext cx="4759420" cy="255708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6F1E1CE8-6837-4F49-BACA-419907362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32"/>
            <a:ext cx="7278116" cy="639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502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AF3C1B-C765-4087-845C-F7F030D6C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回歸模型效能分析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5E91F1A-252E-4003-BD99-CB40946605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n-US" altLang="zh-TW" sz="2400"/>
                  <a:t>R</a:t>
                </a:r>
                <a:r>
                  <a:rPr lang="en-US" altLang="zh-TW" sz="2400" baseline="30000"/>
                  <a:t>2</a:t>
                </a:r>
                <a:r>
                  <a:rPr lang="en-US" altLang="zh-TW" sz="240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altLang="zh-TW" sz="2400" b="0" i="1" baseline="-2500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altLang="zh-TW" sz="2400" b="0" i="1" baseline="-2500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  <m:r>
                              <a:rPr lang="en-US" altLang="zh-TW" sz="2400" b="0" i="1" baseline="3000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altLang="zh-TW" sz="2400" b="0" i="1" baseline="-2500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d>
                            <m:r>
                              <a:rPr lang="en-US" altLang="zh-TW" sz="2400" b="0" i="1" baseline="3000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nary>
                      </m:den>
                    </m:f>
                  </m:oMath>
                </a14:m>
                <a:r>
                  <a:rPr lang="en-US" altLang="zh-TW" sz="240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𝑆𝑆𝑅</m:t>
                        </m:r>
                      </m:num>
                      <m:den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𝑆𝑆𝑇</m:t>
                        </m:r>
                      </m:den>
                    </m:f>
                  </m:oMath>
                </a14:m>
                <a:r>
                  <a:rPr lang="en-US" altLang="zh-TW" sz="2400"/>
                  <a:t> , Coefficient of determination</a:t>
                </a:r>
                <a:r>
                  <a:rPr lang="zh-TW" altLang="en-US" sz="2400"/>
                  <a:t> </a:t>
                </a:r>
                <a:r>
                  <a:rPr lang="en-US" altLang="zh-TW" sz="2400"/>
                  <a:t>(</a:t>
                </a:r>
                <a:r>
                  <a:rPr lang="zh-TW" altLang="en-US" sz="2400"/>
                  <a:t>決定係數</a:t>
                </a:r>
                <a:r>
                  <a:rPr lang="en-US" altLang="zh-TW" sz="2400"/>
                  <a:t>)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n-US" altLang="zh-TW" sz="2000"/>
                  <a:t>R</a:t>
                </a:r>
                <a:r>
                  <a:rPr lang="en-US" altLang="zh-TW" sz="2000" baseline="30000"/>
                  <a:t>2</a:t>
                </a:r>
                <a:r>
                  <a:rPr lang="en-US" altLang="zh-TW" sz="2000"/>
                  <a:t> </a:t>
                </a:r>
                <a:r>
                  <a:rPr lang="en-US" altLang="zh-TW" sz="2000">
                    <a:sym typeface="Symbol" panose="05050102010706020507" pitchFamily="18" charset="2"/>
                  </a:rPr>
                  <a:t> </a:t>
                </a:r>
                <a:r>
                  <a:rPr lang="en-US" altLang="zh-TW" sz="2000"/>
                  <a:t>[0,1]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n-US" altLang="zh-TW" sz="2000"/>
                  <a:t>R</a:t>
                </a:r>
                <a:r>
                  <a:rPr lang="en-US" altLang="zh-TW" sz="2000" baseline="30000"/>
                  <a:t>2</a:t>
                </a:r>
                <a:r>
                  <a:rPr lang="en-US" altLang="zh-TW" sz="2000"/>
                  <a:t> = 0</a:t>
                </a:r>
                <a:r>
                  <a:rPr lang="zh-TW" altLang="en-US" sz="2000"/>
                  <a:t>，</a:t>
                </a:r>
                <a:r>
                  <a:rPr lang="zh-TW" altLang="en-US" sz="2000" b="0" i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迴歸直線為水平線，斜率</a:t>
                </a:r>
                <a:r>
                  <a:rPr lang="en-US" altLang="zh-TW" sz="2000" b="0" i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0</a:t>
                </a:r>
                <a:r>
                  <a:rPr lang="zh-TW" altLang="en-US" sz="2000" b="0" i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，</a:t>
                </a:r>
                <a:r>
                  <a:rPr lang="en-US" altLang="zh-TW" sz="2000" b="0" i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X</a:t>
                </a:r>
                <a:r>
                  <a:rPr lang="zh-TW" altLang="en-US" sz="2000" b="0" i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軸與</a:t>
                </a:r>
                <a:r>
                  <a:rPr lang="en-US" altLang="zh-TW" sz="2000" b="0" i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Y</a:t>
                </a:r>
                <a:r>
                  <a:rPr lang="zh-TW" altLang="en-US" sz="2000" b="0" i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軸變項間無直線關係</a:t>
                </a:r>
                <a:endParaRPr lang="en-US" altLang="zh-TW" sz="2000"/>
              </a:p>
              <a:p>
                <a:pPr lvl="1">
                  <a:lnSpc>
                    <a:spcPct val="110000"/>
                  </a:lnSpc>
                </a:pPr>
                <a:r>
                  <a:rPr lang="en-US" altLang="zh-TW" sz="2000"/>
                  <a:t>R</a:t>
                </a:r>
                <a:r>
                  <a:rPr lang="en-US" altLang="zh-TW" sz="2000" baseline="30000"/>
                  <a:t>2</a:t>
                </a:r>
                <a:r>
                  <a:rPr lang="en-US" altLang="zh-TW" sz="2000"/>
                  <a:t> </a:t>
                </a:r>
                <a:r>
                  <a:rPr lang="zh-TW" altLang="en-US" sz="2000"/>
                  <a:t>愈接近 </a:t>
                </a:r>
                <a:r>
                  <a:rPr lang="en-US" altLang="zh-TW" sz="2000"/>
                  <a:t>1</a:t>
                </a:r>
                <a:r>
                  <a:rPr lang="zh-TW" altLang="en-US" sz="2000"/>
                  <a:t> ，</a:t>
                </a:r>
                <a:r>
                  <a:rPr lang="zh-TW" altLang="en-US" sz="2000" b="0" i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表示</a:t>
                </a:r>
                <a:r>
                  <a:rPr lang="en-US" altLang="zh-TW" sz="2000" b="0" i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X</a:t>
                </a:r>
                <a:r>
                  <a:rPr lang="zh-TW" altLang="en-US" sz="2000" b="0" i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軸與</a:t>
                </a:r>
                <a:r>
                  <a:rPr lang="en-US" altLang="zh-TW" sz="2000" b="0" i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Y</a:t>
                </a:r>
                <a:r>
                  <a:rPr lang="zh-TW" altLang="en-US" sz="2000" b="0" i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軸變項間的直線關係越強</a:t>
                </a:r>
                <a:r>
                  <a:rPr lang="en-US" altLang="zh-TW" sz="2000" b="0" i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(</a:t>
                </a:r>
                <a:r>
                  <a:rPr lang="zh-TW" altLang="en-US" sz="2000" b="0" i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具線性變化</a:t>
                </a:r>
                <a:r>
                  <a:rPr lang="en-US" altLang="zh-TW" sz="2000" b="0" i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)</a:t>
                </a:r>
                <a:endParaRPr lang="en-US" altLang="zh-TW" sz="2000"/>
              </a:p>
              <a:p>
                <a:pPr>
                  <a:lnSpc>
                    <a:spcPct val="110000"/>
                  </a:lnSpc>
                </a:pPr>
                <a:r>
                  <a:rPr lang="zh-TW" altLang="zh-TW" sz="2400">
                    <a:sym typeface="Symbol" panose="05050102010706020507" pitchFamily="18" charset="2"/>
                  </a:rPr>
                  <a:t></a:t>
                </a:r>
                <a:r>
                  <a:rPr lang="en-US" altLang="zh-TW" sz="2400">
                    <a:sym typeface="Symbol" panose="05050102010706020507" pitchFamily="18" charset="2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zh-TW" altLang="en-US" sz="240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𝜎</m:t>
                        </m:r>
                        <m:r>
                          <a:rPr lang="en-US" altLang="zh-TW" sz="2400" b="0" i="1" baseline="-2500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𝑥𝑦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radPr>
                          <m:deg/>
                          <m:e>
                            <m:r>
                              <a:rPr lang="zh-TW" altLang="en-US" sz="240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𝜎</m:t>
                            </m:r>
                            <m:r>
                              <a:rPr lang="en-US" altLang="zh-TW" sz="2400" b="0" i="1" baseline="-25000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𝑥𝑥</m:t>
                            </m:r>
                            <m:r>
                              <a:rPr lang="zh-TW" altLang="en-US" sz="2400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𝜎</m:t>
                            </m:r>
                            <m:r>
                              <a:rPr lang="en-US" altLang="zh-TW" sz="2400" b="0" i="1" baseline="-25000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𝑥𝑦</m:t>
                            </m:r>
                          </m:e>
                        </m:rad>
                      </m:den>
                    </m:f>
                  </m:oMath>
                </a14:m>
                <a:r>
                  <a:rPr lang="zh-TW" altLang="en-US" sz="2400">
                    <a:sym typeface="Symbol" panose="05050102010706020507" pitchFamily="18" charset="2"/>
                  </a:rPr>
                  <a:t> </a:t>
                </a:r>
                <a:r>
                  <a:rPr lang="en-US" altLang="zh-TW" sz="2400">
                    <a:sym typeface="Symbol" panose="05050102010706020507" pitchFamily="18" charset="2"/>
                  </a:rPr>
                  <a:t>, correlaltion coefficient (</a:t>
                </a:r>
                <a:r>
                  <a:rPr lang="zh-TW" altLang="en-US" sz="2400">
                    <a:sym typeface="Symbol" panose="05050102010706020507" pitchFamily="18" charset="2"/>
                  </a:rPr>
                  <a:t>相關係數</a:t>
                </a:r>
                <a:r>
                  <a:rPr lang="en-US" altLang="zh-TW" sz="2400">
                    <a:sym typeface="Symbol" panose="05050102010706020507" pitchFamily="18" charset="2"/>
                  </a:rPr>
                  <a:t>)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altLang="zh-TW" sz="2400"/>
                  <a:t>R</a:t>
                </a:r>
                <a:r>
                  <a:rPr lang="en-US" altLang="zh-TW" sz="2400" baseline="30000"/>
                  <a:t>2</a:t>
                </a:r>
                <a:r>
                  <a:rPr lang="en-US" altLang="zh-TW" sz="240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240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sub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zh-TW" altLang="en-US" sz="240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TW" sz="2400" b="0" i="1" baseline="-25000" smtClean="0">
                            <a:latin typeface="Cambria Math" panose="02040503050406030204" pitchFamily="18" charset="0"/>
                          </a:rPr>
                          <m:t>𝑥𝑥</m:t>
                        </m:r>
                        <m:r>
                          <a:rPr lang="zh-TW" altLang="en-US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TW" sz="2400" b="0" i="1" baseline="-25000" smtClean="0">
                            <a:latin typeface="Cambria Math" panose="02040503050406030204" pitchFamily="18" charset="0"/>
                          </a:rPr>
                          <m:t>𝑦𝑦</m:t>
                        </m:r>
                      </m:den>
                    </m:f>
                  </m:oMath>
                </a14:m>
                <a:r>
                  <a:rPr lang="en-US" altLang="zh-TW" sz="2400"/>
                  <a:t> </a:t>
                </a:r>
                <a:endParaRPr lang="en-US" altLang="zh-TW" sz="2400" baseline="30000">
                  <a:sym typeface="Symbol" panose="05050102010706020507" pitchFamily="18" charset="2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altLang="zh-TW" sz="2400">
                  <a:sym typeface="Symbol" panose="05050102010706020507" pitchFamily="18" charset="2"/>
                </a:endParaRPr>
              </a:p>
              <a:p>
                <a:pPr lvl="1">
                  <a:lnSpc>
                    <a:spcPct val="110000"/>
                  </a:lnSpc>
                </a:pPr>
                <a:r>
                  <a:rPr lang="zh-TW" altLang="en-US" sz="2000"/>
                  <a:t>相關係數 </a:t>
                </a:r>
                <a:r>
                  <a:rPr lang="en-US" altLang="zh-TW" sz="2000">
                    <a:sym typeface="Symbol" panose="05050102010706020507" pitchFamily="18" charset="2"/>
                  </a:rPr>
                  <a:t></a:t>
                </a:r>
                <a:r>
                  <a:rPr lang="en-US" altLang="zh-TW" sz="2000"/>
                  <a:t> </a:t>
                </a:r>
                <a:r>
                  <a:rPr lang="zh-TW" altLang="en-US" sz="2000"/>
                  <a:t>值永遠在 </a:t>
                </a:r>
                <a:r>
                  <a:rPr lang="en-US" altLang="zh-TW" sz="2000"/>
                  <a:t>(-1 , +1) </a:t>
                </a:r>
                <a:r>
                  <a:rPr lang="zh-TW" altLang="en-US" sz="2000"/>
                  <a:t>之間，</a:t>
                </a:r>
                <a:r>
                  <a:rPr lang="en-US" altLang="zh-TW" sz="2000"/>
                  <a:t>0 </a:t>
                </a:r>
                <a:r>
                  <a:rPr lang="zh-TW" altLang="en-US" sz="2000"/>
                  <a:t>代表變數之間完全不相關，愈靠近 </a:t>
                </a:r>
                <a:r>
                  <a:rPr lang="en-US" altLang="zh-TW" sz="2000"/>
                  <a:t>0 </a:t>
                </a:r>
                <a:r>
                  <a:rPr lang="zh-TW" altLang="en-US" sz="2000"/>
                  <a:t>代表變數間呈愈弱的 直線相關性，當 </a:t>
                </a:r>
                <a:r>
                  <a:rPr lang="en-US" altLang="zh-TW" sz="2000">
                    <a:sym typeface="Symbol" panose="05050102010706020507" pitchFamily="18" charset="2"/>
                  </a:rPr>
                  <a:t></a:t>
                </a:r>
                <a:r>
                  <a:rPr lang="en-US" altLang="zh-TW" sz="2000"/>
                  <a:t> </a:t>
                </a:r>
                <a:r>
                  <a:rPr lang="zh-TW" altLang="en-US" sz="2000"/>
                  <a:t>愈接近 </a:t>
                </a:r>
                <a:r>
                  <a:rPr lang="en-US" altLang="zh-TW" sz="2000"/>
                  <a:t>-1 </a:t>
                </a:r>
                <a:r>
                  <a:rPr lang="zh-TW" altLang="en-US" sz="2000"/>
                  <a:t>或 </a:t>
                </a:r>
                <a:r>
                  <a:rPr lang="en-US" altLang="zh-TW" sz="2000"/>
                  <a:t>+1 </a:t>
                </a:r>
                <a:r>
                  <a:rPr lang="zh-TW" altLang="en-US" sz="2000"/>
                  <a:t>時，代表愈強的直線相 關</a:t>
                </a:r>
                <a:endParaRPr lang="en-US" altLang="zh-TW" sz="2000"/>
              </a:p>
              <a:p>
                <a:pPr lvl="1">
                  <a:lnSpc>
                    <a:spcPct val="110000"/>
                  </a:lnSpc>
                </a:pPr>
                <a:r>
                  <a:rPr lang="zh-TW" altLang="en-US" sz="2000"/>
                  <a:t>相關係數會受到少數離群值的嚴重影響</a:t>
                </a:r>
                <a:endParaRPr lang="en-US" altLang="zh-TW" sz="200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5E91F1A-252E-4003-BD99-CB40946605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9410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228873-B5BE-4F6F-AB9E-DAEA5E589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評估模型效能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4A2B0C7-223D-43F2-8DF8-9C6245A30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將資料集分成「訓練資料子集」與「測試資料子集」</a:t>
            </a:r>
            <a:endParaRPr lang="en-US" altLang="zh-TW"/>
          </a:p>
          <a:p>
            <a:pPr lvl="1"/>
            <a:r>
              <a:rPr lang="zh-TW" altLang="en-US"/>
              <a:t>「訓練資料子集」用於訓練模型，產生模型參數</a:t>
            </a:r>
            <a:endParaRPr lang="en-US" altLang="zh-TW"/>
          </a:p>
          <a:p>
            <a:pPr lvl="1"/>
            <a:r>
              <a:rPr lang="zh-TW" altLang="en-US"/>
              <a:t>「測試資料子集」用於評估模型優劣</a:t>
            </a:r>
            <a:r>
              <a:rPr lang="en-US" altLang="zh-TW"/>
              <a:t>(</a:t>
            </a:r>
            <a:r>
              <a:rPr lang="zh-TW" altLang="en-US"/>
              <a:t>依據效能指標</a:t>
            </a:r>
            <a:r>
              <a:rPr lang="en-US" altLang="zh-TW"/>
              <a:t>)</a:t>
            </a:r>
          </a:p>
          <a:p>
            <a:r>
              <a:rPr lang="zh-TW" altLang="en-US"/>
              <a:t>依據測試效能指標比較模型</a:t>
            </a:r>
            <a:r>
              <a:rPr lang="en-US" altLang="zh-TW"/>
              <a:t>(</a:t>
            </a:r>
            <a:r>
              <a:rPr lang="zh-TW" altLang="en-US"/>
              <a:t>不同的參數</a:t>
            </a:r>
            <a:r>
              <a:rPr lang="en-US" altLang="zh-TW"/>
              <a:t>)</a:t>
            </a:r>
            <a:r>
              <a:rPr lang="zh-TW" altLang="en-US"/>
              <a:t>，如果訓練效能指標佳，但測試效能指標差，可能產生「過擬」</a:t>
            </a:r>
            <a:r>
              <a:rPr lang="en-US" altLang="zh-TW"/>
              <a:t>(overfitting)</a:t>
            </a:r>
            <a:r>
              <a:rPr lang="zh-TW" altLang="en-US"/>
              <a:t>問題</a:t>
            </a:r>
          </a:p>
        </p:txBody>
      </p:sp>
    </p:spTree>
    <p:extLst>
      <p:ext uri="{BB962C8B-B14F-4D97-AF65-F5344CB8AC3E}">
        <p14:creationId xmlns:p14="http://schemas.microsoft.com/office/powerpoint/2010/main" val="3408849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D09AE9-9CF3-40A8-BBB5-0AC62FD38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/>
              <a:t>Model overfitting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C2CB294-6BFE-461F-BD53-11F79DAC6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i="0">
                <a:solidFill>
                  <a:srgbClr val="273239"/>
                </a:solidFill>
                <a:effectLst/>
                <a:latin typeface="Nunito" pitchFamily="2" charset="0"/>
              </a:rPr>
              <a:t>當模型對於訓練資料「過分適配」造成對於新資料的預測效能不佳，此為 </a:t>
            </a:r>
            <a:r>
              <a:rPr lang="en-US" altLang="zh-TW" i="0">
                <a:solidFill>
                  <a:srgbClr val="C00000"/>
                </a:solidFill>
                <a:effectLst/>
                <a:latin typeface="Nunito" pitchFamily="2" charset="0"/>
              </a:rPr>
              <a:t>overfitting</a:t>
            </a:r>
            <a:r>
              <a:rPr lang="zh-TW" altLang="en-US" i="0">
                <a:solidFill>
                  <a:srgbClr val="273239"/>
                </a:solidFill>
                <a:effectLst/>
                <a:latin typeface="Nunito" pitchFamily="2" charset="0"/>
              </a:rPr>
              <a:t>現象</a:t>
            </a:r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F68442F-A657-4A09-B5E7-91DC6DE3F16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9291"/>
          <a:stretch/>
        </p:blipFill>
        <p:spPr>
          <a:xfrm>
            <a:off x="475134" y="2854452"/>
            <a:ext cx="10878666" cy="3638423"/>
          </a:xfrm>
          <a:prstGeom prst="rect">
            <a:avLst/>
          </a:prstGeom>
        </p:spPr>
      </p:pic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0DCE869-D970-44C5-9DF3-F725C6362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FC314-30C4-4EF1-AAA6-E2A33E2068FD}" type="datetime1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C8EA4C1-7359-49B1-8D1F-A5C2DA358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00FC-685B-4B17-90E8-D67F5DCF7935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4699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97014A-6603-40CA-AE17-F5A1905D3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/>
              <a:t>Regularization </a:t>
            </a:r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4DC3B90-A0E3-4A3D-8425-DCB196AA31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n-US" altLang="zh-TW"/>
                  <a:t>Regularization </a:t>
                </a:r>
                <a:r>
                  <a:rPr lang="zh-TW" altLang="en-US"/>
                  <a:t>用於防範</a:t>
                </a:r>
                <a:r>
                  <a:rPr lang="en-US" altLang="zh-TW"/>
                  <a:t>overfitting</a:t>
                </a:r>
                <a:r>
                  <a:rPr lang="zh-TW" altLang="en-US"/>
                  <a:t>，簡言之就是「模型中加入懲罰項目」使模型不要過於複雜，保持較簡單通用的型態</a:t>
                </a:r>
                <a:endParaRPr lang="en-US" altLang="zh-TW"/>
              </a:p>
              <a:p>
                <a:pPr>
                  <a:lnSpc>
                    <a:spcPct val="110000"/>
                  </a:lnSpc>
                </a:pPr>
                <a:r>
                  <a:rPr lang="en-US" altLang="zh-TW"/>
                  <a:t>Regulation</a:t>
                </a:r>
                <a:r>
                  <a:rPr lang="zh-TW" altLang="en-US"/>
                  <a:t>的方法有三</a:t>
                </a:r>
                <a:endParaRPr lang="en-US" altLang="zh-TW"/>
              </a:p>
              <a:p>
                <a:pPr lvl="1">
                  <a:lnSpc>
                    <a:spcPct val="110000"/>
                  </a:lnSpc>
                </a:pPr>
                <a:r>
                  <a:rPr lang="en-US" altLang="zh-TW"/>
                  <a:t>Lasso Regulation (L1 Regularizaiton)</a:t>
                </a:r>
              </a:p>
              <a:p>
                <a:pPr marL="457200" lvl="1" indent="0">
                  <a:lnSpc>
                    <a:spcPct val="110000"/>
                  </a:lnSpc>
                  <a:buNone/>
                </a:pPr>
                <a:r>
                  <a:rPr lang="en-US" altLang="zh-TW" i="1">
                    <a:solidFill>
                      <a:srgbClr val="C00000"/>
                    </a:solidFill>
                  </a:rPr>
                  <a:t>	L(W)</a:t>
                </a:r>
                <a:r>
                  <a:rPr lang="en-US" altLang="zh-TW">
                    <a:solidFill>
                      <a:srgbClr val="C00000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p>
                      <m:e>
                        <m:d>
                          <m:dPr>
                            <m:ctrlPr>
                              <a:rPr lang="en-US" altLang="zh-TW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altLang="zh-TW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  <m:r>
                              <a:rPr lang="en-US" altLang="zh-TW" b="1" i="1" baseline="-2500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altLang="zh-TW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𝒚𝒊</m:t>
                            </m:r>
                          </m:e>
                        </m:d>
                        <m:r>
                          <a:rPr lang="en-US" altLang="zh-TW" b="1" i="1" baseline="3000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nary>
                  </m:oMath>
                </a14:m>
                <a:r>
                  <a:rPr lang="en-US" altLang="zh-TW">
                    <a:solidFill>
                      <a:srgbClr val="C00000"/>
                    </a:solidFill>
                  </a:rPr>
                  <a:t>+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𝝀</m:t>
                    </m:r>
                    <m:nary>
                      <m:naryPr>
                        <m:chr m:val="∑"/>
                        <m:ctrlPr>
                          <a:rPr lang="zh-TW" alt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p>
                      <m:e>
                        <m: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𝒘𝒊</m:t>
                        </m:r>
                        <m: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</m:oMath>
                </a14:m>
                <a:endParaRPr lang="en-US" altLang="zh-TW"/>
              </a:p>
              <a:p>
                <a:pPr lvl="1">
                  <a:lnSpc>
                    <a:spcPct val="110000"/>
                  </a:lnSpc>
                </a:pPr>
                <a:r>
                  <a:rPr lang="en-US" altLang="zh-TW"/>
                  <a:t>Ridge Regulation (L2 Regularizaiton)</a:t>
                </a:r>
              </a:p>
              <a:p>
                <a:pPr marL="457200" lvl="1" indent="0">
                  <a:lnSpc>
                    <a:spcPct val="110000"/>
                  </a:lnSpc>
                  <a:buNone/>
                </a:pPr>
                <a:r>
                  <a:rPr lang="en-US" altLang="zh-TW" i="1">
                    <a:solidFill>
                      <a:schemeClr val="tx1"/>
                    </a:solidFill>
                  </a:rPr>
                  <a:t>	</a:t>
                </a:r>
                <a:r>
                  <a:rPr lang="en-US" altLang="zh-TW" i="1">
                    <a:solidFill>
                      <a:srgbClr val="C00000"/>
                    </a:solidFill>
                  </a:rPr>
                  <a:t>L(W)</a:t>
                </a:r>
                <a:r>
                  <a:rPr lang="en-US" altLang="zh-TW">
                    <a:solidFill>
                      <a:srgbClr val="C00000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p>
                      <m:e>
                        <m:d>
                          <m:dPr>
                            <m:ctrlPr>
                              <a:rPr lang="en-US" altLang="zh-TW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altLang="zh-TW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  <m:r>
                              <a:rPr lang="en-US" altLang="zh-TW" b="1" i="1" baseline="-2500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altLang="zh-TW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𝒚𝒊</m:t>
                            </m:r>
                          </m:e>
                        </m:d>
                        <m:r>
                          <a:rPr lang="en-US" altLang="zh-TW" b="1" i="1" baseline="3000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nary>
                  </m:oMath>
                </a14:m>
                <a:r>
                  <a:rPr lang="en-US" altLang="zh-TW">
                    <a:solidFill>
                      <a:srgbClr val="C00000"/>
                    </a:solidFill>
                  </a:rPr>
                  <a:t>+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𝝀</m:t>
                    </m:r>
                    <m:nary>
                      <m:naryPr>
                        <m:chr m:val="∑"/>
                        <m:ctrlPr>
                          <a:rPr lang="zh-TW" alt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p>
                      <m:e>
                        <m:sSup>
                          <m:sSupPr>
                            <m:ctrlPr>
                              <a:rPr lang="en-US" altLang="zh-TW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  <m:r>
                              <a:rPr lang="en-US" altLang="zh-TW" b="1" i="1" baseline="-2500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p>
                            <m:r>
                              <a:rPr lang="en-US" altLang="zh-TW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nary>
                  </m:oMath>
                </a14:m>
                <a:endParaRPr lang="en-US" altLang="zh-TW"/>
              </a:p>
              <a:p>
                <a:pPr lvl="1">
                  <a:lnSpc>
                    <a:spcPct val="110000"/>
                  </a:lnSpc>
                </a:pPr>
                <a:r>
                  <a:rPr lang="en-US" altLang="zh-TW"/>
                  <a:t>Elastic Net Regulation (</a:t>
                </a:r>
                <a:r>
                  <a:rPr lang="zh-TW" altLang="en-US"/>
                  <a:t>結合 </a:t>
                </a:r>
                <a:r>
                  <a:rPr lang="en-US" altLang="zh-TW"/>
                  <a:t>L1</a:t>
                </a:r>
                <a:r>
                  <a:rPr lang="zh-TW" altLang="en-US"/>
                  <a:t>及</a:t>
                </a:r>
                <a:r>
                  <a:rPr lang="en-US" altLang="zh-TW"/>
                  <a:t>L2)</a:t>
                </a:r>
              </a:p>
              <a:p>
                <a:pPr marL="457200" lvl="1" indent="0">
                  <a:lnSpc>
                    <a:spcPct val="110000"/>
                  </a:lnSpc>
                  <a:buNone/>
                </a:pPr>
                <a:r>
                  <a:rPr lang="en-US" altLang="zh-TW" i="1">
                    <a:solidFill>
                      <a:srgbClr val="C00000"/>
                    </a:solidFill>
                  </a:rPr>
                  <a:t>	L(W)</a:t>
                </a:r>
                <a:r>
                  <a:rPr lang="en-US" altLang="zh-TW">
                    <a:solidFill>
                      <a:srgbClr val="C00000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p>
                      <m:e>
                        <m:d>
                          <m:dPr>
                            <m:ctrlPr>
                              <a:rPr lang="en-US" altLang="zh-TW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altLang="zh-TW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  <m:r>
                              <a:rPr lang="en-US" altLang="zh-TW" b="1" i="1" baseline="-2500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altLang="zh-TW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𝒚𝒊</m:t>
                            </m:r>
                          </m:e>
                        </m:d>
                        <m:r>
                          <a:rPr lang="en-US" altLang="zh-TW" b="1" i="1" baseline="3000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nary>
                  </m:oMath>
                </a14:m>
                <a:r>
                  <a:rPr lang="en-US" altLang="zh-TW">
                    <a:solidFill>
                      <a:srgbClr val="C00000"/>
                    </a:solidFill>
                  </a:rPr>
                  <a:t>+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zh-TW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zh-TW" alt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𝜶</m:t>
                    </m:r>
                    <m:nary>
                      <m:naryPr>
                        <m:chr m:val="∑"/>
                        <m:ctrlPr>
                          <a:rPr lang="zh-TW" alt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p>
                      <m:e>
                        <m:sSup>
                          <m:sSupPr>
                            <m:ctrlPr>
                              <a:rPr lang="en-US" altLang="zh-TW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  <m:r>
                              <a:rPr lang="en-US" altLang="zh-TW" b="1" i="1" baseline="-2500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p>
                            <m:r>
                              <a:rPr lang="en-US" altLang="zh-TW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+(</m:t>
                        </m:r>
                        <m: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TW" alt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𝜶</m:t>
                        </m:r>
                        <m:r>
                          <a:rPr lang="en-US" altLang="zh-TW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zh-TW" altLang="en-US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zh-TW" alt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TW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TW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p>
                      <m:e>
                        <m:r>
                          <a:rPr lang="en-US" altLang="zh-TW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𝒘𝒊</m:t>
                        </m:r>
                        <m:r>
                          <a:rPr lang="en-US" altLang="zh-TW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  <m:r>
                      <a:rPr lang="en-US" altLang="zh-TW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zh-TW" altLang="en-US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4DC3B90-A0E3-4A3D-8425-DCB196AA31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401" r="-30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1B73C5A7-D065-47E8-BABA-B5357AED5592}"/>
                  </a:ext>
                </a:extLst>
              </p:cNvPr>
              <p:cNvSpPr txBox="1"/>
              <p:nvPr/>
            </p:nvSpPr>
            <p:spPr>
              <a:xfrm>
                <a:off x="6096000" y="3584722"/>
                <a:ext cx="5965095" cy="160043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400"/>
                  <a:t>N = number of examples</a:t>
                </a:r>
              </a:p>
              <a:p>
                <a:r>
                  <a:rPr lang="en-US" altLang="zh-TW" sz="1400"/>
                  <a:t>m = number of features</a:t>
                </a:r>
              </a:p>
              <a:p>
                <a:r>
                  <a:rPr lang="en-US" altLang="zh-TW" sz="1400"/>
                  <a:t>y</a:t>
                </a:r>
                <a:r>
                  <a:rPr lang="en-US" altLang="zh-TW" sz="1400" baseline="-25000"/>
                  <a:t>i</a:t>
                </a:r>
                <a:r>
                  <a:rPr lang="en-US" altLang="zh-TW" sz="1400"/>
                  <a:t> = actual target value for the i-th example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TW" altLang="en-US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zh-TW" sz="1400" b="0" i="1" baseline="-2500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𝑝𝑟𝑒𝑑𝑖𝑐𝑡𝑒𝑑</m:t>
                      </m:r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𝑡𝑎𝑟𝑔𝑒𝑡</m:t>
                      </m:r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𝑣𝑎𝑙𝑢𝑒</m:t>
                      </m:r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𝑡h</m:t>
                      </m:r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𝑒𝑥𝑎𝑚𝑝𝑙𝑒</m:t>
                      </m:r>
                    </m:oMath>
                  </m:oMathPara>
                </a14:m>
                <a:endParaRPr lang="en-US" altLang="zh-TW" sz="1400" b="0"/>
              </a:p>
              <a:p>
                <a:r>
                  <a:rPr lang="en-US" altLang="zh-TW" sz="1400"/>
                  <a:t>w</a:t>
                </a:r>
                <a:r>
                  <a:rPr lang="en-US" altLang="zh-TW" sz="1400" baseline="-25000"/>
                  <a:t>i</a:t>
                </a:r>
                <a:r>
                  <a:rPr lang="en-US" altLang="zh-TW" sz="1400"/>
                  <a:t> = coefficients of the features</a:t>
                </a:r>
              </a:p>
              <a:p>
                <a:r>
                  <a:rPr lang="en-US" altLang="zh-TW" sz="1400" b="0" i="0">
                    <a:solidFill>
                      <a:srgbClr val="273239"/>
                    </a:solidFill>
                    <a:effectLst/>
                    <a:latin typeface="Nunito" pitchFamily="2" charset="0"/>
                  </a:rPr>
                  <a:t>λ = Regularization parameter that controls the strength of regularization</a:t>
                </a:r>
              </a:p>
              <a:p>
                <a:r>
                  <a:rPr lang="en-US" altLang="zh-TW" sz="1400" b="0" i="0">
                    <a:solidFill>
                      <a:srgbClr val="273239"/>
                    </a:solidFill>
                    <a:effectLst/>
                    <a:latin typeface="Nunito" pitchFamily="2" charset="0"/>
                  </a:rPr>
                  <a:t>α = Mixing parameter (where 0 ≤ α ≤ 1 )</a:t>
                </a:r>
                <a:endParaRPr lang="zh-TW" altLang="en-US" sz="1400"/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1B73C5A7-D065-47E8-BABA-B5357AED55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584722"/>
                <a:ext cx="5965095" cy="1600438"/>
              </a:xfrm>
              <a:prstGeom prst="rect">
                <a:avLst/>
              </a:prstGeom>
              <a:blipFill>
                <a:blip r:embed="rId3"/>
                <a:stretch>
                  <a:fillRect l="-204" t="-377" b="-3019"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BFFE376-8D87-4BFC-9890-227C844F7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93F9D-A30D-436D-839D-54E4791BE025}" type="datetime1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BB9A3CF-4917-4DD3-A444-B97A9C83E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00FC-685B-4B17-90E8-D67F5DCF7935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49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8AD076-9095-4DC3-8F71-40D0BC67B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/>
              <a:t>使用 </a:t>
            </a:r>
            <a:r>
              <a:rPr lang="en-US" altLang="zh-TW"/>
              <a:t>sklearn </a:t>
            </a:r>
            <a:r>
              <a:rPr lang="zh-TW" altLang="en-US"/>
              <a:t>實作線性回歸預測模型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D6C6AB2-7FAC-4238-B80C-D3868E98F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TW" altLang="en-US" sz="2000"/>
              <a:t>蒐集與準備資料</a:t>
            </a:r>
            <a:endParaRPr lang="en-US" altLang="zh-TW" sz="2000"/>
          </a:p>
          <a:p>
            <a:pPr lvl="1"/>
            <a:r>
              <a:rPr lang="zh-TW" altLang="en-US" sz="2000">
                <a:solidFill>
                  <a:schemeClr val="tx1"/>
                </a:solidFill>
              </a:rPr>
              <a:t>資料清理</a:t>
            </a:r>
            <a:endParaRPr lang="en-US" altLang="zh-TW" sz="2000">
              <a:solidFill>
                <a:schemeClr val="tx1"/>
              </a:solidFill>
            </a:endParaRPr>
          </a:p>
          <a:p>
            <a:pPr lvl="2"/>
            <a:r>
              <a:rPr lang="zh-TW" altLang="en-US" b="1">
                <a:solidFill>
                  <a:srgbClr val="3333FF"/>
                </a:solidFill>
              </a:rPr>
              <a:t>使用 </a:t>
            </a:r>
            <a:r>
              <a:rPr lang="en-US" altLang="zh-TW" b="1">
                <a:solidFill>
                  <a:srgbClr val="3333FF"/>
                </a:solidFill>
              </a:rPr>
              <a:t>pandas (</a:t>
            </a:r>
            <a:r>
              <a:rPr lang="zh-TW" altLang="en-US" b="1">
                <a:solidFill>
                  <a:srgbClr val="3333FF"/>
                </a:solidFill>
              </a:rPr>
              <a:t>清理雜訊、資料格式、遺失值</a:t>
            </a:r>
            <a:r>
              <a:rPr lang="en-US" altLang="zh-TW" b="1">
                <a:solidFill>
                  <a:srgbClr val="3333FF"/>
                </a:solidFill>
              </a:rPr>
              <a:t>…)</a:t>
            </a:r>
          </a:p>
          <a:p>
            <a:pPr lvl="1"/>
            <a:r>
              <a:rPr lang="zh-TW" altLang="en-US" sz="2000"/>
              <a:t>資料轉換</a:t>
            </a:r>
            <a:endParaRPr lang="en-US" altLang="zh-TW" sz="2000"/>
          </a:p>
          <a:p>
            <a:pPr lvl="2"/>
            <a:r>
              <a:rPr lang="zh-TW" altLang="en-US" b="1">
                <a:solidFill>
                  <a:srgbClr val="3333FF"/>
                </a:solidFill>
              </a:rPr>
              <a:t>數值正規化 </a:t>
            </a:r>
            <a:r>
              <a:rPr lang="en-US" altLang="zh-TW" b="1">
                <a:solidFill>
                  <a:srgbClr val="3333FF"/>
                </a:solidFill>
              </a:rPr>
              <a:t>StandardScaler()</a:t>
            </a:r>
          </a:p>
          <a:p>
            <a:pPr lvl="2"/>
            <a:r>
              <a:rPr lang="zh-TW" altLang="en-US" b="1">
                <a:solidFill>
                  <a:srgbClr val="3333FF"/>
                </a:solidFill>
              </a:rPr>
              <a:t>類別變數編碼</a:t>
            </a:r>
            <a:endParaRPr lang="en-US" altLang="zh-TW" b="1">
              <a:solidFill>
                <a:srgbClr val="3333FF"/>
              </a:solidFill>
            </a:endParaRPr>
          </a:p>
          <a:p>
            <a:pPr lvl="1"/>
            <a:r>
              <a:rPr lang="zh-TW" altLang="en-US" sz="2000">
                <a:solidFill>
                  <a:schemeClr val="tx1"/>
                </a:solidFill>
              </a:rPr>
              <a:t>分割訓練與驗證資料</a:t>
            </a:r>
            <a:endParaRPr lang="en-US" altLang="zh-TW" sz="2000">
              <a:solidFill>
                <a:schemeClr val="tx1"/>
              </a:solidFill>
            </a:endParaRPr>
          </a:p>
          <a:p>
            <a:pPr lvl="2"/>
            <a:r>
              <a:rPr lang="en-US" altLang="zh-TW" b="1" i="0">
                <a:solidFill>
                  <a:srgbClr val="3333FF"/>
                </a:solidFill>
                <a:effectLst/>
                <a:latin typeface="JetBrainsMonoNL"/>
              </a:rPr>
              <a:t>X_train, X_test, y_train, y_test = train_test_split(X, y, test_size=0.2, random_state=42)</a:t>
            </a:r>
          </a:p>
          <a:p>
            <a:r>
              <a:rPr lang="zh-TW" altLang="en-US" sz="2000"/>
              <a:t>訓練線性回歸模型</a:t>
            </a:r>
            <a:endParaRPr lang="en-US" altLang="zh-TW" sz="2000"/>
          </a:p>
          <a:p>
            <a:pPr lvl="1"/>
            <a:r>
              <a:rPr lang="en-US" altLang="zh-TW" sz="2000"/>
              <a:t>model = LinearRegression()</a:t>
            </a:r>
          </a:p>
          <a:p>
            <a:pPr lvl="1"/>
            <a:r>
              <a:rPr lang="en-US" altLang="zh-TW" sz="2000"/>
              <a:t>modle.fit(x_train, y_train)</a:t>
            </a:r>
          </a:p>
          <a:p>
            <a:r>
              <a:rPr lang="zh-TW" altLang="en-US" sz="2000"/>
              <a:t>預測新案例</a:t>
            </a:r>
            <a:endParaRPr lang="en-US" altLang="zh-TW" sz="2000"/>
          </a:p>
          <a:p>
            <a:pPr lvl="1"/>
            <a:r>
              <a:rPr lang="en-US" altLang="zh-TW" sz="2000"/>
              <a:t>model.predict(X_test_scaled)</a:t>
            </a:r>
            <a:endParaRPr lang="zh-TW" altLang="en-US" sz="200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1E5B848-E50C-489A-B8ED-0C3F7DE27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B3AD3-9ECB-487B-A999-39184535F882}" type="datetime1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9858001-D5CB-4A80-BD08-45A13B029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00FC-685B-4B17-90E8-D67F5DCF7935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2754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377694-E756-4DE2-9EED-37F0576B2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/>
              <a:t>Sklearn </a:t>
            </a:r>
            <a:r>
              <a:rPr lang="zh-TW" altLang="en-US"/>
              <a:t>方法支持</a:t>
            </a:r>
            <a:r>
              <a:rPr lang="en-US" altLang="zh-TW"/>
              <a:t>Linear regression</a:t>
            </a:r>
            <a:r>
              <a:rPr lang="zh-TW" altLang="en-US"/>
              <a:t>實作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FD143E-6350-4EFF-9FB7-0BF8583DF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/>
              <a:t>from </a:t>
            </a:r>
            <a:r>
              <a:rPr lang="en-US" altLang="zh-TW" b="1">
                <a:solidFill>
                  <a:srgbClr val="0070C0"/>
                </a:solidFill>
              </a:rPr>
              <a:t>sklearn</a:t>
            </a:r>
            <a:r>
              <a:rPr lang="en-US" altLang="zh-TW"/>
              <a:t> import </a:t>
            </a:r>
            <a:r>
              <a:rPr lang="en-US" altLang="zh-TW" b="1">
                <a:solidFill>
                  <a:srgbClr val="C00000"/>
                </a:solidFill>
              </a:rPr>
              <a:t>linear_model</a:t>
            </a:r>
          </a:p>
          <a:p>
            <a:r>
              <a:rPr lang="en-US" altLang="zh-TW"/>
              <a:t>from </a:t>
            </a:r>
            <a:r>
              <a:rPr lang="en-US" altLang="zh-TW">
                <a:solidFill>
                  <a:srgbClr val="0070C0"/>
                </a:solidFill>
              </a:rPr>
              <a:t>sklearn.model_selection </a:t>
            </a:r>
            <a:r>
              <a:rPr lang="en-US" altLang="zh-TW"/>
              <a:t>import </a:t>
            </a:r>
            <a:r>
              <a:rPr lang="en-US" altLang="zh-TW" b="1">
                <a:solidFill>
                  <a:srgbClr val="C00000"/>
                </a:solidFill>
              </a:rPr>
              <a:t>train_test_split</a:t>
            </a:r>
          </a:p>
          <a:p>
            <a:pPr lvl="1"/>
            <a:r>
              <a:rPr lang="en-US" altLang="zh-TW"/>
              <a:t>X_train, X_test, y_train, y_test = </a:t>
            </a:r>
            <a:r>
              <a:rPr lang="en-US" altLang="zh-TW">
                <a:solidFill>
                  <a:srgbClr val="C00000"/>
                </a:solidFill>
              </a:rPr>
              <a:t>train_test_split</a:t>
            </a:r>
            <a:r>
              <a:rPr lang="en-US" altLang="zh-TW"/>
              <a:t>(X, y, ...: </a:t>
            </a:r>
            <a:r>
              <a:rPr lang="en-US" altLang="zh-TW" b="1"/>
              <a:t>test_siz</a:t>
            </a:r>
            <a:r>
              <a:rPr lang="en-US" altLang="zh-TW"/>
              <a:t>e = 0.3, </a:t>
            </a:r>
            <a:r>
              <a:rPr lang="en-US" altLang="zh-TW" b="1"/>
              <a:t>random_state</a:t>
            </a:r>
            <a:r>
              <a:rPr lang="en-US" altLang="zh-TW"/>
              <a:t>=42)</a:t>
            </a:r>
          </a:p>
          <a:p>
            <a:r>
              <a:rPr lang="en-US" altLang="zh-TW" b="1">
                <a:solidFill>
                  <a:srgbClr val="00B050"/>
                </a:solidFill>
              </a:rPr>
              <a:t>lm</a:t>
            </a:r>
            <a:r>
              <a:rPr lang="en-US" altLang="zh-TW"/>
              <a:t> = linear_model.</a:t>
            </a:r>
            <a:r>
              <a:rPr lang="en-US" altLang="zh-TW" b="1">
                <a:solidFill>
                  <a:srgbClr val="C00000"/>
                </a:solidFill>
              </a:rPr>
              <a:t>LinearRegression()</a:t>
            </a:r>
          </a:p>
          <a:p>
            <a:r>
              <a:rPr lang="en-US" altLang="zh-TW">
                <a:solidFill>
                  <a:srgbClr val="00B050"/>
                </a:solidFill>
              </a:rPr>
              <a:t>lm</a:t>
            </a:r>
            <a:r>
              <a:rPr lang="en-US" altLang="zh-TW"/>
              <a:t>.</a:t>
            </a:r>
            <a:r>
              <a:rPr lang="en-US" altLang="zh-TW" b="1">
                <a:solidFill>
                  <a:srgbClr val="C00000"/>
                </a:solidFill>
              </a:rPr>
              <a:t>fit</a:t>
            </a:r>
            <a:r>
              <a:rPr lang="en-US" altLang="zh-TW"/>
              <a:t>(</a:t>
            </a:r>
            <a:r>
              <a:rPr lang="en-US" altLang="zh-TW">
                <a:solidFill>
                  <a:srgbClr val="7030A0"/>
                </a:solidFill>
              </a:rPr>
              <a:t>X_train</a:t>
            </a:r>
            <a:r>
              <a:rPr lang="en-US" altLang="zh-TW"/>
              <a:t>, </a:t>
            </a:r>
            <a:r>
              <a:rPr lang="en-US" altLang="zh-TW">
                <a:solidFill>
                  <a:srgbClr val="7030A0"/>
                </a:solidFill>
              </a:rPr>
              <a:t>y_train</a:t>
            </a:r>
            <a:r>
              <a:rPr lang="en-US" altLang="zh-TW"/>
              <a:t>)</a:t>
            </a:r>
          </a:p>
          <a:p>
            <a:r>
              <a:rPr lang="en-US" altLang="zh-TW"/>
              <a:t>y_pred = </a:t>
            </a:r>
            <a:r>
              <a:rPr lang="en-US" altLang="zh-TW">
                <a:solidFill>
                  <a:srgbClr val="00B050"/>
                </a:solidFill>
              </a:rPr>
              <a:t>lm</a:t>
            </a:r>
            <a:r>
              <a:rPr lang="en-US" altLang="zh-TW"/>
              <a:t>.</a:t>
            </a:r>
            <a:r>
              <a:rPr lang="en-US" altLang="zh-TW" b="1">
                <a:solidFill>
                  <a:srgbClr val="C00000"/>
                </a:solidFill>
              </a:rPr>
              <a:t>predict</a:t>
            </a:r>
            <a:r>
              <a:rPr lang="en-US" altLang="zh-TW"/>
              <a:t>(</a:t>
            </a:r>
            <a:r>
              <a:rPr lang="en-US" altLang="zh-TW">
                <a:solidFill>
                  <a:srgbClr val="00B0F0"/>
                </a:solidFill>
              </a:rPr>
              <a:t>X_test</a:t>
            </a:r>
            <a:r>
              <a:rPr lang="en-US" altLang="zh-TW"/>
              <a:t>)</a:t>
            </a:r>
          </a:p>
          <a:p>
            <a:r>
              <a:rPr lang="en-US" altLang="zh-TW">
                <a:solidFill>
                  <a:srgbClr val="00B050"/>
                </a:solidFill>
              </a:rPr>
              <a:t>lm</a:t>
            </a:r>
            <a:r>
              <a:rPr lang="en-US" altLang="zh-TW"/>
              <a:t>.</a:t>
            </a:r>
            <a:r>
              <a:rPr lang="en-US" altLang="zh-TW" b="1">
                <a:solidFill>
                  <a:srgbClr val="C00000"/>
                </a:solidFill>
              </a:rPr>
              <a:t>score</a:t>
            </a:r>
            <a:r>
              <a:rPr lang="en-US" altLang="zh-TW"/>
              <a:t>(</a:t>
            </a:r>
            <a:r>
              <a:rPr lang="en-US" altLang="zh-TW">
                <a:solidFill>
                  <a:srgbClr val="00B0F0"/>
                </a:solidFill>
              </a:rPr>
              <a:t>X_test</a:t>
            </a:r>
            <a:r>
              <a:rPr lang="en-US" altLang="zh-TW"/>
              <a:t>, </a:t>
            </a:r>
            <a:r>
              <a:rPr lang="en-US" altLang="zh-TW">
                <a:solidFill>
                  <a:srgbClr val="00B0F0"/>
                </a:solidFill>
              </a:rPr>
              <a:t>y_test</a:t>
            </a:r>
            <a:r>
              <a:rPr lang="en-US" altLang="zh-TW"/>
              <a:t>)</a:t>
            </a:r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905CAF7-9E87-4498-BA7C-192464305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5E090-1D5A-487F-B5A3-3BB16C547B32}" type="datetime1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8D941D3-3E34-4475-9E55-F9DFE4D17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00FC-685B-4B17-90E8-D67F5DCF7935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0484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1CC37F77-503F-4587-AD21-F11F01260E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/>
              <a:t>波士頓房價回歸預測實作</a:t>
            </a:r>
          </a:p>
        </p:txBody>
      </p:sp>
      <p:sp>
        <p:nvSpPr>
          <p:cNvPr id="5" name="副標題 4">
            <a:extLst>
              <a:ext uri="{FF2B5EF4-FFF2-40B4-BE49-F238E27FC236}">
                <a16:creationId xmlns:a16="http://schemas.microsoft.com/office/drawing/2014/main" id="{D4279638-43C2-418F-BC07-F58257CAB5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4364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FEB51-2B3A-4B7B-BB94-8AE0DDF2F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/>
              <a:t>Case study(</a:t>
            </a:r>
            <a:r>
              <a:rPr lang="zh-TW" altLang="en-US" sz="2800" i="0">
                <a:effectLst/>
                <a:latin typeface="Arial" panose="020B0604020202020204" pitchFamily="34" charset="0"/>
              </a:rPr>
              <a:t>波士頓房價數據集</a:t>
            </a:r>
            <a:r>
              <a:rPr lang="en-US" altLang="zh-TW" sz="4400" i="0">
                <a:effectLst/>
                <a:latin typeface="Arial" panose="020B0604020202020204" pitchFamily="34" charset="0"/>
              </a:rPr>
              <a:t>)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633BC3-2073-4EBA-8B5A-3BD4CE1C28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zh-TW" sz="2500" i="0">
                <a:solidFill>
                  <a:srgbClr val="252B3A"/>
                </a:solidFill>
                <a:effectLst/>
                <a:latin typeface="Arial" panose="020B0604020202020204" pitchFamily="34" charset="0"/>
              </a:rPr>
              <a:t>CRIM</a:t>
            </a:r>
            <a:r>
              <a:rPr lang="zh-TW" altLang="en-US" sz="2500" b="0" i="0">
                <a:solidFill>
                  <a:srgbClr val="252B3A"/>
                </a:solidFill>
                <a:effectLst/>
                <a:latin typeface="Arial" panose="020B0604020202020204" pitchFamily="34" charset="0"/>
              </a:rPr>
              <a:t>：城鎮人均犯罪率</a:t>
            </a:r>
          </a:p>
          <a:p>
            <a:pPr>
              <a:lnSpc>
                <a:spcPct val="120000"/>
              </a:lnSpc>
            </a:pPr>
            <a:r>
              <a:rPr lang="en-US" altLang="zh-TW" sz="2500" i="0">
                <a:solidFill>
                  <a:srgbClr val="252B3A"/>
                </a:solidFill>
                <a:effectLst/>
                <a:latin typeface="Arial" panose="020B0604020202020204" pitchFamily="34" charset="0"/>
              </a:rPr>
              <a:t>ZN</a:t>
            </a:r>
            <a:r>
              <a:rPr lang="zh-TW" altLang="en-US" sz="2500" b="0" i="0">
                <a:solidFill>
                  <a:srgbClr val="252B3A"/>
                </a:solidFill>
                <a:effectLst/>
                <a:latin typeface="Arial" panose="020B0604020202020204" pitchFamily="34" charset="0"/>
              </a:rPr>
              <a:t>：佔地面積超過</a:t>
            </a:r>
            <a:r>
              <a:rPr lang="en-US" altLang="zh-TW" sz="2500" b="0" i="0">
                <a:solidFill>
                  <a:srgbClr val="252B3A"/>
                </a:solidFill>
                <a:effectLst/>
                <a:latin typeface="Arial" panose="020B0604020202020204" pitchFamily="34" charset="0"/>
              </a:rPr>
              <a:t>25,000</a:t>
            </a:r>
            <a:r>
              <a:rPr lang="zh-TW" altLang="en-US" sz="2500" b="0" i="0">
                <a:solidFill>
                  <a:srgbClr val="252B3A"/>
                </a:solidFill>
                <a:effectLst/>
                <a:latin typeface="Arial" panose="020B0604020202020204" pitchFamily="34" charset="0"/>
              </a:rPr>
              <a:t>平方英尺的住宅用地比例</a:t>
            </a:r>
          </a:p>
          <a:p>
            <a:pPr>
              <a:lnSpc>
                <a:spcPct val="120000"/>
              </a:lnSpc>
            </a:pPr>
            <a:r>
              <a:rPr lang="en-US" altLang="zh-TW" sz="2500" i="0">
                <a:solidFill>
                  <a:srgbClr val="252B3A"/>
                </a:solidFill>
                <a:effectLst/>
                <a:latin typeface="Arial" panose="020B0604020202020204" pitchFamily="34" charset="0"/>
              </a:rPr>
              <a:t>INDUS</a:t>
            </a:r>
            <a:r>
              <a:rPr lang="zh-TW" altLang="en-US" sz="2500" b="0" i="0">
                <a:solidFill>
                  <a:srgbClr val="252B3A"/>
                </a:solidFill>
                <a:effectLst/>
                <a:latin typeface="Arial" panose="020B0604020202020204" pitchFamily="34" charset="0"/>
              </a:rPr>
              <a:t>：城鎮非零售業務地區的比例</a:t>
            </a:r>
          </a:p>
          <a:p>
            <a:pPr>
              <a:lnSpc>
                <a:spcPct val="120000"/>
              </a:lnSpc>
            </a:pPr>
            <a:r>
              <a:rPr lang="en-US" altLang="zh-TW" sz="2500" i="0">
                <a:solidFill>
                  <a:srgbClr val="252B3A"/>
                </a:solidFill>
                <a:effectLst/>
                <a:latin typeface="Arial" panose="020B0604020202020204" pitchFamily="34" charset="0"/>
              </a:rPr>
              <a:t>CHAS</a:t>
            </a:r>
            <a:r>
              <a:rPr lang="zh-TW" altLang="en-US" sz="2500" b="0" i="0">
                <a:solidFill>
                  <a:srgbClr val="252B3A"/>
                </a:solidFill>
                <a:effectLst/>
                <a:latin typeface="Arial" panose="020B0604020202020204" pitchFamily="34" charset="0"/>
              </a:rPr>
              <a:t>：查理斯河虛擬變數（如果臨河為</a:t>
            </a:r>
            <a:r>
              <a:rPr lang="en-US" altLang="zh-TW" sz="2500" b="0" i="0">
                <a:solidFill>
                  <a:srgbClr val="252B3A"/>
                </a:solidFill>
                <a:effectLst/>
                <a:latin typeface="Arial" panose="020B0604020202020204" pitchFamily="34" charset="0"/>
              </a:rPr>
              <a:t>1</a:t>
            </a:r>
            <a:r>
              <a:rPr lang="zh-TW" altLang="en-US" sz="2500" b="0" i="0">
                <a:solidFill>
                  <a:srgbClr val="252B3A"/>
                </a:solidFill>
                <a:effectLst/>
                <a:latin typeface="Arial" panose="020B0604020202020204" pitchFamily="34" charset="0"/>
              </a:rPr>
              <a:t>，否則為</a:t>
            </a:r>
            <a:r>
              <a:rPr lang="en-US" altLang="zh-TW" sz="2500" b="0" i="0">
                <a:solidFill>
                  <a:srgbClr val="252B3A"/>
                </a:solidFill>
                <a:effectLst/>
                <a:latin typeface="Arial" panose="020B0604020202020204" pitchFamily="34" charset="0"/>
              </a:rPr>
              <a:t>0</a:t>
            </a:r>
            <a:r>
              <a:rPr lang="zh-TW" altLang="en-US" sz="2500" b="0" i="0">
                <a:solidFill>
                  <a:srgbClr val="252B3A"/>
                </a:solidFill>
                <a:effectLst/>
                <a:latin typeface="Arial" panose="020B0604020202020204" pitchFamily="34" charset="0"/>
              </a:rPr>
              <a:t>）</a:t>
            </a:r>
          </a:p>
          <a:p>
            <a:pPr>
              <a:lnSpc>
                <a:spcPct val="120000"/>
              </a:lnSpc>
            </a:pPr>
            <a:r>
              <a:rPr lang="en-US" altLang="zh-TW" sz="2500" i="0">
                <a:solidFill>
                  <a:srgbClr val="252B3A"/>
                </a:solidFill>
                <a:effectLst/>
                <a:latin typeface="Arial" panose="020B0604020202020204" pitchFamily="34" charset="0"/>
              </a:rPr>
              <a:t>NOX</a:t>
            </a:r>
            <a:r>
              <a:rPr lang="zh-TW" altLang="en-US" sz="2500" b="0" i="0">
                <a:solidFill>
                  <a:srgbClr val="252B3A"/>
                </a:solidFill>
                <a:effectLst/>
                <a:latin typeface="Arial" panose="020B0604020202020204" pitchFamily="34" charset="0"/>
              </a:rPr>
              <a:t>：一氧化氮濃度（每千萬分之一）</a:t>
            </a:r>
          </a:p>
          <a:p>
            <a:pPr>
              <a:lnSpc>
                <a:spcPct val="120000"/>
              </a:lnSpc>
            </a:pPr>
            <a:r>
              <a:rPr lang="en-US" altLang="zh-TW" sz="2500" i="0">
                <a:solidFill>
                  <a:srgbClr val="252B3A"/>
                </a:solidFill>
                <a:effectLst/>
                <a:latin typeface="Arial" panose="020B0604020202020204" pitchFamily="34" charset="0"/>
              </a:rPr>
              <a:t>RM</a:t>
            </a:r>
            <a:r>
              <a:rPr lang="zh-TW" altLang="en-US" sz="2500" b="0" i="0">
                <a:solidFill>
                  <a:srgbClr val="252B3A"/>
                </a:solidFill>
                <a:effectLst/>
                <a:latin typeface="Arial" panose="020B0604020202020204" pitchFamily="34" charset="0"/>
              </a:rPr>
              <a:t>：住宅平均房間數</a:t>
            </a:r>
          </a:p>
          <a:p>
            <a:pPr>
              <a:lnSpc>
                <a:spcPct val="120000"/>
              </a:lnSpc>
            </a:pPr>
            <a:r>
              <a:rPr lang="en-US" altLang="zh-TW" sz="2500" i="0">
                <a:solidFill>
                  <a:srgbClr val="252B3A"/>
                </a:solidFill>
                <a:effectLst/>
                <a:latin typeface="Arial" panose="020B0604020202020204" pitchFamily="34" charset="0"/>
              </a:rPr>
              <a:t>AGE</a:t>
            </a:r>
            <a:r>
              <a:rPr lang="zh-TW" altLang="en-US" sz="2500" b="0" i="0">
                <a:solidFill>
                  <a:srgbClr val="252B3A"/>
                </a:solidFill>
                <a:effectLst/>
                <a:latin typeface="Arial" panose="020B0604020202020204" pitchFamily="34" charset="0"/>
              </a:rPr>
              <a:t>：</a:t>
            </a:r>
            <a:r>
              <a:rPr lang="en-US" altLang="zh-TW" sz="2500" b="0" i="0">
                <a:solidFill>
                  <a:srgbClr val="252B3A"/>
                </a:solidFill>
                <a:effectLst/>
                <a:latin typeface="Arial" panose="020B0604020202020204" pitchFamily="34" charset="0"/>
              </a:rPr>
              <a:t>1940</a:t>
            </a:r>
            <a:r>
              <a:rPr lang="zh-TW" altLang="en-US" sz="2500" b="0" i="0">
                <a:solidFill>
                  <a:srgbClr val="252B3A"/>
                </a:solidFill>
                <a:effectLst/>
                <a:latin typeface="Arial" panose="020B0604020202020204" pitchFamily="34" charset="0"/>
              </a:rPr>
              <a:t>年以前建成的自住單位比例</a:t>
            </a:r>
          </a:p>
          <a:p>
            <a:pPr lvl="1">
              <a:lnSpc>
                <a:spcPct val="120000"/>
              </a:lnSpc>
            </a:pPr>
            <a:endParaRPr lang="en-US" altLang="zh-TW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4E1CA32-93BC-4EAC-B06C-6FAFEC23EF6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zh-TW" sz="2400" i="0">
                <a:solidFill>
                  <a:srgbClr val="252B3A"/>
                </a:solidFill>
                <a:effectLst/>
                <a:latin typeface="Arial" panose="020B0604020202020204" pitchFamily="34" charset="0"/>
              </a:rPr>
              <a:t>DIS</a:t>
            </a:r>
            <a:r>
              <a:rPr lang="zh-TW" altLang="en-US" sz="2400" b="0" i="0">
                <a:solidFill>
                  <a:srgbClr val="252B3A"/>
                </a:solidFill>
                <a:effectLst/>
                <a:latin typeface="Arial" panose="020B0604020202020204" pitchFamily="34" charset="0"/>
              </a:rPr>
              <a:t>：到波士頓五個就業中心的加權距離</a:t>
            </a:r>
          </a:p>
          <a:p>
            <a:pPr>
              <a:lnSpc>
                <a:spcPct val="120000"/>
              </a:lnSpc>
            </a:pPr>
            <a:r>
              <a:rPr lang="en-US" altLang="zh-TW" sz="2400" i="0">
                <a:solidFill>
                  <a:srgbClr val="252B3A"/>
                </a:solidFill>
                <a:effectLst/>
                <a:latin typeface="Arial" panose="020B0604020202020204" pitchFamily="34" charset="0"/>
              </a:rPr>
              <a:t>RAD</a:t>
            </a:r>
            <a:r>
              <a:rPr lang="zh-TW" altLang="en-US" sz="2400" b="0" i="0">
                <a:solidFill>
                  <a:srgbClr val="252B3A"/>
                </a:solidFill>
                <a:effectLst/>
                <a:latin typeface="Arial" panose="020B0604020202020204" pitchFamily="34" charset="0"/>
              </a:rPr>
              <a:t>：徑向公路的可達性指數</a:t>
            </a:r>
          </a:p>
          <a:p>
            <a:pPr>
              <a:lnSpc>
                <a:spcPct val="120000"/>
              </a:lnSpc>
            </a:pPr>
            <a:r>
              <a:rPr lang="en-US" altLang="zh-TW" sz="2400" i="0">
                <a:solidFill>
                  <a:srgbClr val="252B3A"/>
                </a:solidFill>
                <a:effectLst/>
                <a:latin typeface="Arial" panose="020B0604020202020204" pitchFamily="34" charset="0"/>
              </a:rPr>
              <a:t>TAX</a:t>
            </a:r>
            <a:r>
              <a:rPr lang="zh-TW" altLang="en-US" sz="2400" b="0" i="0">
                <a:solidFill>
                  <a:srgbClr val="252B3A"/>
                </a:solidFill>
                <a:effectLst/>
                <a:latin typeface="Arial" panose="020B0604020202020204" pitchFamily="34" charset="0"/>
              </a:rPr>
              <a:t>：每</a:t>
            </a:r>
            <a:r>
              <a:rPr lang="en-US" altLang="zh-TW" sz="2400" b="0" i="0">
                <a:solidFill>
                  <a:srgbClr val="252B3A"/>
                </a:solidFill>
                <a:effectLst/>
                <a:latin typeface="Arial" panose="020B0604020202020204" pitchFamily="34" charset="0"/>
              </a:rPr>
              <a:t>10,000</a:t>
            </a:r>
            <a:r>
              <a:rPr lang="zh-TW" altLang="en-US" sz="2400" b="0" i="0">
                <a:solidFill>
                  <a:srgbClr val="252B3A"/>
                </a:solidFill>
                <a:effectLst/>
                <a:latin typeface="Arial" panose="020B0604020202020204" pitchFamily="34" charset="0"/>
              </a:rPr>
              <a:t>美元的全額物業稅率</a:t>
            </a:r>
          </a:p>
          <a:p>
            <a:pPr>
              <a:lnSpc>
                <a:spcPct val="120000"/>
              </a:lnSpc>
            </a:pPr>
            <a:r>
              <a:rPr lang="en-US" altLang="zh-TW" sz="2400" i="0">
                <a:solidFill>
                  <a:srgbClr val="252B3A"/>
                </a:solidFill>
                <a:effectLst/>
                <a:latin typeface="Arial" panose="020B0604020202020204" pitchFamily="34" charset="0"/>
              </a:rPr>
              <a:t>PTRATIO</a:t>
            </a:r>
            <a:r>
              <a:rPr lang="zh-TW" altLang="en-US" sz="2400" b="0" i="0">
                <a:solidFill>
                  <a:srgbClr val="252B3A"/>
                </a:solidFill>
                <a:effectLst/>
                <a:latin typeface="Arial" panose="020B0604020202020204" pitchFamily="34" charset="0"/>
              </a:rPr>
              <a:t>：城鎮師生比例</a:t>
            </a:r>
          </a:p>
          <a:p>
            <a:pPr>
              <a:lnSpc>
                <a:spcPct val="120000"/>
              </a:lnSpc>
            </a:pPr>
            <a:r>
              <a:rPr lang="en-US" altLang="zh-TW" sz="2400" i="0">
                <a:solidFill>
                  <a:srgbClr val="252B3A"/>
                </a:solidFill>
                <a:effectLst/>
                <a:latin typeface="Arial" panose="020B0604020202020204" pitchFamily="34" charset="0"/>
              </a:rPr>
              <a:t>B</a:t>
            </a:r>
            <a:r>
              <a:rPr lang="zh-TW" altLang="en-US" sz="2400" b="0" i="0">
                <a:solidFill>
                  <a:srgbClr val="252B3A"/>
                </a:solidFill>
                <a:effectLst/>
                <a:latin typeface="Arial" panose="020B0604020202020204" pitchFamily="34" charset="0"/>
              </a:rPr>
              <a:t>：</a:t>
            </a:r>
            <a:r>
              <a:rPr lang="en-US" altLang="zh-TW" sz="2400" b="0" i="0">
                <a:solidFill>
                  <a:srgbClr val="252B3A"/>
                </a:solidFill>
                <a:effectLst/>
                <a:latin typeface="Arial" panose="020B0604020202020204" pitchFamily="34" charset="0"/>
              </a:rPr>
              <a:t>1000</a:t>
            </a:r>
            <a:r>
              <a:rPr lang="zh-TW" altLang="en-US" sz="2400" b="0" i="0">
                <a:solidFill>
                  <a:srgbClr val="252B3A"/>
                </a:solidFill>
                <a:effectLst/>
                <a:latin typeface="Arial" panose="020B0604020202020204" pitchFamily="34" charset="0"/>
              </a:rPr>
              <a:t>（</a:t>
            </a:r>
            <a:r>
              <a:rPr lang="en-US" altLang="zh-TW" sz="2400" b="0" i="0">
                <a:solidFill>
                  <a:srgbClr val="252B3A"/>
                </a:solidFill>
                <a:effectLst/>
                <a:latin typeface="Arial" panose="020B0604020202020204" pitchFamily="34" charset="0"/>
              </a:rPr>
              <a:t>Bk - 0.63</a:t>
            </a:r>
            <a:r>
              <a:rPr lang="zh-TW" altLang="en-US" sz="2400" b="0" i="0">
                <a:solidFill>
                  <a:srgbClr val="252B3A"/>
                </a:solidFill>
                <a:effectLst/>
                <a:latin typeface="Arial" panose="020B0604020202020204" pitchFamily="34" charset="0"/>
              </a:rPr>
              <a:t>）</a:t>
            </a:r>
            <a:r>
              <a:rPr lang="en-US" altLang="zh-TW" sz="2400" b="0" i="0">
                <a:solidFill>
                  <a:srgbClr val="252B3A"/>
                </a:solidFill>
                <a:effectLst/>
                <a:latin typeface="Arial" panose="020B0604020202020204" pitchFamily="34" charset="0"/>
              </a:rPr>
              <a:t>^2</a:t>
            </a:r>
            <a:r>
              <a:rPr lang="zh-TW" altLang="en-US" sz="2400" b="0" i="0">
                <a:solidFill>
                  <a:srgbClr val="252B3A"/>
                </a:solidFill>
                <a:effectLst/>
                <a:latin typeface="Arial" panose="020B0604020202020204" pitchFamily="34" charset="0"/>
              </a:rPr>
              <a:t>，其中</a:t>
            </a:r>
            <a:r>
              <a:rPr lang="en-US" altLang="zh-TW" sz="2400" b="0" i="0">
                <a:solidFill>
                  <a:srgbClr val="252B3A"/>
                </a:solidFill>
                <a:effectLst/>
                <a:latin typeface="Arial" panose="020B0604020202020204" pitchFamily="34" charset="0"/>
              </a:rPr>
              <a:t>Bk</a:t>
            </a:r>
            <a:r>
              <a:rPr lang="zh-TW" altLang="en-US" sz="2400" b="0" i="0">
                <a:solidFill>
                  <a:srgbClr val="252B3A"/>
                </a:solidFill>
                <a:effectLst/>
                <a:latin typeface="Arial" panose="020B0604020202020204" pitchFamily="34" charset="0"/>
              </a:rPr>
              <a:t>是城鎮黑人比例</a:t>
            </a:r>
          </a:p>
          <a:p>
            <a:pPr>
              <a:lnSpc>
                <a:spcPct val="120000"/>
              </a:lnSpc>
            </a:pPr>
            <a:r>
              <a:rPr lang="en-US" altLang="zh-TW" sz="2400" i="0">
                <a:solidFill>
                  <a:srgbClr val="252B3A"/>
                </a:solidFill>
                <a:effectLst/>
                <a:latin typeface="Arial" panose="020B0604020202020204" pitchFamily="34" charset="0"/>
              </a:rPr>
              <a:t>LSTAT</a:t>
            </a:r>
            <a:r>
              <a:rPr lang="zh-TW" altLang="en-US" sz="2400" b="0" i="0">
                <a:solidFill>
                  <a:srgbClr val="252B3A"/>
                </a:solidFill>
                <a:effectLst/>
                <a:latin typeface="Arial" panose="020B0604020202020204" pitchFamily="34" charset="0"/>
              </a:rPr>
              <a:t>：人口中地位較低人群的百分比</a:t>
            </a:r>
          </a:p>
          <a:p>
            <a:pPr>
              <a:lnSpc>
                <a:spcPct val="120000"/>
              </a:lnSpc>
            </a:pPr>
            <a:r>
              <a:rPr lang="en-US" altLang="zh-TW" sz="2400" i="0">
                <a:solidFill>
                  <a:srgbClr val="252B3A"/>
                </a:solidFill>
                <a:effectLst/>
                <a:latin typeface="Arial" panose="020B0604020202020204" pitchFamily="34" charset="0"/>
              </a:rPr>
              <a:t>MEDV</a:t>
            </a:r>
            <a:r>
              <a:rPr lang="zh-TW" altLang="en-US" sz="2400" b="0" i="0">
                <a:solidFill>
                  <a:srgbClr val="252B3A"/>
                </a:solidFill>
                <a:effectLst/>
                <a:latin typeface="Arial" panose="020B0604020202020204" pitchFamily="34" charset="0"/>
              </a:rPr>
              <a:t>：自住房屋的中位數價值（單位：千美元）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A5E917A-093A-4093-9F85-C83BADF96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2C1D0-AE52-4EC8-ABC1-AFF7FC482665}" type="datetime1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B2153BB-17A3-486D-BD02-42E14563B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00FC-685B-4B17-90E8-D67F5DCF7935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9826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8133E31B-44EB-438A-AB05-29A2D4F4C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/>
              <a:t>資料初探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8C35809-FAD8-4DA4-A560-9B78BD1F8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了解資料欄位屬性意義</a:t>
            </a:r>
            <a:endParaRPr lang="en-US" altLang="zh-TW"/>
          </a:p>
          <a:p>
            <a:r>
              <a:rPr lang="zh-TW" altLang="en-US"/>
              <a:t>資料集維度大小</a:t>
            </a:r>
            <a:endParaRPr lang="en-US" altLang="zh-TW"/>
          </a:p>
          <a:p>
            <a:pPr lvl="1"/>
            <a:r>
              <a:rPr lang="en-US" altLang="zh-TW"/>
              <a:t>df.shape = (506, 14)</a:t>
            </a:r>
          </a:p>
          <a:p>
            <a:r>
              <a:rPr lang="zh-TW" altLang="en-US"/>
              <a:t>資料屬性資料型別</a:t>
            </a:r>
            <a:endParaRPr lang="en-US" altLang="zh-TW"/>
          </a:p>
          <a:p>
            <a:r>
              <a:rPr lang="zh-TW" altLang="en-US"/>
              <a:t>資料空值狀況</a:t>
            </a:r>
            <a:endParaRPr lang="en-US" altLang="zh-TW"/>
          </a:p>
          <a:p>
            <a:r>
              <a:rPr lang="zh-TW" altLang="en-US"/>
              <a:t>單一變數分布分析</a:t>
            </a:r>
            <a:endParaRPr lang="en-US" altLang="zh-TW"/>
          </a:p>
          <a:p>
            <a:r>
              <a:rPr lang="zh-TW" altLang="en-US"/>
              <a:t>屬性相關性分析</a:t>
            </a:r>
            <a:endParaRPr lang="en-US" altLang="zh-TW"/>
          </a:p>
          <a:p>
            <a:endParaRPr lang="en-US" altLang="zh-TW"/>
          </a:p>
          <a:p>
            <a:endParaRPr lang="en-US" altLang="zh-TW"/>
          </a:p>
          <a:p>
            <a:endParaRPr lang="zh-TW" altLang="en-US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FCD92FC-5F46-4D83-A9E8-FC1A73D44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753AE-7FAB-4D5E-B799-6A11D092143A}" type="datetime1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FD824CB-10AE-478C-B267-2E63BEB96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00FC-685B-4B17-90E8-D67F5DCF7935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9130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470FB3-CD6B-4C5E-A9C4-2FA455E27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/>
              <a:t>簡單回歸分析</a:t>
            </a:r>
            <a:r>
              <a:rPr lang="en-US" altLang="zh-TW" sz="4000"/>
              <a:t>: </a:t>
            </a:r>
            <a:r>
              <a:rPr lang="zh-TW" altLang="en-US" sz="4000"/>
              <a:t>平均房間數與房價迴歸分析</a:t>
            </a:r>
            <a:endParaRPr lang="en-US" altLang="zh-TW" sz="400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CB179F1-A853-4A16-9157-9BD260311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資料擷取</a:t>
            </a:r>
            <a:endParaRPr lang="en-US" altLang="zh-TW"/>
          </a:p>
          <a:p>
            <a:pPr lvl="1"/>
            <a:r>
              <a:rPr lang="en-US" altLang="zh-TW"/>
              <a:t>X</a:t>
            </a:r>
            <a:r>
              <a:rPr lang="zh-TW" altLang="en-US"/>
              <a:t> </a:t>
            </a:r>
            <a:r>
              <a:rPr lang="en-US" altLang="zh-TW"/>
              <a:t>= df[‘RM’]</a:t>
            </a:r>
          </a:p>
          <a:p>
            <a:pPr lvl="1"/>
            <a:r>
              <a:rPr lang="en-US" altLang="zh-TW"/>
              <a:t>y = df[‘MEDV’]</a:t>
            </a:r>
          </a:p>
          <a:p>
            <a:r>
              <a:rPr lang="zh-TW" altLang="en-US"/>
              <a:t>房間數與房價</a:t>
            </a:r>
            <a:r>
              <a:rPr lang="en-US" altLang="zh-TW"/>
              <a:t>scatter</a:t>
            </a:r>
            <a:r>
              <a:rPr lang="zh-TW" altLang="en-US"/>
              <a:t>圖</a:t>
            </a:r>
            <a:endParaRPr lang="en-US" altLang="zh-TW"/>
          </a:p>
          <a:p>
            <a:r>
              <a:rPr lang="zh-TW" altLang="en-US"/>
              <a:t>建立回歸模型</a:t>
            </a:r>
            <a:endParaRPr lang="en-US" altLang="zh-TW"/>
          </a:p>
          <a:p>
            <a:r>
              <a:rPr lang="zh-TW" altLang="en-US"/>
              <a:t>計算預測效能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0FA94A6-7440-4A54-9DD9-668E8590E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9207" y="1462087"/>
            <a:ext cx="6626510" cy="5030788"/>
          </a:xfrm>
          <a:prstGeom prst="rect">
            <a:avLst/>
          </a:prstGeom>
        </p:spPr>
      </p:pic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F04F67E-D892-4F96-9C87-A93892AE6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D90F4-D12A-4801-A1A5-CAA62D3E40A7}" type="datetime1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72136A7-45D3-421E-9507-2CFFC05F5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00FC-685B-4B17-90E8-D67F5DCF7935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0259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051F94-B0EA-46E5-9D28-3376440FD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/>
              <a:t>多變數迴歸分析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88067E4-0CD0-4F2C-B7BD-CAC8A048F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TW" altLang="en-US"/>
              <a:t>資料準備</a:t>
            </a:r>
            <a:endParaRPr lang="en-US" altLang="zh-TW"/>
          </a:p>
          <a:p>
            <a:pPr lvl="1"/>
            <a:r>
              <a:rPr lang="en-US" altLang="zh-TW">
                <a:latin typeface="Consolas" panose="020B0609020204030204" pitchFamily="49" charset="0"/>
              </a:rPr>
              <a:t>X = df.drop(‘MEDV’, axis=1).values</a:t>
            </a:r>
          </a:p>
          <a:p>
            <a:pPr lvl="1"/>
            <a:r>
              <a:rPr lang="en-US" altLang="zh-TW">
                <a:latin typeface="Consolas" panose="020B0609020204030204" pitchFamily="49" charset="0"/>
              </a:rPr>
              <a:t>y = df[‘MEDV’].values</a:t>
            </a:r>
          </a:p>
          <a:p>
            <a:r>
              <a:rPr lang="zh-TW" altLang="en-US"/>
              <a:t>隨機建立訓練集與驗證集</a:t>
            </a:r>
            <a:endParaRPr lang="en-US" altLang="zh-TW"/>
          </a:p>
          <a:p>
            <a:pPr lvl="1"/>
            <a:r>
              <a:rPr lang="en-US" altLang="zh-TW">
                <a:latin typeface="Consolas" panose="020B0609020204030204" pitchFamily="49" charset="0"/>
              </a:rPr>
              <a:t>from sklearn.model_selection import train_test_split</a:t>
            </a:r>
          </a:p>
          <a:p>
            <a:pPr lvl="1"/>
            <a:r>
              <a:rPr lang="en-US" altLang="zh-TW">
                <a:latin typeface="Consolas" panose="020B0609020204030204" pitchFamily="49" charset="0"/>
              </a:rPr>
              <a:t>X_train, X_test, y_train, y_test = train_test_split(X, y, test_size=0.2, random_state=42)</a:t>
            </a:r>
          </a:p>
          <a:p>
            <a:r>
              <a:rPr lang="zh-TW" altLang="en-US"/>
              <a:t>建立多變數迴歸預測模型</a:t>
            </a:r>
            <a:endParaRPr lang="en-US" altLang="zh-TW"/>
          </a:p>
          <a:p>
            <a:pPr lvl="1"/>
            <a:r>
              <a:rPr lang="en-US" altLang="zh-TW">
                <a:latin typeface="Consolas" panose="020B0609020204030204" pitchFamily="49" charset="0"/>
              </a:rPr>
              <a:t>lm_all = </a:t>
            </a:r>
            <a:r>
              <a:rPr lang="en-US" altLang="zh-TW">
                <a:effectLst/>
                <a:latin typeface="Consolas" panose="020B0609020204030204" pitchFamily="49" charset="0"/>
              </a:rPr>
              <a:t>linear_model.LinearRegression()</a:t>
            </a:r>
          </a:p>
          <a:p>
            <a:pPr lvl="1"/>
            <a:r>
              <a:rPr lang="en-US" altLang="zh-TW">
                <a:effectLst/>
                <a:latin typeface="Consolas" panose="020B0609020204030204" pitchFamily="49" charset="0"/>
              </a:rPr>
              <a:t>lm_all.fit(X_train, y_train)</a:t>
            </a:r>
          </a:p>
          <a:p>
            <a:pPr lvl="1"/>
            <a:r>
              <a:rPr lang="en-US" altLang="zh-TW">
                <a:effectLst/>
                <a:latin typeface="Consolas" panose="020B0609020204030204" pitchFamily="49" charset="0"/>
              </a:rPr>
              <a:t>y_pred = lm_all.predict(X_test)</a:t>
            </a:r>
            <a:endParaRPr lang="en-US" altLang="zh-TW"/>
          </a:p>
          <a:p>
            <a:r>
              <a:rPr lang="zh-TW" altLang="en-US"/>
              <a:t>計算預測效能</a:t>
            </a:r>
          </a:p>
          <a:p>
            <a:pPr lvl="1"/>
            <a:r>
              <a:rPr lang="en-US" altLang="zh-TW" i="0">
                <a:effectLst/>
                <a:latin typeface="-apple-system"/>
              </a:rPr>
              <a:t>coefficient of determination R</a:t>
            </a:r>
            <a:r>
              <a:rPr lang="en-US" altLang="zh-TW" i="0" baseline="30000">
                <a:effectLst/>
                <a:latin typeface="-apple-system"/>
              </a:rPr>
              <a:t>2</a:t>
            </a:r>
            <a:r>
              <a:rPr lang="en-US" altLang="zh-TW">
                <a:latin typeface="-apple-system"/>
              </a:rPr>
              <a:t> , RMSE, MSE</a:t>
            </a:r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3FAE992-23AE-44A6-8D08-78CDAC934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AF892-955D-4D4C-B17D-9739B98C5CC8}" type="datetime1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BDA2156-BE93-40BB-96BA-5FE2AB963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00FC-685B-4B17-90E8-D67F5DCF7935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6833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1B7E28-A089-43EB-8419-D2CE74FE8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/>
              <a:t>以 </a:t>
            </a:r>
            <a:r>
              <a:rPr lang="en-US" altLang="zh-TW"/>
              <a:t>scikit-learn </a:t>
            </a:r>
            <a:r>
              <a:rPr lang="zh-TW" altLang="en-US"/>
              <a:t>實作 </a:t>
            </a:r>
            <a:r>
              <a:rPr lang="en-US" altLang="zh-TW"/>
              <a:t>Ridge Regression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7D18A72-A73C-4AD6-86B0-A50D1C157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>
                <a:latin typeface="Consolas" panose="020B0609020204030204" pitchFamily="49" charset="0"/>
              </a:rPr>
              <a:t>from </a:t>
            </a:r>
            <a:r>
              <a:rPr lang="en-US" altLang="zh-TW">
                <a:solidFill>
                  <a:srgbClr val="0070C0"/>
                </a:solidFill>
                <a:latin typeface="Consolas" panose="020B0609020204030204" pitchFamily="49" charset="0"/>
              </a:rPr>
              <a:t>sklearn.linear_model </a:t>
            </a:r>
            <a:r>
              <a:rPr lang="en-US" altLang="zh-TW">
                <a:latin typeface="Consolas" panose="020B0609020204030204" pitchFamily="49" charset="0"/>
              </a:rPr>
              <a:t>import </a:t>
            </a:r>
            <a:r>
              <a:rPr lang="en-US" altLang="zh-TW">
                <a:solidFill>
                  <a:srgbClr val="C00000"/>
                </a:solidFill>
                <a:latin typeface="Consolas" panose="020B0609020204030204" pitchFamily="49" charset="0"/>
              </a:rPr>
              <a:t>Ridge</a:t>
            </a:r>
          </a:p>
          <a:p>
            <a:r>
              <a:rPr lang="en-US" altLang="zh-TW">
                <a:latin typeface="Consolas" panose="020B0609020204030204" pitchFamily="49" charset="0"/>
              </a:rPr>
              <a:t>X_train, X_test, y_train, y_test = </a:t>
            </a:r>
            <a:r>
              <a:rPr lang="en-US" altLang="zh-TW">
                <a:solidFill>
                  <a:srgbClr val="C00000"/>
                </a:solidFill>
                <a:latin typeface="Consolas" panose="020B0609020204030204" pitchFamily="49" charset="0"/>
              </a:rPr>
              <a:t>train_test_split</a:t>
            </a:r>
            <a:r>
              <a:rPr lang="en-US" altLang="zh-TW">
                <a:latin typeface="Consolas" panose="020B0609020204030204" pitchFamily="49" charset="0"/>
              </a:rPr>
              <a:t>(X, y, test_size = 0.3, random_state=42)</a:t>
            </a:r>
          </a:p>
          <a:p>
            <a:r>
              <a:rPr lang="en-US" altLang="zh-TW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ridge_model </a:t>
            </a:r>
            <a:r>
              <a:rPr lang="en-US" altLang="zh-TW">
                <a:latin typeface="Consolas" panose="020B0609020204030204" pitchFamily="49" charset="0"/>
              </a:rPr>
              <a:t>= </a:t>
            </a:r>
            <a:r>
              <a:rPr lang="en-US" altLang="zh-TW">
                <a:solidFill>
                  <a:srgbClr val="C00000"/>
                </a:solidFill>
                <a:latin typeface="Consolas" panose="020B0609020204030204" pitchFamily="49" charset="0"/>
              </a:rPr>
              <a:t>Ridge</a:t>
            </a:r>
            <a:r>
              <a:rPr lang="en-US" altLang="zh-TW">
                <a:latin typeface="Consolas" panose="020B0609020204030204" pitchFamily="49" charset="0"/>
              </a:rPr>
              <a:t>(</a:t>
            </a:r>
            <a:r>
              <a:rPr lang="en-US" altLang="zh-TW">
                <a:solidFill>
                  <a:srgbClr val="FF0000"/>
                </a:solidFill>
                <a:latin typeface="Consolas" panose="020B0609020204030204" pitchFamily="49" charset="0"/>
              </a:rPr>
              <a:t>alpha</a:t>
            </a:r>
            <a:r>
              <a:rPr lang="en-US" altLang="zh-TW">
                <a:latin typeface="Consolas" panose="020B0609020204030204" pitchFamily="49" charset="0"/>
              </a:rPr>
              <a:t>=0.1, normalize=True)</a:t>
            </a:r>
          </a:p>
          <a:p>
            <a:r>
              <a:rPr lang="en-US" altLang="zh-TW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ridge_model</a:t>
            </a:r>
            <a:r>
              <a:rPr lang="fr-FR" altLang="zh-TW">
                <a:latin typeface="Consolas" panose="020B0609020204030204" pitchFamily="49" charset="0"/>
              </a:rPr>
              <a:t>.</a:t>
            </a:r>
            <a:r>
              <a:rPr lang="fr-FR" altLang="zh-TW">
                <a:solidFill>
                  <a:srgbClr val="C00000"/>
                </a:solidFill>
                <a:latin typeface="Consolas" panose="020B0609020204030204" pitchFamily="49" charset="0"/>
              </a:rPr>
              <a:t>fit</a:t>
            </a:r>
            <a:r>
              <a:rPr lang="fr-FR" altLang="zh-TW">
                <a:latin typeface="Consolas" panose="020B0609020204030204" pitchFamily="49" charset="0"/>
              </a:rPr>
              <a:t>(X_train, y_train)</a:t>
            </a:r>
            <a:endParaRPr lang="en-US" altLang="zh-TW">
              <a:latin typeface="Consolas" panose="020B0609020204030204" pitchFamily="49" charset="0"/>
            </a:endParaRPr>
          </a:p>
          <a:p>
            <a:r>
              <a:rPr lang="en-US" altLang="zh-TW">
                <a:solidFill>
                  <a:srgbClr val="7030A0"/>
                </a:solidFill>
                <a:latin typeface="Consolas" panose="020B0609020204030204" pitchFamily="49" charset="0"/>
              </a:rPr>
              <a:t>ridge_model_pred </a:t>
            </a:r>
            <a:r>
              <a:rPr lang="en-US" altLang="zh-TW">
                <a:latin typeface="Consolas" panose="020B0609020204030204" pitchFamily="49" charset="0"/>
              </a:rPr>
              <a:t>= </a:t>
            </a:r>
            <a:r>
              <a:rPr lang="en-US" altLang="zh-TW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ridge_model </a:t>
            </a:r>
            <a:r>
              <a:rPr lang="en-US" altLang="zh-TW">
                <a:latin typeface="Consolas" panose="020B0609020204030204" pitchFamily="49" charset="0"/>
              </a:rPr>
              <a:t>.</a:t>
            </a:r>
            <a:r>
              <a:rPr lang="en-US" altLang="zh-TW">
                <a:solidFill>
                  <a:srgbClr val="C00000"/>
                </a:solidFill>
                <a:latin typeface="Consolas" panose="020B0609020204030204" pitchFamily="49" charset="0"/>
              </a:rPr>
              <a:t>predict</a:t>
            </a:r>
            <a:r>
              <a:rPr lang="en-US" altLang="zh-TW">
                <a:latin typeface="Consolas" panose="020B0609020204030204" pitchFamily="49" charset="0"/>
              </a:rPr>
              <a:t>(X_test)</a:t>
            </a:r>
          </a:p>
          <a:p>
            <a:r>
              <a:rPr lang="en-US" altLang="zh-TW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ridge_model</a:t>
            </a:r>
            <a:r>
              <a:rPr lang="en-US" altLang="zh-TW">
                <a:latin typeface="Consolas" panose="020B0609020204030204" pitchFamily="49" charset="0"/>
              </a:rPr>
              <a:t>.</a:t>
            </a:r>
            <a:r>
              <a:rPr lang="en-US" altLang="zh-TW">
                <a:solidFill>
                  <a:srgbClr val="C00000"/>
                </a:solidFill>
                <a:latin typeface="Consolas" panose="020B0609020204030204" pitchFamily="49" charset="0"/>
              </a:rPr>
              <a:t>score</a:t>
            </a:r>
            <a:r>
              <a:rPr lang="en-US" altLang="zh-TW">
                <a:latin typeface="Consolas" panose="020B0609020204030204" pitchFamily="49" charset="0"/>
              </a:rPr>
              <a:t>(X_test, y_test)</a:t>
            </a:r>
            <a:endParaRPr lang="zh-TW" altLang="en-US">
              <a:latin typeface="Consolas" panose="020B0609020204030204" pitchFamily="49" charset="0"/>
            </a:endParaRP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CCDF4D-A98D-4B93-992E-13CC5E120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71ED8-7A6D-4182-9DDB-560515088DB4}" type="datetime1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EDA2860-9B1C-4C20-9B54-BFFD8668A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00FC-685B-4B17-90E8-D67F5DCF7935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4176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BE1A7E-984B-4957-B969-FD83319F4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/>
              <a:t>以 </a:t>
            </a:r>
            <a:r>
              <a:rPr lang="en-US" altLang="zh-TW"/>
              <a:t>scikit-learn </a:t>
            </a:r>
            <a:r>
              <a:rPr lang="zh-TW" altLang="en-US"/>
              <a:t>實作 </a:t>
            </a:r>
            <a:r>
              <a:rPr lang="en-US" altLang="zh-TW"/>
              <a:t>Lasso Regression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595E7F8-EC61-4838-83EE-07565A50F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>
                <a:latin typeface="Consolas" panose="020B0609020204030204" pitchFamily="49" charset="0"/>
              </a:rPr>
              <a:t>from </a:t>
            </a:r>
            <a:r>
              <a:rPr lang="en-US" altLang="zh-TW">
                <a:solidFill>
                  <a:srgbClr val="0070C0"/>
                </a:solidFill>
                <a:latin typeface="Consolas" panose="020B0609020204030204" pitchFamily="49" charset="0"/>
              </a:rPr>
              <a:t>sklearn.linear_model </a:t>
            </a:r>
            <a:r>
              <a:rPr lang="en-US" altLang="zh-TW">
                <a:latin typeface="Consolas" panose="020B0609020204030204" pitchFamily="49" charset="0"/>
              </a:rPr>
              <a:t>import </a:t>
            </a:r>
            <a:r>
              <a:rPr lang="en-US" altLang="zh-TW">
                <a:solidFill>
                  <a:srgbClr val="C00000"/>
                </a:solidFill>
                <a:latin typeface="Consolas" panose="020B0609020204030204" pitchFamily="49" charset="0"/>
              </a:rPr>
              <a:t>Lasso</a:t>
            </a:r>
          </a:p>
          <a:p>
            <a:r>
              <a:rPr lang="en-US" altLang="zh-TW">
                <a:latin typeface="Consolas" panose="020B0609020204030204" pitchFamily="49" charset="0"/>
              </a:rPr>
              <a:t>X_train, X_test, y_train, y_test = </a:t>
            </a:r>
            <a:r>
              <a:rPr lang="en-US" altLang="zh-TW">
                <a:solidFill>
                  <a:srgbClr val="C00000"/>
                </a:solidFill>
                <a:latin typeface="Consolas" panose="020B0609020204030204" pitchFamily="49" charset="0"/>
              </a:rPr>
              <a:t>train_test_split</a:t>
            </a:r>
            <a:r>
              <a:rPr lang="en-US" altLang="zh-TW">
                <a:latin typeface="Consolas" panose="020B0609020204030204" pitchFamily="49" charset="0"/>
              </a:rPr>
              <a:t>(X, y, test_size = 0.3, random_state=42)</a:t>
            </a:r>
          </a:p>
          <a:p>
            <a:r>
              <a:rPr lang="it-IT" altLang="zh-TW">
                <a:solidFill>
                  <a:srgbClr val="00B0F0"/>
                </a:solidFill>
                <a:latin typeface="Consolas" panose="020B0609020204030204" pitchFamily="49" charset="0"/>
              </a:rPr>
              <a:t>lasso</a:t>
            </a:r>
            <a:r>
              <a:rPr lang="en-US" altLang="zh-TW">
                <a:solidFill>
                  <a:srgbClr val="00B0F0"/>
                </a:solidFill>
                <a:latin typeface="Consolas" panose="020B0609020204030204" pitchFamily="49" charset="0"/>
              </a:rPr>
              <a:t>_model</a:t>
            </a:r>
            <a:r>
              <a:rPr lang="it-IT" altLang="zh-TW">
                <a:latin typeface="Consolas" panose="020B0609020204030204" pitchFamily="49" charset="0"/>
              </a:rPr>
              <a:t> = </a:t>
            </a:r>
            <a:r>
              <a:rPr lang="it-IT" altLang="zh-TW">
                <a:solidFill>
                  <a:srgbClr val="C00000"/>
                </a:solidFill>
                <a:latin typeface="Consolas" panose="020B0609020204030204" pitchFamily="49" charset="0"/>
              </a:rPr>
              <a:t>Lasso(</a:t>
            </a:r>
            <a:r>
              <a:rPr lang="it-IT" altLang="zh-TW">
                <a:solidFill>
                  <a:srgbClr val="00B050"/>
                </a:solidFill>
                <a:latin typeface="Consolas" panose="020B0609020204030204" pitchFamily="49" charset="0"/>
              </a:rPr>
              <a:t>alpha</a:t>
            </a:r>
            <a:r>
              <a:rPr lang="it-IT" altLang="zh-TW">
                <a:solidFill>
                  <a:srgbClr val="C00000"/>
                </a:solidFill>
                <a:latin typeface="Consolas" panose="020B0609020204030204" pitchFamily="49" charset="0"/>
              </a:rPr>
              <a:t>=0.1, </a:t>
            </a:r>
            <a:r>
              <a:rPr lang="it-IT" altLang="zh-TW">
                <a:solidFill>
                  <a:srgbClr val="0070C0"/>
                </a:solidFill>
                <a:latin typeface="Consolas" panose="020B0609020204030204" pitchFamily="49" charset="0"/>
              </a:rPr>
              <a:t>normalize</a:t>
            </a:r>
            <a:r>
              <a:rPr lang="it-IT" altLang="zh-TW">
                <a:solidFill>
                  <a:srgbClr val="C00000"/>
                </a:solidFill>
                <a:latin typeface="Consolas" panose="020B0609020204030204" pitchFamily="49" charset="0"/>
              </a:rPr>
              <a:t>=True) </a:t>
            </a:r>
            <a:endParaRPr lang="en-US" altLang="zh-TW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it-IT" altLang="zh-TW">
                <a:solidFill>
                  <a:srgbClr val="00B0F0"/>
                </a:solidFill>
                <a:latin typeface="Consolas" panose="020B0609020204030204" pitchFamily="49" charset="0"/>
              </a:rPr>
              <a:t>lasso</a:t>
            </a:r>
            <a:r>
              <a:rPr lang="en-US" altLang="zh-TW">
                <a:solidFill>
                  <a:srgbClr val="00B0F0"/>
                </a:solidFill>
                <a:latin typeface="Consolas" panose="020B0609020204030204" pitchFamily="49" charset="0"/>
              </a:rPr>
              <a:t>_model</a:t>
            </a:r>
            <a:r>
              <a:rPr lang="fr-FR" altLang="zh-TW">
                <a:solidFill>
                  <a:srgbClr val="C00000"/>
                </a:solidFill>
                <a:latin typeface="Consolas" panose="020B0609020204030204" pitchFamily="49" charset="0"/>
              </a:rPr>
              <a:t>.fit</a:t>
            </a:r>
            <a:r>
              <a:rPr lang="fr-FR" altLang="zh-TW">
                <a:latin typeface="Consolas" panose="020B0609020204030204" pitchFamily="49" charset="0"/>
              </a:rPr>
              <a:t>(X_train, y_train) </a:t>
            </a:r>
            <a:endParaRPr lang="en-US" altLang="zh-TW">
              <a:latin typeface="Consolas" panose="020B0609020204030204" pitchFamily="49" charset="0"/>
            </a:endParaRPr>
          </a:p>
          <a:p>
            <a:r>
              <a:rPr lang="it-IT" altLang="zh-TW">
                <a:solidFill>
                  <a:srgbClr val="7030A0"/>
                </a:solidFill>
                <a:latin typeface="Consolas" panose="020B0609020204030204" pitchFamily="49" charset="0"/>
              </a:rPr>
              <a:t>lasso</a:t>
            </a:r>
            <a:r>
              <a:rPr lang="en-US" altLang="zh-TW">
                <a:solidFill>
                  <a:srgbClr val="7030A0"/>
                </a:solidFill>
                <a:latin typeface="Consolas" panose="020B0609020204030204" pitchFamily="49" charset="0"/>
              </a:rPr>
              <a:t>_model_pred </a:t>
            </a:r>
            <a:r>
              <a:rPr lang="en-US" altLang="zh-TW">
                <a:latin typeface="Consolas" panose="020B0609020204030204" pitchFamily="49" charset="0"/>
              </a:rPr>
              <a:t>= </a:t>
            </a:r>
            <a:r>
              <a:rPr lang="it-IT" altLang="zh-TW">
                <a:solidFill>
                  <a:srgbClr val="00B0F0"/>
                </a:solidFill>
                <a:latin typeface="Consolas" panose="020B0609020204030204" pitchFamily="49" charset="0"/>
              </a:rPr>
              <a:t>lasso</a:t>
            </a:r>
            <a:r>
              <a:rPr lang="en-US" altLang="zh-TW">
                <a:solidFill>
                  <a:srgbClr val="00B0F0"/>
                </a:solidFill>
                <a:latin typeface="Consolas" panose="020B0609020204030204" pitchFamily="49" charset="0"/>
              </a:rPr>
              <a:t>_model</a:t>
            </a:r>
            <a:r>
              <a:rPr lang="en-US" altLang="zh-TW">
                <a:solidFill>
                  <a:srgbClr val="C00000"/>
                </a:solidFill>
                <a:latin typeface="Consolas" panose="020B0609020204030204" pitchFamily="49" charset="0"/>
              </a:rPr>
              <a:t>.predict</a:t>
            </a:r>
            <a:r>
              <a:rPr lang="en-US" altLang="zh-TW">
                <a:latin typeface="Consolas" panose="020B0609020204030204" pitchFamily="49" charset="0"/>
              </a:rPr>
              <a:t>(X_test)</a:t>
            </a:r>
          </a:p>
          <a:p>
            <a:r>
              <a:rPr lang="it-IT" altLang="zh-TW">
                <a:solidFill>
                  <a:srgbClr val="00B0F0"/>
                </a:solidFill>
                <a:latin typeface="Consolas" panose="020B0609020204030204" pitchFamily="49" charset="0"/>
              </a:rPr>
              <a:t>lasso</a:t>
            </a:r>
            <a:r>
              <a:rPr lang="en-US" altLang="zh-TW">
                <a:solidFill>
                  <a:srgbClr val="00B0F0"/>
                </a:solidFill>
                <a:latin typeface="Consolas" panose="020B0609020204030204" pitchFamily="49" charset="0"/>
              </a:rPr>
              <a:t>_model</a:t>
            </a:r>
            <a:r>
              <a:rPr lang="en-US" altLang="zh-TW">
                <a:latin typeface="Consolas" panose="020B0609020204030204" pitchFamily="49" charset="0"/>
              </a:rPr>
              <a:t>.</a:t>
            </a:r>
            <a:r>
              <a:rPr lang="en-US" altLang="zh-TW">
                <a:solidFill>
                  <a:srgbClr val="C00000"/>
                </a:solidFill>
                <a:latin typeface="Consolas" panose="020B0609020204030204" pitchFamily="49" charset="0"/>
              </a:rPr>
              <a:t>score</a:t>
            </a:r>
            <a:r>
              <a:rPr lang="en-US" altLang="zh-TW">
                <a:latin typeface="Consolas" panose="020B0609020204030204" pitchFamily="49" charset="0"/>
              </a:rPr>
              <a:t>(X_test, y_test) </a:t>
            </a:r>
            <a:endParaRPr lang="zh-TW" altLang="en-US">
              <a:latin typeface="Consolas" panose="020B0609020204030204" pitchFamily="49" charset="0"/>
            </a:endParaRP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B79E28D-921A-43A1-9E92-7019AF8D6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16982-34C0-44AD-A920-4AC7B0D53ABC}" type="datetime1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73BF9DD-E1B8-4AAA-A141-A10462D55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00FC-685B-4B17-90E8-D67F5DCF7935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5301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D4350B-AE3D-4915-8D85-A575B4B1C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/>
              <a:t>運用 </a:t>
            </a:r>
            <a:r>
              <a:rPr lang="en-US" altLang="zh-TW"/>
              <a:t>Regularization </a:t>
            </a:r>
            <a:r>
              <a:rPr lang="zh-TW" altLang="en-US"/>
              <a:t>的好處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BEBB459-6E6F-49B5-90A1-E507F51FD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TW" altLang="en-US"/>
              <a:t>防止 </a:t>
            </a:r>
            <a:r>
              <a:rPr lang="en-US" altLang="zh-TW"/>
              <a:t>overfitting :</a:t>
            </a:r>
            <a:r>
              <a:rPr lang="zh-TW" altLang="en-US"/>
              <a:t> 使模型不注重雜訊</a:t>
            </a:r>
            <a:r>
              <a:rPr lang="en-US" altLang="zh-TW"/>
              <a:t>(noise)</a:t>
            </a:r>
          </a:p>
          <a:p>
            <a:r>
              <a:rPr lang="zh-TW" altLang="en-US"/>
              <a:t>改善解讀性</a:t>
            </a:r>
            <a:r>
              <a:rPr lang="en-US" altLang="zh-TW"/>
              <a:t> : L1(Lasso) regularization </a:t>
            </a:r>
            <a:r>
              <a:rPr lang="zh-TW" altLang="en-US"/>
              <a:t>消除較不重要的</a:t>
            </a:r>
            <a:r>
              <a:rPr lang="en-US" altLang="zh-TW"/>
              <a:t>feature</a:t>
            </a:r>
            <a:r>
              <a:rPr lang="zh-TW" altLang="en-US"/>
              <a:t>可簡化模型</a:t>
            </a:r>
            <a:endParaRPr lang="en-US" altLang="zh-TW"/>
          </a:p>
          <a:p>
            <a:r>
              <a:rPr lang="zh-TW" altLang="en-US"/>
              <a:t>增強效能 </a:t>
            </a:r>
            <a:r>
              <a:rPr lang="en-US" altLang="zh-TW"/>
              <a:t>:</a:t>
            </a:r>
            <a:r>
              <a:rPr lang="zh-TW" altLang="en-US"/>
              <a:t> 防止存在異常值或無關的</a:t>
            </a:r>
            <a:r>
              <a:rPr lang="en-US" altLang="zh-TW"/>
              <a:t>feature</a:t>
            </a:r>
          </a:p>
          <a:p>
            <a:r>
              <a:rPr lang="zh-TW" altLang="en-US"/>
              <a:t>模型穩定性 </a:t>
            </a:r>
            <a:r>
              <a:rPr lang="en-US" altLang="zh-TW"/>
              <a:t>: </a:t>
            </a:r>
            <a:r>
              <a:rPr lang="zh-TW" altLang="en-US"/>
              <a:t>降低因些微資料變化造成敏感性</a:t>
            </a:r>
            <a:endParaRPr lang="en-US" altLang="zh-TW"/>
          </a:p>
          <a:p>
            <a:r>
              <a:rPr lang="zh-TW" altLang="en-US"/>
              <a:t>防止模型過於複雜 </a:t>
            </a:r>
            <a:r>
              <a:rPr lang="en-US" altLang="zh-TW"/>
              <a:t>:</a:t>
            </a:r>
            <a:r>
              <a:rPr lang="zh-TW" altLang="en-US"/>
              <a:t> 使模型不要過於複雜</a:t>
            </a:r>
            <a:endParaRPr lang="en-US" altLang="zh-TW"/>
          </a:p>
          <a:p>
            <a:r>
              <a:rPr lang="zh-TW" altLang="en-US"/>
              <a:t>處理</a:t>
            </a:r>
            <a:r>
              <a:rPr lang="en-US" altLang="zh-TW"/>
              <a:t>multicollinearity</a:t>
            </a:r>
            <a:r>
              <a:rPr lang="zh-TW" altLang="en-US"/>
              <a:t> </a:t>
            </a:r>
            <a:r>
              <a:rPr lang="en-US" altLang="zh-TW"/>
              <a:t>:</a:t>
            </a:r>
            <a:r>
              <a:rPr lang="zh-TW" altLang="en-US"/>
              <a:t> 減少相關聯係數的影響</a:t>
            </a:r>
            <a:endParaRPr lang="en-US" altLang="zh-TW"/>
          </a:p>
          <a:p>
            <a:r>
              <a:rPr lang="zh-TW" altLang="en-US"/>
              <a:t>提供</a:t>
            </a:r>
            <a:r>
              <a:rPr lang="en-US" altLang="zh-TW"/>
              <a:t>Fine-Tuning</a:t>
            </a:r>
            <a:r>
              <a:rPr lang="zh-TW" altLang="en-US"/>
              <a:t> </a:t>
            </a:r>
            <a:r>
              <a:rPr lang="en-US" altLang="zh-TW"/>
              <a:t>:</a:t>
            </a:r>
            <a:r>
              <a:rPr lang="zh-TW" altLang="en-US"/>
              <a:t> 允許調整 </a:t>
            </a:r>
            <a:r>
              <a:rPr lang="zh-TW" altLang="en-US">
                <a:sym typeface="Symbol" panose="05050102010706020507" pitchFamily="18" charset="2"/>
              </a:rPr>
              <a:t> 與  值控制</a:t>
            </a:r>
            <a:r>
              <a:rPr lang="en-US" altLang="zh-TW">
                <a:sym typeface="Symbol" panose="05050102010706020507" pitchFamily="18" charset="2"/>
              </a:rPr>
              <a:t>regularization</a:t>
            </a:r>
            <a:r>
              <a:rPr lang="zh-TW" altLang="en-US">
                <a:sym typeface="Symbol" panose="05050102010706020507" pitchFamily="18" charset="2"/>
              </a:rPr>
              <a:t>強度，及平衡</a:t>
            </a:r>
            <a:r>
              <a:rPr lang="en-US" altLang="zh-TW">
                <a:sym typeface="Symbol" panose="05050102010706020507" pitchFamily="18" charset="2"/>
              </a:rPr>
              <a:t>bias</a:t>
            </a:r>
            <a:r>
              <a:rPr lang="zh-TW" altLang="en-US">
                <a:sym typeface="Symbol" panose="05050102010706020507" pitchFamily="18" charset="2"/>
              </a:rPr>
              <a:t>與</a:t>
            </a:r>
            <a:r>
              <a:rPr lang="en-US" altLang="zh-TW">
                <a:sym typeface="Symbol" panose="05050102010706020507" pitchFamily="18" charset="2"/>
              </a:rPr>
              <a:t>variance</a:t>
            </a:r>
            <a:endParaRPr lang="en-US" altLang="zh-TW"/>
          </a:p>
          <a:p>
            <a:r>
              <a:rPr lang="zh-TW" altLang="en-US"/>
              <a:t>提升</a:t>
            </a:r>
            <a:r>
              <a:rPr lang="en-US" altLang="zh-TW"/>
              <a:t> consistency : </a:t>
            </a:r>
            <a:r>
              <a:rPr lang="zh-TW" altLang="en-US"/>
              <a:t>確保不同資料的效能可靠性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EA8C2A6-305E-4D52-9CEE-2050F606A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C7FFE-4DF7-47CC-9DD7-9CFC1B72DF7A}" type="datetime1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0D2C641-50BD-49B6-A330-DF53D6561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00FC-685B-4B17-90E8-D67F5DCF7935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4541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F29F42-BDE5-32E9-A12A-CC7FC9976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285C56-0C15-886B-BA25-D2F75EFBF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en-US" altLang="zh-TW" dirty="0"/>
              <a:t>Boston housing data </a:t>
            </a:r>
          </a:p>
          <a:p>
            <a:r>
              <a:rPr kumimoji="1" lang="en-US" altLang="zh-TW" dirty="0"/>
              <a:t>Linear regression</a:t>
            </a:r>
          </a:p>
          <a:p>
            <a:pPr lvl="1"/>
            <a:r>
              <a:rPr kumimoji="1" lang="zh-TW" altLang="en-US" dirty="0"/>
              <a:t>計算訓練資料下模型</a:t>
            </a:r>
            <a:r>
              <a:rPr kumimoji="1" lang="en-US" altLang="zh-TW" dirty="0"/>
              <a:t>index, MSE, RMSE, R2</a:t>
            </a:r>
          </a:p>
          <a:p>
            <a:pPr lvl="1"/>
            <a:r>
              <a:rPr kumimoji="1" lang="zh-TW" altLang="en-US" dirty="0"/>
              <a:t>計算測試資料下模型</a:t>
            </a:r>
            <a:r>
              <a:rPr kumimoji="1" lang="en-US" altLang="zh-TW" dirty="0"/>
              <a:t>index, MSE, RMSE, R2</a:t>
            </a:r>
          </a:p>
          <a:p>
            <a:pPr lvl="1"/>
            <a:r>
              <a:rPr kumimoji="1" lang="zh-TW" altLang="en-US" dirty="0"/>
              <a:t> </a:t>
            </a:r>
            <a:r>
              <a:rPr kumimoji="1" lang="en-US" altLang="zh-TW" dirty="0"/>
              <a:t>LM.MSE(train) – MSE(test)</a:t>
            </a:r>
          </a:p>
          <a:p>
            <a:r>
              <a:rPr kumimoji="1" lang="en-US" altLang="zh-TW" dirty="0"/>
              <a:t>Lasso</a:t>
            </a:r>
          </a:p>
          <a:p>
            <a:pPr lvl="1"/>
            <a:r>
              <a:rPr kumimoji="1" lang="zh-TW" altLang="en-US" dirty="0"/>
              <a:t>計算訓練資料下模型</a:t>
            </a:r>
            <a:r>
              <a:rPr kumimoji="1" lang="en-US" altLang="zh-TW" dirty="0"/>
              <a:t>index, MSE, RMSE, R2</a:t>
            </a:r>
          </a:p>
          <a:p>
            <a:pPr lvl="1"/>
            <a:r>
              <a:rPr kumimoji="1" lang="zh-TW" altLang="en-US" dirty="0"/>
              <a:t>計算測試資料下模型</a:t>
            </a:r>
            <a:r>
              <a:rPr kumimoji="1" lang="en-US" altLang="zh-TW" dirty="0"/>
              <a:t>index, MSE, RMSE, R2</a:t>
            </a:r>
          </a:p>
          <a:p>
            <a:pPr lvl="1"/>
            <a:r>
              <a:rPr kumimoji="1" lang="zh-TW" altLang="en-US" dirty="0"/>
              <a:t> </a:t>
            </a:r>
            <a:r>
              <a:rPr kumimoji="1" lang="en-US" altLang="zh-TW" dirty="0"/>
              <a:t>LS.MSE(train) – MSE(test)</a:t>
            </a:r>
          </a:p>
          <a:p>
            <a:r>
              <a:rPr kumimoji="1" lang="en-US" altLang="zh-TW" dirty="0"/>
              <a:t>Ridge</a:t>
            </a:r>
          </a:p>
          <a:p>
            <a:pPr lvl="1"/>
            <a:r>
              <a:rPr kumimoji="1" lang="zh-TW" altLang="en-US" dirty="0"/>
              <a:t>計算訓練資料下模型</a:t>
            </a:r>
            <a:r>
              <a:rPr kumimoji="1" lang="en-US" altLang="zh-TW" dirty="0"/>
              <a:t>index, MSE, RMSE, R2</a:t>
            </a:r>
          </a:p>
          <a:p>
            <a:pPr lvl="1"/>
            <a:r>
              <a:rPr kumimoji="1" lang="zh-TW" altLang="en-US" dirty="0"/>
              <a:t>計算測試資料下模型</a:t>
            </a:r>
            <a:r>
              <a:rPr kumimoji="1" lang="en-US" altLang="zh-TW" dirty="0"/>
              <a:t>index, MSE, RMSE, R2</a:t>
            </a:r>
          </a:p>
          <a:p>
            <a:pPr lvl="1"/>
            <a:r>
              <a:rPr kumimoji="1" lang="zh-TW" altLang="en-US" dirty="0"/>
              <a:t> </a:t>
            </a:r>
            <a:r>
              <a:rPr kumimoji="1" lang="en-US" altLang="zh-TW" dirty="0"/>
              <a:t>RI.MSE(train) – MSE(test)</a:t>
            </a:r>
          </a:p>
          <a:p>
            <a:pPr marL="457200" lvl="1" indent="0">
              <a:buNone/>
            </a:pP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784628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AED84D-040A-463B-939C-3E2D421A4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i="0">
                <a:solidFill>
                  <a:srgbClr val="273239"/>
                </a:solidFill>
                <a:effectLst/>
                <a:latin typeface="Source Sans 3"/>
              </a:rPr>
              <a:t>Cross Validation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DA9E79D-CA4A-43D4-8ABC-5FD9D8D51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000" b="1" i="0">
                <a:solidFill>
                  <a:srgbClr val="273239"/>
                </a:solidFill>
                <a:effectLst/>
                <a:latin typeface="Nunito" pitchFamily="2" charset="0"/>
              </a:rPr>
              <a:t>cross-validation</a:t>
            </a:r>
            <a:r>
              <a:rPr lang="zh-TW" altLang="en-US" sz="2000" b="1" i="0">
                <a:solidFill>
                  <a:srgbClr val="273239"/>
                </a:solidFill>
                <a:effectLst/>
                <a:latin typeface="Nunito" pitchFamily="2" charset="0"/>
              </a:rPr>
              <a:t>是一種</a:t>
            </a:r>
            <a:r>
              <a:rPr lang="zh-TW" altLang="en-US" sz="2000">
                <a:solidFill>
                  <a:srgbClr val="273239"/>
                </a:solidFill>
                <a:latin typeface="Nunito" pitchFamily="2" charset="0"/>
              </a:rPr>
              <a:t>具強韌性</a:t>
            </a:r>
            <a:r>
              <a:rPr lang="zh-TW" altLang="en-US" sz="2000" b="1" i="0">
                <a:solidFill>
                  <a:srgbClr val="273239"/>
                </a:solidFill>
                <a:effectLst/>
                <a:latin typeface="Nunito" pitchFamily="2" charset="0"/>
              </a:rPr>
              <a:t>評估模型效能方法，將資料分成多群</a:t>
            </a:r>
            <a:r>
              <a:rPr lang="en-US" altLang="zh-TW" sz="2000" b="1" i="0">
                <a:solidFill>
                  <a:srgbClr val="273239"/>
                </a:solidFill>
                <a:effectLst/>
                <a:latin typeface="Nunito" pitchFamily="2" charset="0"/>
              </a:rPr>
              <a:t>(folds/subsets)</a:t>
            </a:r>
            <a:r>
              <a:rPr lang="zh-TW" altLang="en-US" sz="2000" b="1" i="0">
                <a:solidFill>
                  <a:srgbClr val="273239"/>
                </a:solidFill>
                <a:effectLst/>
                <a:latin typeface="Nunito" pitchFamily="2" charset="0"/>
              </a:rPr>
              <a:t>，</a:t>
            </a:r>
            <a:r>
              <a:rPr lang="zh-TW" altLang="en-US" sz="2000">
                <a:solidFill>
                  <a:srgbClr val="273239"/>
                </a:solidFill>
                <a:latin typeface="Nunito" pitchFamily="2" charset="0"/>
              </a:rPr>
              <a:t>使用其中一群做為模型測試資料集，其餘資料作為訓練資料集。同一過程執行多次，每次使用不同資料群做為測試評估資料集，其餘資料作為訓練資料集。最後將每次結果平均以便獲得更具強韌性的模型效能評估。</a:t>
            </a:r>
            <a:endParaRPr lang="en-US" altLang="zh-TW" sz="2000" b="0" i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r>
              <a:rPr lang="en-US" altLang="zh-TW" sz="2000" i="0">
                <a:solidFill>
                  <a:srgbClr val="C00000"/>
                </a:solidFill>
                <a:effectLst/>
                <a:latin typeface="Nunito" pitchFamily="2" charset="0"/>
              </a:rPr>
              <a:t>K-Fold Cross Validation </a:t>
            </a:r>
            <a:r>
              <a:rPr lang="zh-TW" altLang="en-US" sz="2000" b="0" i="0">
                <a:solidFill>
                  <a:srgbClr val="273239"/>
                </a:solidFill>
                <a:effectLst/>
                <a:latin typeface="Nunito" pitchFamily="2" charset="0"/>
              </a:rPr>
              <a:t>是</a:t>
            </a:r>
            <a:r>
              <a:rPr lang="en-US" altLang="zh-TW" sz="2000" b="1" i="0">
                <a:solidFill>
                  <a:srgbClr val="273239"/>
                </a:solidFill>
                <a:effectLst/>
                <a:latin typeface="Nunito" pitchFamily="2" charset="0"/>
              </a:rPr>
              <a:t>cross-validation </a:t>
            </a:r>
            <a:r>
              <a:rPr lang="zh-TW" altLang="en-US" sz="2000" b="1" i="0">
                <a:solidFill>
                  <a:srgbClr val="273239"/>
                </a:solidFill>
                <a:effectLst/>
                <a:latin typeface="Nunito" pitchFamily="2" charset="0"/>
              </a:rPr>
              <a:t>實作方式之一，將資料分為 </a:t>
            </a:r>
            <a:r>
              <a:rPr lang="en-US" altLang="zh-TW" sz="2000" b="1" i="0">
                <a:solidFill>
                  <a:srgbClr val="273239"/>
                </a:solidFill>
                <a:effectLst/>
                <a:latin typeface="Nunito" pitchFamily="2" charset="0"/>
              </a:rPr>
              <a:t>k </a:t>
            </a:r>
            <a:r>
              <a:rPr lang="zh-TW" altLang="en-US" sz="2000" b="1" i="0">
                <a:solidFill>
                  <a:srgbClr val="273239"/>
                </a:solidFill>
                <a:effectLst/>
                <a:latin typeface="Nunito" pitchFamily="2" charset="0"/>
              </a:rPr>
              <a:t>群</a:t>
            </a:r>
            <a:r>
              <a:rPr lang="en-US" altLang="zh-TW" sz="2000" b="1" i="0">
                <a:solidFill>
                  <a:srgbClr val="273239"/>
                </a:solidFill>
                <a:effectLst/>
                <a:latin typeface="Nunito" pitchFamily="2" charset="0"/>
              </a:rPr>
              <a:t>(folds)</a:t>
            </a:r>
            <a:r>
              <a:rPr lang="zh-TW" altLang="en-US" sz="2000" b="1" i="0">
                <a:solidFill>
                  <a:srgbClr val="273239"/>
                </a:solidFill>
                <a:effectLst/>
                <a:latin typeface="Nunito" pitchFamily="2" charset="0"/>
              </a:rPr>
              <a:t>，利用 </a:t>
            </a:r>
            <a:r>
              <a:rPr lang="en-US" altLang="zh-TW" sz="2000" b="1" i="0">
                <a:solidFill>
                  <a:srgbClr val="273239"/>
                </a:solidFill>
                <a:effectLst/>
                <a:latin typeface="Nunito" pitchFamily="2" charset="0"/>
              </a:rPr>
              <a:t>k-1 </a:t>
            </a:r>
            <a:r>
              <a:rPr lang="zh-TW" altLang="en-US" sz="2000" b="1" i="0">
                <a:solidFill>
                  <a:srgbClr val="273239"/>
                </a:solidFill>
                <a:effectLst/>
                <a:latin typeface="Nunito" pitchFamily="2" charset="0"/>
              </a:rPr>
              <a:t>群資料作為訓練集訓練模型，剩下的 </a:t>
            </a:r>
            <a:r>
              <a:rPr lang="en-US" altLang="zh-TW" sz="2000" b="1" i="0">
                <a:solidFill>
                  <a:srgbClr val="273239"/>
                </a:solidFill>
                <a:effectLst/>
                <a:latin typeface="Nunito" pitchFamily="2" charset="0"/>
              </a:rPr>
              <a:t>1 </a:t>
            </a:r>
            <a:r>
              <a:rPr lang="zh-TW" altLang="en-US" sz="2000" b="1" i="0">
                <a:solidFill>
                  <a:srgbClr val="273239"/>
                </a:solidFill>
                <a:effectLst/>
                <a:latin typeface="Nunito" pitchFamily="2" charset="0"/>
              </a:rPr>
              <a:t>群做為</a:t>
            </a:r>
            <a:r>
              <a:rPr lang="zh-TW" altLang="en-US" sz="2000">
                <a:solidFill>
                  <a:srgbClr val="273239"/>
                </a:solidFill>
                <a:latin typeface="Nunito" pitchFamily="2" charset="0"/>
              </a:rPr>
              <a:t>測試評估</a:t>
            </a:r>
            <a:r>
              <a:rPr lang="zh-TW" altLang="en-US" sz="2000" b="1" i="0">
                <a:solidFill>
                  <a:srgbClr val="273239"/>
                </a:solidFill>
                <a:effectLst/>
                <a:latin typeface="Nunito" pitchFamily="2" charset="0"/>
              </a:rPr>
              <a:t>模型集，過程重複執行 </a:t>
            </a:r>
            <a:r>
              <a:rPr lang="en-US" altLang="zh-TW" sz="2000" b="1" i="0">
                <a:solidFill>
                  <a:srgbClr val="273239"/>
                </a:solidFill>
                <a:effectLst/>
                <a:latin typeface="Nunito" pitchFamily="2" charset="0"/>
              </a:rPr>
              <a:t>k </a:t>
            </a:r>
            <a:r>
              <a:rPr lang="zh-TW" altLang="en-US" sz="2000" b="1" i="0">
                <a:solidFill>
                  <a:srgbClr val="273239"/>
                </a:solidFill>
                <a:effectLst/>
                <a:latin typeface="Nunito" pitchFamily="2" charset="0"/>
              </a:rPr>
              <a:t>次。</a:t>
            </a:r>
            <a:endParaRPr lang="zh-TW" altLang="en-US" sz="200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FB39B44-4D52-433A-B387-62D587CBA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7696" y="2981419"/>
            <a:ext cx="8716471" cy="2999769"/>
          </a:xfrm>
          <a:prstGeom prst="rect">
            <a:avLst/>
          </a:prstGeo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F1EB761-B59B-41D9-8C16-8E7CFA6D9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F26EA-ACD1-43E4-AFC7-0E7194686AB4}" type="datetime1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0FC7016-AA38-435D-BF03-470BFF35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00FC-685B-4B17-90E8-D67F5DCF7935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0750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A25ACC-764F-486D-8FBD-44C570140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/>
              <a:t>Cross validation </a:t>
            </a:r>
            <a:r>
              <a:rPr lang="zh-TW" altLang="en-US"/>
              <a:t>實作</a:t>
            </a:r>
            <a:r>
              <a:rPr lang="en-US" altLang="zh-TW"/>
              <a:t> 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8C435E-86A1-471B-873B-6D74654ED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/>
              <a:t>from </a:t>
            </a:r>
            <a:r>
              <a:rPr lang="en-US" altLang="zh-TW">
                <a:solidFill>
                  <a:srgbClr val="0070C0"/>
                </a:solidFill>
              </a:rPr>
              <a:t>sklearn</a:t>
            </a:r>
            <a:r>
              <a:rPr lang="en-US" altLang="zh-TW"/>
              <a:t> import </a:t>
            </a:r>
            <a:r>
              <a:rPr lang="en-US" altLang="zh-TW">
                <a:solidFill>
                  <a:srgbClr val="C00000"/>
                </a:solidFill>
              </a:rPr>
              <a:t>linear_model</a:t>
            </a:r>
          </a:p>
          <a:p>
            <a:r>
              <a:rPr lang="en-US" altLang="zh-TW">
                <a:effectLst/>
                <a:latin typeface="Consolas" panose="020B0609020204030204" pitchFamily="49" charset="0"/>
              </a:rPr>
              <a:t>from</a:t>
            </a:r>
            <a:r>
              <a:rPr lang="en-US" altLang="zh-TW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sklearn.model_selection </a:t>
            </a:r>
            <a:r>
              <a:rPr lang="en-US" altLang="zh-TW">
                <a:effectLst/>
                <a:latin typeface="Consolas" panose="020B0609020204030204" pitchFamily="49" charset="0"/>
              </a:rPr>
              <a:t>import</a:t>
            </a:r>
            <a:r>
              <a:rPr lang="en-US" altLang="zh-TW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KFold</a:t>
            </a:r>
          </a:p>
          <a:p>
            <a:r>
              <a:rPr lang="en-US" altLang="zh-TW">
                <a:latin typeface="Consolas" panose="020B0609020204030204" pitchFamily="49" charset="0"/>
              </a:rPr>
              <a:t>from </a:t>
            </a:r>
            <a:r>
              <a:rPr lang="en-US" altLang="zh-TW">
                <a:solidFill>
                  <a:srgbClr val="0070C0"/>
                </a:solidFill>
                <a:latin typeface="Consolas" panose="020B0609020204030204" pitchFamily="49" charset="0"/>
              </a:rPr>
              <a:t>sklearn.model_selection </a:t>
            </a:r>
            <a:r>
              <a:rPr lang="en-US" altLang="zh-TW">
                <a:latin typeface="Consolas" panose="020B0609020204030204" pitchFamily="49" charset="0"/>
              </a:rPr>
              <a:t>import </a:t>
            </a:r>
            <a:r>
              <a:rPr lang="en-US" altLang="zh-TW">
                <a:solidFill>
                  <a:srgbClr val="C00000"/>
                </a:solidFill>
                <a:latin typeface="Consolas" panose="020B0609020204030204" pitchFamily="49" charset="0"/>
              </a:rPr>
              <a:t>cross_val_score</a:t>
            </a:r>
            <a:endParaRPr lang="en-US" altLang="zh-TW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kf = </a:t>
            </a:r>
            <a:r>
              <a:rPr lang="en-US" altLang="zh-TW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KFold</a:t>
            </a:r>
            <a:r>
              <a:rPr lang="en-US" altLang="zh-TW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n_splits</a:t>
            </a:r>
            <a:r>
              <a:rPr lang="en-US" altLang="zh-TW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>
                <a:solidFill>
                  <a:srgbClr val="3333FF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TW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shuffle</a:t>
            </a:r>
            <a:r>
              <a:rPr lang="en-US" altLang="zh-TW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TW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random_state</a:t>
            </a:r>
            <a:r>
              <a:rPr lang="en-US" altLang="zh-TW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>
                <a:solidFill>
                  <a:srgbClr val="3333FF"/>
                </a:solidFill>
                <a:effectLst/>
                <a:latin typeface="Consolas" panose="020B0609020204030204" pitchFamily="49" charset="0"/>
              </a:rPr>
              <a:t>33</a:t>
            </a:r>
            <a:r>
              <a:rPr lang="en-US" altLang="zh-TW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TW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X=df.drop(</a:t>
            </a:r>
            <a:r>
              <a:rPr lang="en-US" altLang="zh-TW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“MEDV”</a:t>
            </a:r>
            <a:r>
              <a:rPr lang="en-US" altLang="zh-TW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axis=</a:t>
            </a:r>
            <a:r>
              <a:rPr lang="en-US" altLang="zh-TW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TW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).values</a:t>
            </a:r>
            <a:r>
              <a:rPr lang="zh-TW" altLang="en-US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TW" altLang="en-US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移除房價中位數</a:t>
            </a:r>
            <a:endParaRPr lang="en-US" altLang="zh-TW">
              <a:solidFill>
                <a:schemeClr val="accent6">
                  <a:lumMod val="75000"/>
                </a:schemeClr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y=df[</a:t>
            </a:r>
            <a:r>
              <a:rPr lang="en-US" altLang="zh-TW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“MEDV”</a:t>
            </a:r>
            <a:r>
              <a:rPr lang="en-US" altLang="zh-TW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].valeus</a:t>
            </a:r>
            <a:r>
              <a:rPr lang="zh-TW" altLang="en-US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TW" altLang="en-US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房價中位數為目標變數</a:t>
            </a:r>
            <a:endParaRPr lang="en-US" altLang="zh-TW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>
                <a:latin typeface="Consolas" panose="020B0609020204030204" pitchFamily="49" charset="0"/>
              </a:rPr>
              <a:t>lm = </a:t>
            </a:r>
            <a:r>
              <a:rPr lang="en-US" altLang="zh-TW">
                <a:solidFill>
                  <a:srgbClr val="0070C0"/>
                </a:solidFill>
                <a:latin typeface="Consolas" panose="020B0609020204030204" pitchFamily="49" charset="0"/>
              </a:rPr>
              <a:t>linear_model</a:t>
            </a:r>
            <a:r>
              <a:rPr lang="en-US" altLang="zh-TW">
                <a:latin typeface="Consolas" panose="020B0609020204030204" pitchFamily="49" charset="0"/>
              </a:rPr>
              <a:t>.</a:t>
            </a:r>
            <a:r>
              <a:rPr lang="en-US" altLang="zh-TW">
                <a:solidFill>
                  <a:srgbClr val="C00000"/>
                </a:solidFill>
                <a:latin typeface="Consolas" panose="020B0609020204030204" pitchFamily="49" charset="0"/>
              </a:rPr>
              <a:t>LinearRegression()</a:t>
            </a:r>
          </a:p>
          <a:p>
            <a:r>
              <a:rPr lang="en-US" altLang="zh-TW">
                <a:latin typeface="Consolas" panose="020B0609020204030204" pitchFamily="49" charset="0"/>
              </a:rPr>
              <a:t>cv_results = </a:t>
            </a:r>
            <a:r>
              <a:rPr lang="en-US" altLang="zh-TW">
                <a:solidFill>
                  <a:srgbClr val="C00000"/>
                </a:solidFill>
                <a:latin typeface="Consolas" panose="020B0609020204030204" pitchFamily="49" charset="0"/>
              </a:rPr>
              <a:t>cross_val_score</a:t>
            </a:r>
            <a:r>
              <a:rPr lang="en-US" altLang="zh-TW">
                <a:latin typeface="Consolas" panose="020B0609020204030204" pitchFamily="49" charset="0"/>
              </a:rPr>
              <a:t>(</a:t>
            </a:r>
            <a:r>
              <a:rPr lang="en-US" altLang="zh-TW">
                <a:solidFill>
                  <a:srgbClr val="0070C0"/>
                </a:solidFill>
                <a:latin typeface="Consolas" panose="020B0609020204030204" pitchFamily="49" charset="0"/>
              </a:rPr>
              <a:t>lm</a:t>
            </a:r>
            <a:r>
              <a:rPr lang="en-US" altLang="zh-TW">
                <a:latin typeface="Consolas" panose="020B0609020204030204" pitchFamily="49" charset="0"/>
              </a:rPr>
              <a:t>, </a:t>
            </a:r>
            <a:r>
              <a:rPr lang="en-US" altLang="zh-TW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X</a:t>
            </a:r>
            <a:r>
              <a:rPr lang="en-US" altLang="zh-TW">
                <a:latin typeface="Consolas" panose="020B0609020204030204" pitchFamily="49" charset="0"/>
              </a:rPr>
              <a:t>, </a:t>
            </a:r>
            <a:r>
              <a:rPr lang="en-US" altLang="zh-TW">
                <a:solidFill>
                  <a:srgbClr val="7030A0"/>
                </a:solidFill>
                <a:latin typeface="Consolas" panose="020B0609020204030204" pitchFamily="49" charset="0"/>
              </a:rPr>
              <a:t>y</a:t>
            </a:r>
            <a:r>
              <a:rPr lang="en-US" altLang="zh-TW">
                <a:latin typeface="Consolas" panose="020B0609020204030204" pitchFamily="49" charset="0"/>
              </a:rPr>
              <a:t>, </a:t>
            </a:r>
            <a:r>
              <a:rPr lang="en-US" altLang="zh-TW">
                <a:solidFill>
                  <a:srgbClr val="C00000"/>
                </a:solidFill>
                <a:latin typeface="Consolas" panose="020B0609020204030204" pitchFamily="49" charset="0"/>
              </a:rPr>
              <a:t>cv=</a:t>
            </a:r>
            <a:r>
              <a:rPr lang="en-US" altLang="zh-TW">
                <a:solidFill>
                  <a:srgbClr val="00B0F0"/>
                </a:solidFill>
                <a:latin typeface="Consolas" panose="020B0609020204030204" pitchFamily="49" charset="0"/>
              </a:rPr>
              <a:t>kf</a:t>
            </a:r>
            <a:r>
              <a:rPr lang="en-US" altLang="zh-TW">
                <a:latin typeface="Consolas" panose="020B0609020204030204" pitchFamily="49" charset="0"/>
              </a:rPr>
              <a:t>)</a:t>
            </a:r>
            <a:r>
              <a:rPr lang="zh-TW" altLang="en-US">
                <a:latin typeface="Consolas" panose="020B0609020204030204" pitchFamily="49" charset="0"/>
              </a:rPr>
              <a:t> </a:t>
            </a:r>
            <a:r>
              <a:rPr lang="en-US" altLang="zh-TW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#5-folds</a:t>
            </a:r>
          </a:p>
          <a:p>
            <a:r>
              <a:rPr lang="en-US" altLang="zh-TW">
                <a:latin typeface="Consolas" panose="020B0609020204030204" pitchFamily="49" charset="0"/>
              </a:rPr>
              <a:t>print(cv_results) </a:t>
            </a:r>
            <a:r>
              <a:rPr lang="en-US" altLang="zh-TW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</a:t>
            </a:r>
            <a:r>
              <a:rPr lang="zh-TW" altLang="en-US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每次評估結果</a:t>
            </a:r>
            <a:endParaRPr lang="en-US" altLang="zh-TW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TW">
                <a:latin typeface="Consolas" panose="020B0609020204030204" pitchFamily="49" charset="0"/>
              </a:rPr>
              <a:t>print(np.mean(np.abs(cv_results)))</a:t>
            </a:r>
            <a:r>
              <a:rPr lang="zh-TW" altLang="en-US">
                <a:latin typeface="Consolas" panose="020B0609020204030204" pitchFamily="49" charset="0"/>
              </a:rPr>
              <a:t> </a:t>
            </a:r>
            <a:r>
              <a:rPr lang="en-US" altLang="zh-TW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</a:t>
            </a:r>
            <a:r>
              <a:rPr lang="zh-TW" altLang="en-US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平均每群效能指標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B994BC1-4187-4689-850A-B617A0CA5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73DD7-01A4-477A-9170-264103787684}" type="datetime1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600DE77-8B15-4B4D-93A0-7E6B5D841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00FC-685B-4B17-90E8-D67F5DCF7935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4178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8EBD1F-5F72-449A-8CFB-75C8D5CFE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/>
              <a:t>結合 </a:t>
            </a:r>
            <a:r>
              <a:rPr lang="en-US" altLang="zh-TW"/>
              <a:t>Lasso regression </a:t>
            </a:r>
            <a:r>
              <a:rPr lang="zh-TW" altLang="en-US"/>
              <a:t>與 </a:t>
            </a:r>
            <a:r>
              <a:rPr lang="en-US" altLang="zh-TW"/>
              <a:t>cross-validation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D912A5-A37D-40B0-A21A-51586583A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>
                <a:latin typeface="Consolas" panose="020B0609020204030204" pitchFamily="49" charset="0"/>
              </a:rPr>
              <a:t>from </a:t>
            </a:r>
            <a:r>
              <a:rPr lang="en-US" altLang="zh-TW">
                <a:solidFill>
                  <a:srgbClr val="0070C0"/>
                </a:solidFill>
                <a:latin typeface="Consolas" panose="020B0609020204030204" pitchFamily="49" charset="0"/>
              </a:rPr>
              <a:t>sklearn.linear_model </a:t>
            </a:r>
            <a:r>
              <a:rPr lang="en-US" altLang="zh-TW">
                <a:latin typeface="Consolas" panose="020B0609020204030204" pitchFamily="49" charset="0"/>
              </a:rPr>
              <a:t>import </a:t>
            </a:r>
            <a:r>
              <a:rPr lang="en-US" altLang="zh-TW">
                <a:solidFill>
                  <a:srgbClr val="C00000"/>
                </a:solidFill>
                <a:latin typeface="Consolas" panose="020B0609020204030204" pitchFamily="49" charset="0"/>
              </a:rPr>
              <a:t>Lasso</a:t>
            </a:r>
          </a:p>
          <a:p>
            <a:r>
              <a:rPr lang="en-US" altLang="zh-TW">
                <a:latin typeface="Consolas" panose="020B0609020204030204" pitchFamily="49" charset="0"/>
              </a:rPr>
              <a:t>From </a:t>
            </a:r>
            <a:r>
              <a:rPr lang="en-US" altLang="zh-TW">
                <a:solidFill>
                  <a:srgbClr val="0070C0"/>
                </a:solidFill>
                <a:latin typeface="Consolas" panose="020B0609020204030204" pitchFamily="49" charset="0"/>
              </a:rPr>
              <a:t>sklearn.model_selection </a:t>
            </a:r>
            <a:r>
              <a:rPr lang="en-US" altLang="zh-TW">
                <a:latin typeface="Consolas" panose="020B0609020204030204" pitchFamily="49" charset="0"/>
              </a:rPr>
              <a:t>import </a:t>
            </a:r>
            <a:r>
              <a:rPr lang="en-US" altLang="zh-TW">
                <a:solidFill>
                  <a:srgbClr val="C00000"/>
                </a:solidFill>
                <a:latin typeface="Consolas" panose="020B0609020204030204" pitchFamily="49" charset="0"/>
              </a:rPr>
              <a:t>cross_validate</a:t>
            </a:r>
          </a:p>
          <a:p>
            <a:r>
              <a:rPr lang="en-US" altLang="zh-TW">
                <a:effectLst/>
                <a:latin typeface="Consolas" panose="020B0609020204030204" pitchFamily="49" charset="0"/>
              </a:rPr>
              <a:t>from</a:t>
            </a:r>
            <a:r>
              <a:rPr lang="en-US" altLang="zh-TW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sklearn.model_selection </a:t>
            </a:r>
            <a:r>
              <a:rPr lang="en-US" altLang="zh-TW">
                <a:effectLst/>
                <a:latin typeface="Consolas" panose="020B0609020204030204" pitchFamily="49" charset="0"/>
              </a:rPr>
              <a:t>import</a:t>
            </a:r>
            <a:r>
              <a:rPr lang="en-US" altLang="zh-TW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KFold</a:t>
            </a:r>
            <a:endParaRPr lang="en-US" altLang="zh-TW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en-US" altLang="zh-TW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kf = </a:t>
            </a:r>
            <a:r>
              <a:rPr lang="en-US" altLang="zh-TW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KFold</a:t>
            </a:r>
            <a:r>
              <a:rPr lang="en-US" altLang="zh-TW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(n_splits=</a:t>
            </a:r>
            <a:r>
              <a:rPr lang="en-US" altLang="zh-TW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TW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shuffle=</a:t>
            </a:r>
            <a:r>
              <a:rPr lang="en-US" altLang="zh-TW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TW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random_state=</a:t>
            </a:r>
            <a:r>
              <a:rPr lang="en-US" altLang="zh-TW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33</a:t>
            </a:r>
            <a:r>
              <a:rPr lang="en-US" altLang="zh-TW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TW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cores = [‘r2’,’neg_mean_squared_error’]</a:t>
            </a:r>
          </a:p>
          <a:p>
            <a:r>
              <a:rPr lang="en-US" altLang="zh-TW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X=df.drop(</a:t>
            </a:r>
            <a:r>
              <a:rPr lang="en-US" altLang="zh-TW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"MEDV"</a:t>
            </a:r>
            <a:r>
              <a:rPr lang="en-US" altLang="zh-TW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axis=</a:t>
            </a:r>
            <a:r>
              <a:rPr lang="en-US" altLang="zh-TW">
                <a:solidFill>
                  <a:srgbClr val="116644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TW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).values</a:t>
            </a:r>
          </a:p>
          <a:p>
            <a:r>
              <a:rPr lang="en-US" altLang="zh-TW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y=df[</a:t>
            </a:r>
            <a:r>
              <a:rPr lang="en-US" altLang="zh-TW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"MEDV"</a:t>
            </a:r>
            <a:r>
              <a:rPr lang="en-US" altLang="zh-TW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].valeus</a:t>
            </a:r>
            <a:endParaRPr lang="en-US" altLang="zh-TW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it-IT" altLang="zh-TW">
                <a:latin typeface="Consolas" panose="020B0609020204030204" pitchFamily="49" charset="0"/>
              </a:rPr>
              <a:t>lasso = </a:t>
            </a:r>
            <a:r>
              <a:rPr lang="it-IT" altLang="zh-TW">
                <a:solidFill>
                  <a:srgbClr val="C00000"/>
                </a:solidFill>
                <a:latin typeface="Consolas" panose="020B0609020204030204" pitchFamily="49" charset="0"/>
              </a:rPr>
              <a:t>Lasso</a:t>
            </a:r>
            <a:r>
              <a:rPr lang="it-IT" altLang="zh-TW">
                <a:latin typeface="Consolas" panose="020B0609020204030204" pitchFamily="49" charset="0"/>
              </a:rPr>
              <a:t>(</a:t>
            </a:r>
            <a:r>
              <a:rPr lang="it-IT" altLang="zh-TW">
                <a:solidFill>
                  <a:srgbClr val="00B050"/>
                </a:solidFill>
                <a:latin typeface="Consolas" panose="020B0609020204030204" pitchFamily="49" charset="0"/>
              </a:rPr>
              <a:t>alpha</a:t>
            </a:r>
            <a:r>
              <a:rPr lang="it-IT" altLang="zh-TW">
                <a:latin typeface="Consolas" panose="020B0609020204030204" pitchFamily="49" charset="0"/>
              </a:rPr>
              <a:t>=0.1)</a:t>
            </a:r>
          </a:p>
          <a:p>
            <a:r>
              <a:rPr lang="it-IT" altLang="zh-TW">
                <a:latin typeface="Consolas" panose="020B0609020204030204" pitchFamily="49" charset="0"/>
              </a:rPr>
              <a:t>Lasso_lm_cv = </a:t>
            </a:r>
            <a:r>
              <a:rPr lang="it-IT" altLang="zh-TW">
                <a:solidFill>
                  <a:srgbClr val="C00000"/>
                </a:solidFill>
                <a:latin typeface="Consolas" panose="020B0609020204030204" pitchFamily="49" charset="0"/>
              </a:rPr>
              <a:t>cross_validate</a:t>
            </a:r>
            <a:r>
              <a:rPr lang="it-IT" altLang="zh-TW">
                <a:latin typeface="Consolas" panose="020B0609020204030204" pitchFamily="49" charset="0"/>
              </a:rPr>
              <a:t>(</a:t>
            </a:r>
            <a:r>
              <a:rPr lang="it-IT" altLang="zh-TW">
                <a:solidFill>
                  <a:srgbClr val="7030A0"/>
                </a:solidFill>
                <a:latin typeface="Consolas" panose="020B0609020204030204" pitchFamily="49" charset="0"/>
              </a:rPr>
              <a:t>lasso</a:t>
            </a:r>
            <a:r>
              <a:rPr lang="it-IT" altLang="zh-TW">
                <a:latin typeface="Consolas" panose="020B0609020204030204" pitchFamily="49" charset="0"/>
              </a:rPr>
              <a:t>, X, y, scoring=</a:t>
            </a:r>
            <a:r>
              <a:rPr lang="it-IT" altLang="zh-TW">
                <a:solidFill>
                  <a:srgbClr val="00B0F0"/>
                </a:solidFill>
                <a:latin typeface="Consolas" panose="020B0609020204030204" pitchFamily="49" charset="0"/>
              </a:rPr>
              <a:t>scores</a:t>
            </a:r>
            <a:r>
              <a:rPr lang="it-IT" altLang="zh-TW">
                <a:latin typeface="Consolas" panose="020B0609020204030204" pitchFamily="49" charset="0"/>
              </a:rPr>
              <a:t>, cv=</a:t>
            </a:r>
            <a:r>
              <a:rPr lang="it-IT" altLang="zh-TW">
                <a:solidFill>
                  <a:srgbClr val="7030A0"/>
                </a:solidFill>
                <a:latin typeface="Consolas" panose="020B0609020204030204" pitchFamily="49" charset="0"/>
              </a:rPr>
              <a:t>kf</a:t>
            </a:r>
            <a:r>
              <a:rPr lang="it-IT" altLang="zh-TW">
                <a:latin typeface="Consolas" panose="020B0609020204030204" pitchFamily="49" charset="0"/>
              </a:rPr>
              <a:t>)</a:t>
            </a:r>
          </a:p>
          <a:p>
            <a:r>
              <a:rPr lang="it-IT" altLang="zh-TW">
                <a:latin typeface="Consolas" panose="020B0609020204030204" pitchFamily="49" charset="0"/>
              </a:rPr>
              <a:t>Print(‘MSE = ‘, np.mean(np.abs(ridge_lm_cv)))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755D131-E4D5-4DDA-B13B-EEC6D1580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7BFDA-AB6C-48B6-B482-6C23187A11F5}" type="datetime1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57797B9-7628-4E99-A732-CBB92F940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300FC-685B-4B17-90E8-D67F5DCF7935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914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D72AFE-F729-495F-B401-5481D6C03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Sklearn library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79FC380-D305-41DE-AA1F-A3C912A32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>
                <a:hlinkClick r:id="rId2"/>
              </a:rPr>
              <a:t>LinearRegression</a:t>
            </a:r>
            <a:endParaRPr lang="en-US" altLang="zh-TW"/>
          </a:p>
          <a:p>
            <a:r>
              <a:rPr lang="en-US" altLang="zh-TW">
                <a:hlinkClick r:id="rId3"/>
              </a:rPr>
              <a:t>PolynomialFeatures</a:t>
            </a:r>
            <a:endParaRPr lang="en-US" altLang="zh-TW"/>
          </a:p>
          <a:p>
            <a:r>
              <a:rPr lang="en-US" altLang="zh-TW">
                <a:hlinkClick r:id="rId4"/>
              </a:rPr>
              <a:t>train_test_split</a:t>
            </a:r>
            <a:endParaRPr lang="en-US" altLang="zh-TW"/>
          </a:p>
          <a:p>
            <a:r>
              <a:rPr lang="en-US" altLang="zh-TW">
                <a:hlinkClick r:id="rId5"/>
              </a:rPr>
              <a:t>Lasso</a:t>
            </a:r>
            <a:endParaRPr lang="en-US" altLang="zh-TW"/>
          </a:p>
          <a:p>
            <a:r>
              <a:rPr lang="en-US" altLang="zh-TW">
                <a:hlinkClick r:id="rId6"/>
              </a:rPr>
              <a:t>Ridge</a:t>
            </a:r>
            <a:endParaRPr lang="en-US" altLang="zh-TW"/>
          </a:p>
          <a:p>
            <a:r>
              <a:rPr lang="en-US" altLang="zh-TW">
                <a:hlinkClick r:id="rId7"/>
              </a:rPr>
              <a:t>Kfold</a:t>
            </a:r>
            <a:endParaRPr lang="en-US" altLang="zh-TW"/>
          </a:p>
          <a:p>
            <a:r>
              <a:rPr lang="en-US" altLang="zh-TW">
                <a:hlinkClick r:id="rId8"/>
              </a:rPr>
              <a:t>mean_squared_error</a:t>
            </a:r>
            <a:r>
              <a:rPr lang="en-US" altLang="zh-TW"/>
              <a:t> </a:t>
            </a:r>
            <a:r>
              <a:rPr lang="zh-TW" altLang="en-US"/>
              <a:t>、</a:t>
            </a:r>
            <a:r>
              <a:rPr lang="en-US" altLang="zh-TW">
                <a:hlinkClick r:id="rId9"/>
              </a:rPr>
              <a:t>root_mean_squared_error</a:t>
            </a:r>
            <a:r>
              <a:rPr lang="en-US" altLang="zh-TW"/>
              <a:t> </a:t>
            </a:r>
            <a:r>
              <a:rPr lang="zh-TW" altLang="en-US"/>
              <a:t>、</a:t>
            </a:r>
            <a:r>
              <a:rPr lang="en-US" altLang="zh-TW">
                <a:hlinkClick r:id="rId10"/>
              </a:rPr>
              <a:t>r2_score</a:t>
            </a:r>
            <a:endParaRPr lang="en-US" altLang="zh-TW"/>
          </a:p>
          <a:p>
            <a:r>
              <a:rPr lang="en-US" altLang="zh-TW">
                <a:hlinkClick r:id="rId11"/>
              </a:rPr>
              <a:t>cross_validate</a:t>
            </a:r>
            <a:r>
              <a:rPr lang="en-US" altLang="zh-TW"/>
              <a:t> </a:t>
            </a:r>
            <a:r>
              <a:rPr lang="zh-TW" altLang="en-US"/>
              <a:t>、</a:t>
            </a:r>
            <a:r>
              <a:rPr lang="en-US" altLang="zh-TW">
                <a:hlinkClick r:id="rId12"/>
              </a:rPr>
              <a:t>cross_val_score</a:t>
            </a:r>
            <a:r>
              <a:rPr lang="en-US" altLang="zh-TW"/>
              <a:t> (</a:t>
            </a:r>
            <a:r>
              <a:rPr lang="en-US" altLang="zh-TW">
                <a:hlinkClick r:id="rId13"/>
              </a:rPr>
              <a:t>3.4.3.1 string name scorers</a:t>
            </a:r>
            <a:r>
              <a:rPr lang="en-US" altLang="zh-TW"/>
              <a:t>)</a:t>
            </a:r>
          </a:p>
          <a:p>
            <a:endParaRPr lang="en-US" altLang="zh-TW"/>
          </a:p>
          <a:p>
            <a:endParaRPr lang="en-US" altLang="zh-TW"/>
          </a:p>
          <a:p>
            <a:endParaRPr lang="en-US" altLang="zh-TW"/>
          </a:p>
          <a:p>
            <a:endParaRPr lang="en-US" altLang="zh-TW"/>
          </a:p>
          <a:p>
            <a:endParaRPr lang="en-US" altLang="zh-TW"/>
          </a:p>
          <a:p>
            <a:endParaRPr lang="en-US" altLang="zh-TW"/>
          </a:p>
          <a:p>
            <a:endParaRPr lang="en-US" altLang="zh-TW"/>
          </a:p>
          <a:p>
            <a:endParaRPr lang="en-US" altLang="zh-TW"/>
          </a:p>
          <a:p>
            <a:endParaRPr lang="en-US" altLang="zh-TW"/>
          </a:p>
          <a:p>
            <a:endParaRPr lang="en-US" altLang="zh-TW"/>
          </a:p>
          <a:p>
            <a:endParaRPr lang="en-US" altLang="zh-TW"/>
          </a:p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7615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1327</TotalTime>
  <Words>2380</Words>
  <Application>Microsoft Macintosh PowerPoint</Application>
  <PresentationFormat>寬螢幕</PresentationFormat>
  <Paragraphs>272</Paragraphs>
  <Slides>31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12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31</vt:i4>
      </vt:variant>
    </vt:vector>
  </HeadingPairs>
  <TitlesOfParts>
    <vt:vector size="44" baseType="lpstr">
      <vt:lpstr>-apple-system</vt:lpstr>
      <vt:lpstr>fkGroteskNeue</vt:lpstr>
      <vt:lpstr>JetBrainsMonoNL</vt:lpstr>
      <vt:lpstr>Source Sans 3</vt:lpstr>
      <vt:lpstr>Arial</vt:lpstr>
      <vt:lpstr>Calibri</vt:lpstr>
      <vt:lpstr>Cambria Math</vt:lpstr>
      <vt:lpstr>Consolas</vt:lpstr>
      <vt:lpstr>Nunito</vt:lpstr>
      <vt:lpstr>Symbol</vt:lpstr>
      <vt:lpstr>Times New Roman</vt:lpstr>
      <vt:lpstr>Wingdings</vt:lpstr>
      <vt:lpstr>Office 佈景主題</vt:lpstr>
      <vt:lpstr>機器學習演算法</vt:lpstr>
      <vt:lpstr>PowerPoint 簡報</vt:lpstr>
      <vt:lpstr>Linear Regression</vt:lpstr>
      <vt:lpstr>線性回歸分析 (Regression Analysis)</vt:lpstr>
      <vt:lpstr>線性規劃 (Linear regression)</vt:lpstr>
      <vt:lpstr>PowerPoint 簡報</vt:lpstr>
      <vt:lpstr>簡單迴歸分析Numpy實作</vt:lpstr>
      <vt:lpstr>Boston Housing </vt:lpstr>
      <vt:lpstr>Polynomial functions 及 R square</vt:lpstr>
      <vt:lpstr>Multiple Linear Regression</vt:lpstr>
      <vt:lpstr>利用 gradient descent 方法針對 residual square of sum 找 W</vt:lpstr>
      <vt:lpstr>PowerPoint 簡報</vt:lpstr>
      <vt:lpstr>回歸模型效能分析</vt:lpstr>
      <vt:lpstr>評估模型效能</vt:lpstr>
      <vt:lpstr>Model overfitting</vt:lpstr>
      <vt:lpstr>Regularization </vt:lpstr>
      <vt:lpstr>使用 sklearn 實作線性回歸預測模型</vt:lpstr>
      <vt:lpstr>Sklearn 方法支持Linear regression實作</vt:lpstr>
      <vt:lpstr>波士頓房價回歸預測實作</vt:lpstr>
      <vt:lpstr>Case study(波士頓房價數據集)</vt:lpstr>
      <vt:lpstr>資料初探</vt:lpstr>
      <vt:lpstr>簡單回歸分析: 平均房間數與房價迴歸分析</vt:lpstr>
      <vt:lpstr>多變數迴歸分析</vt:lpstr>
      <vt:lpstr>以 scikit-learn 實作 Ridge Regression</vt:lpstr>
      <vt:lpstr>以 scikit-learn 實作 Lasso Regression</vt:lpstr>
      <vt:lpstr>運用 Regularization 的好處</vt:lpstr>
      <vt:lpstr>PowerPoint 簡報</vt:lpstr>
      <vt:lpstr>Cross Validation</vt:lpstr>
      <vt:lpstr>Cross validation 實作 </vt:lpstr>
      <vt:lpstr>結合 Lasso regression 與 cross-validation</vt:lpstr>
      <vt:lpstr>Sklearn library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機器學習演算法</dc:title>
  <dc:creator>鍾定揚 12376046 Daniel</dc:creator>
  <cp:lastModifiedBy>Jainshone Chung</cp:lastModifiedBy>
  <cp:revision>19</cp:revision>
  <dcterms:created xsi:type="dcterms:W3CDTF">2026-04-27T05:16:55Z</dcterms:created>
  <dcterms:modified xsi:type="dcterms:W3CDTF">2026-04-30T07:26:17Z</dcterms:modified>
</cp:coreProperties>
</file>